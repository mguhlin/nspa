
<file path=[Content_Types].xml><?xml version="1.0" encoding="utf-8"?>
<Types xmlns="http://schemas.openxmlformats.org/package/2006/content-types">
  <Default Extension="xml" ContentType="application/vnd.openxmlformats-package.core-properties+xml"/>
  <Default Extension="png" ContentType="image/png"/>
  <Default Extension="bin" ContentType="image/webp"/>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8243c4cb9614fff" /><Relationship Type="http://schemas.openxmlformats.org/officeDocument/2006/relationships/extended-properties" Target="/docProps/app.xml" Id="Re66d2a101f764a0f" /><Relationship Type="http://schemas.openxmlformats.org/officeDocument/2006/relationships/officeDocument" Target="/ppt/presentation.xml" Id="Rcccf817e0d4649e0" /></Relationships>
</file>

<file path=ppt/presentation.xml><?xml version="1.0" encoding="utf-8"?>
<p:presentation xmlns:p="http://schemas.openxmlformats.org/presentationml/2006/main">
  <p:sldMasterIdLst>
    <p:sldMasterId xmlns:r="http://schemas.openxmlformats.org/officeDocument/2006/relationships" id="2147483648" r:id="R12900fee4a9a4243"/>
  </p:sldMasterIdLst>
  <p:notesMasterIdLst>
    <p:notesMasterId xmlns:r="http://schemas.openxmlformats.org/officeDocument/2006/relationships" r:id="R29f01217fef844d9"/>
  </p:notesMasterIdLst>
  <p:sldIdLst>
    <p:sldId xmlns:r="http://schemas.openxmlformats.org/officeDocument/2006/relationships" id="256" r:id="R6c3c658e24c44531"/>
    <p:sldId xmlns:r="http://schemas.openxmlformats.org/officeDocument/2006/relationships" id="257" r:id="Rfb0b04a1c9334a4e"/>
    <p:sldId xmlns:r="http://schemas.openxmlformats.org/officeDocument/2006/relationships" id="258" r:id="R93a8b5c229a846af"/>
    <p:sldId xmlns:r="http://schemas.openxmlformats.org/officeDocument/2006/relationships" id="259" r:id="R6186f1ff01bd4d34"/>
    <p:sldId xmlns:r="http://schemas.openxmlformats.org/officeDocument/2006/relationships" id="260" r:id="Rbd107c4427f1469e"/>
    <p:sldId xmlns:r="http://schemas.openxmlformats.org/officeDocument/2006/relationships" id="261" r:id="R90018e411e314a5a"/>
    <p:sldId xmlns:r="http://schemas.openxmlformats.org/officeDocument/2006/relationships" id="262" r:id="R0724593ffd57435d"/>
    <p:sldId xmlns:r="http://schemas.openxmlformats.org/officeDocument/2006/relationships" id="263" r:id="Rdf8e3be8c7034a27"/>
    <p:sldId xmlns:r="http://schemas.openxmlformats.org/officeDocument/2006/relationships" id="264" r:id="Ra0e9876597d34de2"/>
    <p:sldId xmlns:r="http://schemas.openxmlformats.org/officeDocument/2006/relationships" id="265" r:id="R3e70c48d958640b9"/>
    <p:sldId xmlns:r="http://schemas.openxmlformats.org/officeDocument/2006/relationships" id="266" r:id="R6a62c899f8d64fc6"/>
    <p:sldId xmlns:r="http://schemas.openxmlformats.org/officeDocument/2006/relationships" id="267" r:id="Rf7808a2d4f6f4bf0"/>
    <p:sldId xmlns:r="http://schemas.openxmlformats.org/officeDocument/2006/relationships" id="268" r:id="Rf93c9edab4dd4a87"/>
    <p:sldId xmlns:r="http://schemas.openxmlformats.org/officeDocument/2006/relationships" id="269" r:id="R94df0a978b6a4fd5"/>
    <p:sldId xmlns:r="http://schemas.openxmlformats.org/officeDocument/2006/relationships" id="270" r:id="Rd25853ccce1c4b17"/>
    <p:sldId xmlns:r="http://schemas.openxmlformats.org/officeDocument/2006/relationships" id="271" r:id="R089228129a5f41ec"/>
    <p:sldId xmlns:r="http://schemas.openxmlformats.org/officeDocument/2006/relationships" id="272" r:id="Re97a70a0eadd4dfd"/>
    <p:sldId xmlns:r="http://schemas.openxmlformats.org/officeDocument/2006/relationships" id="273" r:id="R0762d966db6743a8"/>
    <p:sldId xmlns:r="http://schemas.openxmlformats.org/officeDocument/2006/relationships" id="274" r:id="Rd0d33a791f8f45d4"/>
    <p:sldId xmlns:r="http://schemas.openxmlformats.org/officeDocument/2006/relationships" id="275" r:id="Refb28ee8448f482f"/>
    <p:sldId xmlns:r="http://schemas.openxmlformats.org/officeDocument/2006/relationships" id="276" r:id="Raf464984916a481f"/>
    <p:sldId xmlns:r="http://schemas.openxmlformats.org/officeDocument/2006/relationships" id="277" r:id="R8aa4a99969774ddf"/>
    <p:sldId xmlns:r="http://schemas.openxmlformats.org/officeDocument/2006/relationships" id="278" r:id="Rbe7e379949f8409d"/>
    <p:sldId xmlns:r="http://schemas.openxmlformats.org/officeDocument/2006/relationships" id="279" r:id="Rf495397369804c7e"/>
    <p:sldId xmlns:r="http://schemas.openxmlformats.org/officeDocument/2006/relationships" id="280" r:id="R9b502eff8d114426"/>
    <p:sldId xmlns:r="http://schemas.openxmlformats.org/officeDocument/2006/relationships" id="281" r:id="R30b3372ea9f34596"/>
    <p:sldId xmlns:r="http://schemas.openxmlformats.org/officeDocument/2006/relationships" id="282" r:id="R2e1c930919c34a8b"/>
    <p:sldId xmlns:r="http://schemas.openxmlformats.org/officeDocument/2006/relationships" id="283" r:id="R5dec194510ee476a"/>
    <p:sldId xmlns:r="http://schemas.openxmlformats.org/officeDocument/2006/relationships" id="284" r:id="R671d2ffd00804cc4"/>
    <p:sldId xmlns:r="http://schemas.openxmlformats.org/officeDocument/2006/relationships" id="285" r:id="R9ac2570d351e42cc"/>
    <p:sldId xmlns:r="http://schemas.openxmlformats.org/officeDocument/2006/relationships" id="286" r:id="R920ef7044d294ec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c01b7a50cc3463b" /><Relationship Type="http://schemas.openxmlformats.org/officeDocument/2006/relationships/slideMaster" Target="/ppt/slideMasters/slideMaster1.xml" Id="R12900fee4a9a4243" /><Relationship Type="http://schemas.openxmlformats.org/officeDocument/2006/relationships/notesMaster" Target="/ppt/notesMasters/notesMaster1.xml" Id="R29f01217fef844d9" /><Relationship Type="http://schemas.openxmlformats.org/officeDocument/2006/relationships/presProps" Target="/ppt/presProps.xml" Id="R6e7178d193604c6a" /><Relationship Type="http://schemas.openxmlformats.org/officeDocument/2006/relationships/tableStyles" Target="/ppt/tableStyles.xml" Id="R65491386b36d42d0" /><Relationship Type="http://schemas.openxmlformats.org/officeDocument/2006/relationships/slide" Target="/ppt/slides/slide1.xml" Id="R6c3c658e24c44531" /><Relationship Type="http://schemas.openxmlformats.org/officeDocument/2006/relationships/slide" Target="/ppt/slides/slide2.xml" Id="Rfb0b04a1c9334a4e" /><Relationship Type="http://schemas.openxmlformats.org/officeDocument/2006/relationships/slide" Target="/ppt/slides/slide3.xml" Id="R93a8b5c229a846af" /><Relationship Type="http://schemas.openxmlformats.org/officeDocument/2006/relationships/slide" Target="/ppt/slides/slide4.xml" Id="R6186f1ff01bd4d34" /><Relationship Type="http://schemas.openxmlformats.org/officeDocument/2006/relationships/slide" Target="/ppt/slides/slide5.xml" Id="Rbd107c4427f1469e" /><Relationship Type="http://schemas.openxmlformats.org/officeDocument/2006/relationships/slide" Target="/ppt/slides/slide6.xml" Id="R90018e411e314a5a" /><Relationship Type="http://schemas.openxmlformats.org/officeDocument/2006/relationships/slide" Target="/ppt/slides/slide7.xml" Id="R0724593ffd57435d" /><Relationship Type="http://schemas.openxmlformats.org/officeDocument/2006/relationships/slide" Target="/ppt/slides/slide8.xml" Id="Rdf8e3be8c7034a27" /><Relationship Type="http://schemas.openxmlformats.org/officeDocument/2006/relationships/slide" Target="/ppt/slides/slide9.xml" Id="Ra0e9876597d34de2" /><Relationship Type="http://schemas.openxmlformats.org/officeDocument/2006/relationships/slide" Target="/ppt/slides/slide10.xml" Id="R3e70c48d958640b9" /><Relationship Type="http://schemas.openxmlformats.org/officeDocument/2006/relationships/slide" Target="/ppt/slides/slide11.xml" Id="R6a62c899f8d64fc6" /><Relationship Type="http://schemas.openxmlformats.org/officeDocument/2006/relationships/slide" Target="/ppt/slides/slide12.xml" Id="Rf7808a2d4f6f4bf0" /><Relationship Type="http://schemas.openxmlformats.org/officeDocument/2006/relationships/slide" Target="/ppt/slides/slide13.xml" Id="Rf93c9edab4dd4a87" /><Relationship Type="http://schemas.openxmlformats.org/officeDocument/2006/relationships/slide" Target="/ppt/slides/slide14.xml" Id="R94df0a978b6a4fd5" /><Relationship Type="http://schemas.openxmlformats.org/officeDocument/2006/relationships/slide" Target="/ppt/slides/slide15.xml" Id="Rd25853ccce1c4b17" /><Relationship Type="http://schemas.openxmlformats.org/officeDocument/2006/relationships/slide" Target="/ppt/slides/slide16.xml" Id="R089228129a5f41ec" /><Relationship Type="http://schemas.openxmlformats.org/officeDocument/2006/relationships/slide" Target="/ppt/slides/slide17.xml" Id="Re97a70a0eadd4dfd" /><Relationship Type="http://schemas.openxmlformats.org/officeDocument/2006/relationships/slide" Target="/ppt/slides/slide18.xml" Id="R0762d966db6743a8" /><Relationship Type="http://schemas.openxmlformats.org/officeDocument/2006/relationships/slide" Target="/ppt/slides/slide19.xml" Id="Rd0d33a791f8f45d4" /><Relationship Type="http://schemas.openxmlformats.org/officeDocument/2006/relationships/slide" Target="/ppt/slides/slide20.xml" Id="Refb28ee8448f482f" /><Relationship Type="http://schemas.openxmlformats.org/officeDocument/2006/relationships/slide" Target="/ppt/slides/slide21.xml" Id="Raf464984916a481f" /><Relationship Type="http://schemas.openxmlformats.org/officeDocument/2006/relationships/slide" Target="/ppt/slides/slide22.xml" Id="R8aa4a99969774ddf" /><Relationship Type="http://schemas.openxmlformats.org/officeDocument/2006/relationships/slide" Target="/ppt/slides/slide23.xml" Id="Rbe7e379949f8409d" /><Relationship Type="http://schemas.openxmlformats.org/officeDocument/2006/relationships/slide" Target="/ppt/slides/slide24.xml" Id="Rf495397369804c7e" /><Relationship Type="http://schemas.openxmlformats.org/officeDocument/2006/relationships/slide" Target="/ppt/slides/slide25.xml" Id="R9b502eff8d114426" /><Relationship Type="http://schemas.openxmlformats.org/officeDocument/2006/relationships/slide" Target="/ppt/slides/slide26.xml" Id="R30b3372ea9f34596" /><Relationship Type="http://schemas.openxmlformats.org/officeDocument/2006/relationships/slide" Target="/ppt/slides/slide27.xml" Id="R2e1c930919c34a8b" /><Relationship Type="http://schemas.openxmlformats.org/officeDocument/2006/relationships/slide" Target="/ppt/slides/slide28.xml" Id="R5dec194510ee476a" /><Relationship Type="http://schemas.openxmlformats.org/officeDocument/2006/relationships/slide" Target="/ppt/slides/slide29.xml" Id="R671d2ffd00804cc4" /><Relationship Type="http://schemas.openxmlformats.org/officeDocument/2006/relationships/slide" Target="/ppt/slides/slide30.xml" Id="R9ac2570d351e42cc" /><Relationship Type="http://schemas.openxmlformats.org/officeDocument/2006/relationships/slide" Target="/ppt/slides/slide31.xml" Id="R920ef7044d294ec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db009d3f1174b1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e00fd0fc3d14408" /><Relationship Type="http://schemas.openxmlformats.org/officeDocument/2006/relationships/notesMaster" Target="/ppt/notesMasters/notesMaster1.xml" Id="Rd66d82cfad264050" /></Relationships>
</file>

<file path=ppt/notesSlides/_rels/notesSlide2.xml.rels>&#65279;<?xml version="1.0" encoding="utf-8"?><Relationships xmlns="http://schemas.openxmlformats.org/package/2006/relationships"><Relationship Type="http://schemas.openxmlformats.org/officeDocument/2006/relationships/slide" Target="/ppt/slides/slide2.xml" Id="Rcb397dff8d8841e9" /><Relationship Type="http://schemas.openxmlformats.org/officeDocument/2006/relationships/notesMaster" Target="/ppt/notesMasters/notesMaster1.xml" Id="R3b9c55b317e5414c" /></Relationships>
</file>

<file path=ppt/notesSlides/_rels/notesSlide3.xml.rels>&#65279;<?xml version="1.0" encoding="utf-8"?><Relationships xmlns="http://schemas.openxmlformats.org/package/2006/relationships"><Relationship Type="http://schemas.openxmlformats.org/officeDocument/2006/relationships/slide" Target="/ppt/slides/slide3.xml" Id="R2e3726a996a54d71" /><Relationship Type="http://schemas.openxmlformats.org/officeDocument/2006/relationships/notesMaster" Target="/ppt/notesMasters/notesMaster1.xml" Id="R0b675ab1b60a41d3" /></Relationships>
</file>

<file path=ppt/notesSlides/_rels/notesSlide4.xml.rels>&#65279;<?xml version="1.0" encoding="utf-8"?><Relationships xmlns="http://schemas.openxmlformats.org/package/2006/relationships"><Relationship Type="http://schemas.openxmlformats.org/officeDocument/2006/relationships/slide" Target="/ppt/slides/slide4.xml" Id="Rf7927105aee8417a" /><Relationship Type="http://schemas.openxmlformats.org/officeDocument/2006/relationships/notesMaster" Target="/ppt/notesMasters/notesMaster1.xml" Id="R2e5fb8be8b994427" /></Relationships>
</file>

<file path=ppt/notesSlides/_rels/notesSlide5.xml.rels>&#65279;<?xml version="1.0" encoding="utf-8"?><Relationships xmlns="http://schemas.openxmlformats.org/package/2006/relationships"><Relationship Type="http://schemas.openxmlformats.org/officeDocument/2006/relationships/slide" Target="/ppt/slides/slide5.xml" Id="Rb4aa034f611b40bf" /><Relationship Type="http://schemas.openxmlformats.org/officeDocument/2006/relationships/notesMaster" Target="/ppt/notesMasters/notesMaster1.xml" Id="R68289b48e0a2413e" /></Relationships>
</file>

<file path=ppt/notesSlides/_rels/notesSlide6.xml.rels>&#65279;<?xml version="1.0" encoding="utf-8"?><Relationships xmlns="http://schemas.openxmlformats.org/package/2006/relationships"><Relationship Type="http://schemas.openxmlformats.org/officeDocument/2006/relationships/slide" Target="/ppt/slides/slide6.xml" Id="R45ccad3f3f584920" /><Relationship Type="http://schemas.openxmlformats.org/officeDocument/2006/relationships/notesMaster" Target="/ppt/notesMasters/notesMaster1.xml" Id="R373c30f8b14844c2" /></Relationships>
</file>

<file path=ppt/notesSlides/_rels/notesSlide7.xml.rels>&#65279;<?xml version="1.0" encoding="utf-8"?><Relationships xmlns="http://schemas.openxmlformats.org/package/2006/relationships"><Relationship Type="http://schemas.openxmlformats.org/officeDocument/2006/relationships/slide" Target="/ppt/slides/slide7.xml" Id="R33c74c8c4c3b45fe" /><Relationship Type="http://schemas.openxmlformats.org/officeDocument/2006/relationships/notesMaster" Target="/ppt/notesMasters/notesMaster1.xml" Id="R0b20cf462f5b4609" /></Relationships>
</file>

<file path=ppt/notesSlides/_rels/notesSlide8.xml.rels>&#65279;<?xml version="1.0" encoding="utf-8"?><Relationships xmlns="http://schemas.openxmlformats.org/package/2006/relationships"><Relationship Type="http://schemas.openxmlformats.org/officeDocument/2006/relationships/slide" Target="/ppt/slides/slide8.xml" Id="Rb5db7a5c5d184323" /><Relationship Type="http://schemas.openxmlformats.org/officeDocument/2006/relationships/notesMaster" Target="/ppt/notesMasters/notesMaster1.xml" Id="Re2f8eb2568e34b28" /></Relationships>
</file>

<file path=ppt/notesSlides/_rels/notesSlide9.xml.rels>&#65279;<?xml version="1.0" encoding="utf-8"?><Relationships xmlns="http://schemas.openxmlformats.org/package/2006/relationships"><Relationship Type="http://schemas.openxmlformats.org/officeDocument/2006/relationships/slide" Target="/ppt/slides/slide9.xml" Id="R9ecb0c1644084764" /><Relationship Type="http://schemas.openxmlformats.org/officeDocument/2006/relationships/notesMaster" Target="/ppt/notesMasters/notesMaster1.xml" Id="Rf4821bb6d0224ba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76d355a88774c4a" /><Relationship Type="http://schemas.openxmlformats.org/officeDocument/2006/relationships/notesMaster" Target="/ppt/notesMasters/notesMaster1.xml" Id="R874b731d8514440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828961a0d254397" /><Relationship Type="http://schemas.openxmlformats.org/officeDocument/2006/relationships/notesMaster" Target="/ppt/notesMasters/notesMaster1.xml" Id="R30999333755a40a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4236b56be5e4f67" /><Relationship Type="http://schemas.openxmlformats.org/officeDocument/2006/relationships/notesMaster" Target="/ppt/notesMasters/notesMaster1.xml" Id="Rb116dc4d03e7470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129f382d69f4543" /><Relationship Type="http://schemas.openxmlformats.org/officeDocument/2006/relationships/notesMaster" Target="/ppt/notesMasters/notesMaster1.xml" Id="Racded882bd8a4ed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7f5f86c2bf5484d" /><Relationship Type="http://schemas.openxmlformats.org/officeDocument/2006/relationships/notesMaster" Target="/ppt/notesMasters/notesMaster1.xml" Id="R95c745c86dfb412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782fcb58f7d4c6a" /><Relationship Type="http://schemas.openxmlformats.org/officeDocument/2006/relationships/notesMaster" Target="/ppt/notesMasters/notesMaster1.xml" Id="Rcade75db4589449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d8a38c5454542b2" /><Relationship Type="http://schemas.openxmlformats.org/officeDocument/2006/relationships/notesMaster" Target="/ppt/notesMasters/notesMaster1.xml" Id="R94b46c1f599e4db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3af3c04c79d4910" /><Relationship Type="http://schemas.openxmlformats.org/officeDocument/2006/relationships/notesMaster" Target="/ppt/notesMasters/notesMaster1.xml" Id="Re66a85edd1594cc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a8a363674bd4920" /><Relationship Type="http://schemas.openxmlformats.org/officeDocument/2006/relationships/notesMaster" Target="/ppt/notesMasters/notesMaster1.xml" Id="R9cf6a4e3b4e3481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ed5b2c34f944da7" /><Relationship Type="http://schemas.openxmlformats.org/officeDocument/2006/relationships/notesMaster" Target="/ppt/notesMasters/notesMaster1.xml" Id="R18e6f18b2ee046a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fc7cd05567b4292" /><Relationship Type="http://schemas.openxmlformats.org/officeDocument/2006/relationships/notesMaster" Target="/ppt/notesMasters/notesMaster1.xml" Id="R7ebbfc59b74c4bb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a961a6d99164640" /><Relationship Type="http://schemas.openxmlformats.org/officeDocument/2006/relationships/notesMaster" Target="/ppt/notesMasters/notesMaster1.xml" Id="R9d01df1b89644a6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2b7948719eb422c" /><Relationship Type="http://schemas.openxmlformats.org/officeDocument/2006/relationships/notesMaster" Target="/ppt/notesMasters/notesMaster1.xml" Id="Rcd6c26870ae94c3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71f0ad67fd6461c" /><Relationship Type="http://schemas.openxmlformats.org/officeDocument/2006/relationships/notesMaster" Target="/ppt/notesMasters/notesMaster1.xml" Id="R5063b078609e4e9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297628f10604939" /><Relationship Type="http://schemas.openxmlformats.org/officeDocument/2006/relationships/notesMaster" Target="/ppt/notesMasters/notesMaster1.xml" Id="Radc310438667443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32f0d9ed74041b4" /><Relationship Type="http://schemas.openxmlformats.org/officeDocument/2006/relationships/notesMaster" Target="/ppt/notesMasters/notesMaster1.xml" Id="R918395cf0f8846c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a0b66027ff34c09" /><Relationship Type="http://schemas.openxmlformats.org/officeDocument/2006/relationships/notesMaster" Target="/ppt/notesMasters/notesMaster1.xml" Id="R578cf6a65d0c410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048d863d2bc4ce1" /><Relationship Type="http://schemas.openxmlformats.org/officeDocument/2006/relationships/notesMaster" Target="/ppt/notesMasters/notesMaster1.xml" Id="Rae232374470046f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7be8781c2184b4f" /><Relationship Type="http://schemas.openxmlformats.org/officeDocument/2006/relationships/notesMaster" Target="/ppt/notesMasters/notesMaster1.xml" Id="R29feef2b83db414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1d7cb377fc04fca" /><Relationship Type="http://schemas.openxmlformats.org/officeDocument/2006/relationships/notesMaster" Target="/ppt/notesMasters/notesMaster1.xml" Id="Re13c18b636e5480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021c9b983f54e8d" /><Relationship Type="http://schemas.openxmlformats.org/officeDocument/2006/relationships/notesMaster" Target="/ppt/notesMasters/notesMaster1.xml" Id="R7861cd01f1a54de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3e02aad90504710" /><Relationship Type="http://schemas.openxmlformats.org/officeDocument/2006/relationships/notesMaster" Target="/ppt/notesMasters/notesMaster1.xml" Id="Re1c10d0e7c7445d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will begin with the everyday meaning of AI and prompting. You do not need to know technical terms or write code to take part. I will show a short request first, then add only the information that helps us get a useful answer. After that, we will use three made-up applications to practice office tasks. You can copy the prompts from the practice page, and you can compare the answer with the original files. I will keep responsibility clear: AI prepares a draft or checklist, and a person checks it and makes the decision.</a:t>
            </a:r>
          </a:p>
          <a:p xmlns:a="http://schemas.openxmlformats.org/drawingml/2006/main">
            <a:r>
              <a:t/>
            </a:r>
          </a:p>
          <a:p xmlns:a="http://schemas.openxmlformats.org/drawingml/2006/main">
            <a:r>
              <a:t>Source: Trust, Transparency, and AI workshop</a:t>
            </a:r>
          </a:p>
          <a:p xmlns:a="http://schemas.openxmlformats.org/drawingml/2006/main">
            <a:r>
              <a:t>https://mguhlin.github.io/nspa/2026/</a:t>
            </a:r>
          </a:p>
          <a:p xmlns:a="http://schemas.openxmlformats.org/drawingml/2006/main">
            <a:r>
              <a:t/>
            </a:r>
          </a:p>
          <a:p xmlns:a="http://schemas.openxmlformats.org/drawingml/2006/main">
            <a:r>
              <a:t>Source: Creating with Generative AI — Miguel Guhlin</a:t>
            </a:r>
          </a:p>
          <a:p xmlns:a="http://schemas.openxmlformats.org/drawingml/2006/main">
            <a:r>
              <a:t>https://drive.google.com/file/d/1xQLXylvdtJVG775282uvm2uYgJnO609z/view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invite you to take the awareness self-check before we begin. It uses eight everyday situations, including checking an AI answer and deciding what information we may upload. The result shows a score out of eight, a graph of your answers by topic, and short suggestions for improvement. The guided ChatGPT activities are separate. This is a workshop activity, not a test of your qualifications. Your answers stay on the page and are not sent to anyone. The score is easy to note for later reference. You can return after the demonstrations and see which choices make more sense.</a:t>
            </a:r>
          </a:p>
          <a:p xmlns:a="http://schemas.openxmlformats.org/drawingml/2006/main">
            <a:r>
              <a:t/>
            </a:r>
          </a:p>
          <a:p xmlns:a="http://schemas.openxmlformats.org/drawingml/2006/main">
            <a:r>
              <a:t>Resource: https://mguhlin.github.io/nspa/2026/assessment.html</a:t>
            </a:r>
          </a:p>
          <a:p xmlns:a="http://schemas.openxmlformats.org/drawingml/2006/main">
            <a:r>
              <a:t/>
            </a:r>
          </a:p>
          <a:p xmlns:a="http://schemas.openxmlformats.org/drawingml/2006/main">
            <a:r>
              <a:t>Slide reference wording:</a:t>
            </a:r>
          </a:p>
          <a:p xmlns:a="http://schemas.openxmlformats.org/drawingml/2006/main">
            <a:r>
              <a:t>What would I do in each situation?</a:t>
            </a:r>
          </a:p>
          <a:p xmlns:a="http://schemas.openxmlformats.org/drawingml/2006/main">
            <a:r>
              <a:t>Which idea would I like to practice?</a:t>
            </a:r>
          </a:p>
          <a:p xmlns:a="http://schemas.openxmlformats.org/drawingml/2006/main">
            <a:r>
              <a:t/>
            </a:r>
          </a:p>
          <a:p xmlns:a="http://schemas.openxmlformats.org/drawingml/2006/main">
            <a:r>
              <a:t>Source: Infographics and Frameworks — Miguel Guhlin</a:t>
            </a:r>
          </a:p>
          <a:p xmlns:a="http://schemas.openxmlformats.org/drawingml/2006/main">
            <a:r>
              <a:t>https://mguhlin.org/resources/infographics/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Generative AI is software that creates something, such as text or an image, from a request. In this workshop, I will use ChatGPT to work with text and files. Think of the answer as a draft that needs your attention. A useful draft may save us time, but fluent writing does not tell us whether every detail is correct. We need to look at the information we supplied and compare it with the answer. I am going to keep our first example small enough that everyone can do that comparison without opening a complicated packet.</a:t>
            </a:r>
          </a:p>
          <a:p xmlns:a="http://schemas.openxmlformats.org/drawingml/2006/main">
            <a:r>
              <a:t/>
            </a:r>
          </a:p>
          <a:p xmlns:a="http://schemas.openxmlformats.org/drawingml/2006/main">
            <a:r>
              <a:t>Slide reference wording:</a:t>
            </a:r>
          </a:p>
          <a:p xmlns:a="http://schemas.openxmlformats.org/drawingml/2006/main">
            <a:r>
              <a:t>It can help write, summarize, and organize.</a:t>
            </a:r>
          </a:p>
          <a:p xmlns:a="http://schemas.openxmlformats.org/drawingml/2006/main">
            <a:r>
              <a:t>It can also leave things out or add incorrect details.</a:t>
            </a:r>
          </a:p>
          <a:p xmlns:a="http://schemas.openxmlformats.org/drawingml/2006/main">
            <a:r>
              <a:t/>
            </a:r>
          </a:p>
          <a:p xmlns:a="http://schemas.openxmlformats.org/drawingml/2006/main">
            <a:r>
              <a:t>Source: ChatGPT prompting guide</a:t>
            </a:r>
          </a:p>
          <a:p xmlns:a="http://schemas.openxmlformats.org/drawingml/2006/main">
            <a:r>
              <a:t>https://learn.chatgpt.com/docs/prompting</a:t>
            </a:r>
          </a:p>
          <a:p xmlns:a="http://schemas.openxmlformats.org/drawingml/2006/main">
            <a:r>
              <a:t/>
            </a:r>
          </a:p>
          <a:p xmlns:a="http://schemas.openxmlformats.org/drawingml/2006/main">
            <a:r>
              <a:t>Source: Infographics and Frameworks — Miguel Guhlin</a:t>
            </a:r>
          </a:p>
          <a:p xmlns:a="http://schemas.openxmlformats.org/drawingml/2006/main">
            <a:r>
              <a:t>https://mguhlin.org/resources/infographics/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words describe things you will see as we work. A chatbot is the app where the conversation happens. A model is the AI system the app uses to create an answer. A prompt is your request. Input includes that request and any information you provide, such as a note or an attached file. Output is what comes back. I will usually say request and answer because those words are enough for our exercises. You do not need a special formula. Clear everyday language is a good place to start, and you can follow up when an answer needs changing.</a:t>
            </a:r>
          </a:p>
          <a:p xmlns:a="http://schemas.openxmlformats.org/drawingml/2006/main">
            <a:r>
              <a:t/>
            </a:r>
          </a:p>
          <a:p xmlns:a="http://schemas.openxmlformats.org/drawingml/2006/main">
            <a:r>
              <a:t>Source: ChatGPT prompting guide</a:t>
            </a:r>
          </a:p>
          <a:p xmlns:a="http://schemas.openxmlformats.org/drawingml/2006/main">
            <a:r>
              <a:t>https://learn.chatgpt.com/docs/prompting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will open a fresh ChatGPT chat and type this request. The note is made up for practice. We want a friendly reminder, one sentence long, and we want the deadline to stay October 1. I will pause before sending so you can see the whole request. After the answer appears, I will read it with you. Did it keep the date? Did it stay within one sentence? Did it add any new rule or promise? If the live tool is unavailable, the practice page has a clearly labeled prepared example we can inspect together.</a:t>
            </a:r>
          </a:p>
          <a:p xmlns:a="http://schemas.openxmlformats.org/drawingml/2006/main">
            <a:r>
              <a:t/>
            </a:r>
          </a:p>
          <a:p xmlns:a="http://schemas.openxmlformats.org/drawingml/2006/main">
            <a:r>
              <a:t>Resource: https://mguhlin.github.io/nspa/2026/prompting/demos.html#first-prompt</a:t>
            </a:r>
          </a:p>
          <a:p xmlns:a="http://schemas.openxmlformats.org/drawingml/2006/main">
            <a:r>
              <a:t/>
            </a:r>
          </a:p>
          <a:p xmlns:a="http://schemas.openxmlformats.org/drawingml/2006/main">
            <a:r>
              <a:t>Slide reference wording:</a:t>
            </a:r>
          </a:p>
          <a:p xmlns:a="http://schemas.openxmlformats.org/drawingml/2006/main">
            <a:r>
              <a:t>Using this note only, write a friendly one-sentence reminder: “Applications close October 1.”</a:t>
            </a:r>
          </a:p>
          <a:p xmlns:a="http://schemas.openxmlformats.org/drawingml/2006/main">
            <a:r>
              <a:t>No real applicant information is needed.</a:t>
            </a:r>
          </a:p>
          <a:p xmlns:a="http://schemas.openxmlformats.org/drawingml/2006/main">
            <a:r>
              <a:t>I can check the date and length myself.</a:t>
            </a:r>
          </a:p>
          <a:p xmlns:a="http://schemas.openxmlformats.org/drawingml/2006/main">
            <a:r>
              <a:t/>
            </a:r>
          </a:p>
          <a:p xmlns:a="http://schemas.openxmlformats.org/drawingml/2006/main">
            <a:r>
              <a:t>Source: ChatGPT prompting guide</a:t>
            </a:r>
          </a:p>
          <a:p xmlns:a="http://schemas.openxmlformats.org/drawingml/2006/main">
            <a:r>
              <a:t>https://learn.chatgpt.com/docs/prompting</a:t>
            </a:r>
          </a:p>
          <a:p xmlns:a="http://schemas.openxmlformats.org/drawingml/2006/main">
            <a:r>
              <a:t/>
            </a:r>
          </a:p>
          <a:p xmlns:a="http://schemas.openxmlformats.org/drawingml/2006/main">
            <a:r>
              <a:t>Source: Creating with Generative AI — Miguel Guhlin</a:t>
            </a:r>
          </a:p>
          <a:p xmlns:a="http://schemas.openxmlformats.org/drawingml/2006/main">
            <a:r>
              <a:t>https://drive.google.com/file/d/1xQLXylvdtJVG775282uvm2uYgJnO609z/view</a:t>
            </a:r>
          </a:p>
          <a:p xmlns:a="http://schemas.openxmlformats.org/drawingml/2006/main">
            <a:r>
              <a:t/>
            </a:r>
          </a:p>
          <a:p xmlns:a="http://schemas.openxmlformats.org/drawingml/2006/main">
            <a:r>
              <a:t>Source: Infographics and Frameworks — Miguel Guhlin</a:t>
            </a:r>
          </a:p>
          <a:p xmlns:a="http://schemas.openxmlformats.org/drawingml/2006/main">
            <a:r>
              <a:t>https://mguhlin.org/resources/infographics/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means useful background information. For this reminder, the audience is the students who will read it. Tone means how the writing sounds, such as friendly or formal. A source is where the facts come from. A limit tells the tool what it should avoid. You may also see people assign AI a role, such as writing assistant. That can help explain the kind of help wanted, but it does not make the tool a qualified reviewer. I add details when they matter to the result. I do not need a long description of an imaginary expert to write a simple reminder.</a:t>
            </a:r>
          </a:p>
          <a:p xmlns:a="http://schemas.openxmlformats.org/drawingml/2006/main">
            <a:r>
              <a:t/>
            </a:r>
          </a:p>
          <a:p xmlns:a="http://schemas.openxmlformats.org/drawingml/2006/main">
            <a:r>
              <a:t>Source: ChatGPT prompting guide</a:t>
            </a:r>
          </a:p>
          <a:p xmlns:a="http://schemas.openxmlformats.org/drawingml/2006/main">
            <a:r>
              <a:t>https://learn.chatgpt.com/docs/prompting</a:t>
            </a:r>
          </a:p>
          <a:p xmlns:a="http://schemas.openxmlformats.org/drawingml/2006/main">
            <a:r>
              <a:t/>
            </a:r>
          </a:p>
          <a:p xmlns:a="http://schemas.openxmlformats.org/drawingml/2006/main">
            <a:r>
              <a:t>Source: Creating with Generative AI — Miguel Guhlin</a:t>
            </a:r>
          </a:p>
          <a:p xmlns:a="http://schemas.openxmlformats.org/drawingml/2006/main">
            <a:r>
              <a:t>https://drive.google.com/file/d/1xQLXylvdtJVG775282uvm2uYgJnO609z/view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request still does one small job. I have added who the message is for, the information it may use, and the form I want. Format means the shape of the answer. Here that shape is one sentence; later it will be a table. I have also named what must remain unchanged. I will compare this answer with the first one. The longer request is useful only if those added details improve what we need. A short request can work well. We should judge the answer by the task, rather than assume more words always produce a better result.</a:t>
            </a:r>
          </a:p>
          <a:p xmlns:a="http://schemas.openxmlformats.org/drawingml/2006/main">
            <a:r>
              <a:t/>
            </a:r>
          </a:p>
          <a:p xmlns:a="http://schemas.openxmlformats.org/drawingml/2006/main">
            <a:r>
              <a:t>Slide reference wording:</a:t>
            </a:r>
          </a:p>
          <a:p xmlns:a="http://schemas.openxmlformats.org/drawingml/2006/main">
            <a:r>
              <a:t>Write a friendly reminder for scholarship applicants. Use only this note: “Applications close October 1.” Write one sentence. Keep the date exactly as written. Do not add links or promises.</a:t>
            </a:r>
          </a:p>
          <a:p xmlns:a="http://schemas.openxmlformats.org/drawingml/2006/main">
            <a:r>
              <a:t>Job + source + audience + format + limits</a:t>
            </a:r>
          </a:p>
          <a:p xmlns:a="http://schemas.openxmlformats.org/drawingml/2006/main">
            <a:r>
              <a:t/>
            </a:r>
          </a:p>
          <a:p xmlns:a="http://schemas.openxmlformats.org/drawingml/2006/main">
            <a:r>
              <a:t>Source: ChatGPT prompting guide</a:t>
            </a:r>
          </a:p>
          <a:p xmlns:a="http://schemas.openxmlformats.org/drawingml/2006/main">
            <a:r>
              <a:t>https://learn.chatgpt.com/docs/prompting</a:t>
            </a:r>
          </a:p>
          <a:p xmlns:a="http://schemas.openxmlformats.org/drawingml/2006/main">
            <a:r>
              <a:t/>
            </a:r>
          </a:p>
          <a:p xmlns:a="http://schemas.openxmlformats.org/drawingml/2006/main">
            <a:r>
              <a:t>Source: Creating with Generative AI — Miguel Guhlin</a:t>
            </a:r>
          </a:p>
          <a:p xmlns:a="http://schemas.openxmlformats.org/drawingml/2006/main">
            <a:r>
              <a:t>https://drive.google.com/file/d/1xQLXylvdtJVG775282uvm2uYgJnO609z/view</a:t>
            </a:r>
          </a:p>
          <a:p xmlns:a="http://schemas.openxmlformats.org/drawingml/2006/main">
            <a:r>
              <a:t/>
            </a:r>
          </a:p>
          <a:p xmlns:a="http://schemas.openxmlformats.org/drawingml/2006/main">
            <a:r>
              <a:t>Source: Infographics and Frameworks — Miguel Guhlin</a:t>
            </a:r>
          </a:p>
          <a:p xmlns:a="http://schemas.openxmlformats.org/drawingml/2006/main">
            <a:r>
              <a:t>https://mguhlin.org/resources/infographics/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Evaluation criteria is a formal phrase for the checks we use to judge an answer. In this example, we have only three: keep the date, use one sentence, and avoid adding information. The answer on this slide is a prepared teaching example, not a captured response from a live model. Your actual response may use different wording. That is fine if it passes the checks. I will ask a participant to inspect the date and someone else to look for an added promise. When we later use a scoring guide, we will make those checks just as visible.</a:t>
            </a:r>
          </a:p>
          <a:p xmlns:a="http://schemas.openxmlformats.org/drawingml/2006/main">
            <a:r>
              <a:t/>
            </a:r>
          </a:p>
          <a:p xmlns:a="http://schemas.openxmlformats.org/drawingml/2006/main">
            <a:r>
              <a:t>Slide reference wording:</a:t>
            </a:r>
          </a:p>
          <a:p xmlns:a="http://schemas.openxmlformats.org/drawingml/2006/main">
            <a:r>
              <a:t>Prepared example: “A friendly reminder: scholarship applications close October 1.”</a:t>
            </a:r>
          </a:p>
          <a:p xmlns:a="http://schemas.openxmlformats.org/drawingml/2006/main">
            <a:r>
              <a:t>Correct date: October 1</a:t>
            </a:r>
          </a:p>
          <a:p xmlns:a="http://schemas.openxmlformats.org/drawingml/2006/main">
            <a:r>
              <a:t>Requested format: one sentence</a:t>
            </a:r>
          </a:p>
          <a:p xmlns:a="http://schemas.openxmlformats.org/drawingml/2006/main">
            <a:r>
              <a:t>No added rules, links, or promises</a:t>
            </a:r>
          </a:p>
          <a:p xmlns:a="http://schemas.openxmlformats.org/drawingml/2006/main">
            <a:r>
              <a:t/>
            </a:r>
          </a:p>
          <a:p xmlns:a="http://schemas.openxmlformats.org/drawingml/2006/main">
            <a:r>
              <a:t>Source: ChatGPT prompting guide</a:t>
            </a:r>
          </a:p>
          <a:p xmlns:a="http://schemas.openxmlformats.org/drawingml/2006/main">
            <a:r>
              <a:t>https://learn.chatgpt.com/docs/prompting</a:t>
            </a:r>
          </a:p>
          <a:p xmlns:a="http://schemas.openxmlformats.org/drawingml/2006/main">
            <a:r>
              <a:t/>
            </a:r>
          </a:p>
          <a:p xmlns:a="http://schemas.openxmlformats.org/drawingml/2006/main">
            <a:r>
              <a:t>Source: Creating with Generative AI — Miguel Guhlin</a:t>
            </a:r>
          </a:p>
          <a:p xmlns:a="http://schemas.openxmlformats.org/drawingml/2006/main">
            <a:r>
              <a:t>https://drive.google.com/file/d/1xQLXylvdtJVG775282uvm2uYgJnO609z/view</a:t>
            </a:r>
          </a:p>
          <a:p xmlns:a="http://schemas.openxmlformats.org/drawingml/2006/main">
            <a:r>
              <a:t/>
            </a:r>
          </a:p>
          <a:p xmlns:a="http://schemas.openxmlformats.org/drawingml/2006/main">
            <a:r>
              <a:t>Source: Infographics and Frameworks — Miguel Guhlin</a:t>
            </a:r>
          </a:p>
          <a:p xmlns:a="http://schemas.openxmlformats.org/drawingml/2006/main">
            <a:r>
              <a:t>https://mguhlin.org/resources/infographics/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practice cycle adapts the four-step prompt builder in my Creating with Generative AI materials, especially pages 24, 38, 39, and 42. First I choose a task. Then I write a request with the information needed for that task. I try it and compare the answer with the checks I chose. If something is wrong or unclear, I change the request and try again. Saving a useful request can save work next time, but I still need to check each new answer. I invite you to name one office task small enough to try this way. A reminder or a short checklist is a good starting point.</a:t>
            </a:r>
          </a:p>
          <a:p xmlns:a="http://schemas.openxmlformats.org/drawingml/2006/main">
            <a:r>
              <a:t/>
            </a:r>
          </a:p>
          <a:p xmlns:a="http://schemas.openxmlformats.org/drawingml/2006/main">
            <a:r>
              <a:t>Source: Creating with Generative AI — Miguel Guhlin</a:t>
            </a:r>
          </a:p>
          <a:p xmlns:a="http://schemas.openxmlformats.org/drawingml/2006/main">
            <a:r>
              <a:t>https://drive.google.com/file/d/1xQLXylvdtJVG775282uvm2uYgJnO609z/view</a:t>
            </a:r>
          </a:p>
          <a:p xmlns:a="http://schemas.openxmlformats.org/drawingml/2006/main">
            <a:r>
              <a:t/>
            </a:r>
          </a:p>
          <a:p xmlns:a="http://schemas.openxmlformats.org/drawingml/2006/main">
            <a:r>
              <a:t>Source: ChatGPT prompting guide</a:t>
            </a:r>
          </a:p>
          <a:p xmlns:a="http://schemas.openxmlformats.org/drawingml/2006/main">
            <a:r>
              <a:t>https://learn.chatgpt.com/docs/prompting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 can talk to the tool again after the first answer. This follow-up asks for a warmer tone while preserving the date and length. An example can also help: I might show one reminder in the style I like and ask for another with the supplied facts. You may hear zero-shot for no example, one-shot for one example, and few-shot for a few examples. Those names are optional vocabulary. The useful idea is showing what you mean. Prompt chaining means dividing work into connected requests. We can draft a reminder, check its facts, and then adjust its tone.</a:t>
            </a:r>
          </a:p>
          <a:p xmlns:a="http://schemas.openxmlformats.org/drawingml/2006/main">
            <a:r>
              <a:t/>
            </a:r>
          </a:p>
          <a:p xmlns:a="http://schemas.openxmlformats.org/drawingml/2006/main">
            <a:r>
              <a:t>Slide reference wording:</a:t>
            </a:r>
          </a:p>
          <a:p xmlns:a="http://schemas.openxmlformats.org/drawingml/2006/main">
            <a:r>
              <a:t>Follow-up: “Make it warmer. Keep one sentence and keep October 1 unchanged.”</a:t>
            </a:r>
          </a:p>
          <a:p xmlns:a="http://schemas.openxmlformats.org/drawingml/2006/main">
            <a:r>
              <a:t>An example shows the kind of answer I want.</a:t>
            </a:r>
          </a:p>
          <a:p xmlns:a="http://schemas.openxmlformats.org/drawingml/2006/main">
            <a:r>
              <a:t>A follow-up improves the answer I just received.</a:t>
            </a:r>
          </a:p>
          <a:p xmlns:a="http://schemas.openxmlformats.org/drawingml/2006/main">
            <a:r>
              <a:t>A sequence of small requests is often called prompt chaining.</a:t>
            </a:r>
          </a:p>
          <a:p xmlns:a="http://schemas.openxmlformats.org/drawingml/2006/main">
            <a:r>
              <a:t/>
            </a:r>
          </a:p>
          <a:p xmlns:a="http://schemas.openxmlformats.org/drawingml/2006/main">
            <a:r>
              <a:t>Source: ChatGPT prompting guide</a:t>
            </a:r>
          </a:p>
          <a:p xmlns:a="http://schemas.openxmlformats.org/drawingml/2006/main">
            <a:r>
              <a:t>https://learn.chatgpt.com/docs/prompting</a:t>
            </a:r>
          </a:p>
          <a:p xmlns:a="http://schemas.openxmlformats.org/drawingml/2006/main">
            <a:r>
              <a:t/>
            </a:r>
          </a:p>
          <a:p xmlns:a="http://schemas.openxmlformats.org/drawingml/2006/main">
            <a:r>
              <a:t>Source: Creating with Generative AI — Miguel Guhlin</a:t>
            </a:r>
          </a:p>
          <a:p xmlns:a="http://schemas.openxmlformats.org/drawingml/2006/main">
            <a:r>
              <a:t>https://drive.google.com/file/d/1xQLXylvdtJVG775282uvm2uYgJnO609z/view</a:t>
            </a:r>
          </a:p>
          <a:p xmlns:a="http://schemas.openxmlformats.org/drawingml/2006/main">
            <a:r>
              <a:t/>
            </a:r>
          </a:p>
          <a:p xmlns:a="http://schemas.openxmlformats.org/drawingml/2006/main">
            <a:r>
              <a:t>Source: Infographics and Frameworks — Miguel Guhlin</a:t>
            </a:r>
          </a:p>
          <a:p xmlns:a="http://schemas.openxmlformats.org/drawingml/2006/main">
            <a:r>
              <a:t>https://mguhlin.org/resources/infographics/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picture shows a mistake we can check without special expertise. The original says the applicant ran twelve tutoring sessions. The AI draft adds an improvement in grades, but the original never says that. I would remove the extra claim and check the rest of the answer. People sometimes call an invented AI detail a hallucination. My earlier deck uses that term on page 59. The practical response is to compare it with the original information. Asking AI to say how confident it feels does not supply the missing evidence. Asking it to review its own answer can help find problems, but a person still needs to check the facts.</a:t>
            </a:r>
          </a:p>
          <a:p xmlns:a="http://schemas.openxmlformats.org/drawingml/2006/main">
            <a:r>
              <a:t/>
            </a:r>
          </a:p>
          <a:p xmlns:a="http://schemas.openxmlformats.org/drawingml/2006/main">
            <a:r>
              <a:t>Slide reference wording:</a:t>
            </a:r>
          </a:p>
          <a:p xmlns:a="http://schemas.openxmlformats.org/drawingml/2006/main">
            <a:r>
              <a:t>Original: “I ran 12 tutoring sessions.”</a:t>
            </a:r>
          </a:p>
          <a:p xmlns:a="http://schemas.openxmlformats.org/drawingml/2006/main">
            <a:r>
              <a:t>AI added: “Grades improved by 20%.”</a:t>
            </a:r>
          </a:p>
          <a:p xmlns:a="http://schemas.openxmlformats.org/drawingml/2006/main">
            <a:r>
              <a:t>The original does not support the added claim.</a:t>
            </a:r>
          </a:p>
          <a:p xmlns:a="http://schemas.openxmlformats.org/drawingml/2006/main">
            <a:r>
              <a:t/>
            </a:r>
          </a:p>
          <a:p xmlns:a="http://schemas.openxmlformats.org/drawingml/2006/main">
            <a:r>
              <a:t>Source: Creating with Generative AI — Miguel Guhlin</a:t>
            </a:r>
          </a:p>
          <a:p xmlns:a="http://schemas.openxmlformats.org/drawingml/2006/main">
            <a:r>
              <a:t>https://drive.google.com/file/d/1xQLXylvdtJVG775282uvm2uYgJnO609z/view</a:t>
            </a:r>
          </a:p>
          <a:p xmlns:a="http://schemas.openxmlformats.org/drawingml/2006/main">
            <a:r>
              <a:t/>
            </a:r>
          </a:p>
          <a:p xmlns:a="http://schemas.openxmlformats.org/drawingml/2006/main">
            <a:r>
              <a:t>Source: ChatGPT prompting guide</a:t>
            </a:r>
          </a:p>
          <a:p xmlns:a="http://schemas.openxmlformats.org/drawingml/2006/main">
            <a:r>
              <a:t>https://learn.chatgpt.com/docs/prompting</a:t>
            </a:r>
          </a:p>
          <a:p xmlns:a="http://schemas.openxmlformats.org/drawingml/2006/main">
            <a:r>
              <a:t/>
            </a:r>
          </a:p>
          <a:p xmlns:a="http://schemas.openxmlformats.org/drawingml/2006/main">
            <a:r>
              <a:t>Source: Infographics and Frameworks — Miguel Guhlin</a:t>
            </a:r>
          </a:p>
          <a:p xmlns:a="http://schemas.openxmlformats.org/drawingml/2006/main">
            <a:r>
              <a:t>https://mguhlin.org/resources/infographics/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practice packet is a folder of small files you can open and inspect. CSV holds a simple table, with one row per record. Markdown, usually ending in dot md, is ordinary text with simple marks for headings or lists. TXT is plain text. A PDF preserves a document’s page layout. This builds on the file examples on pages 27 to 30 of my earlier deck. There is no single file type that guarantees AI will read everything correctly. If a file cannot be read, stop that part of the task and say what is missing. In our packet, the listed pretend PDFs are not included; the actual exercise uses the small text and CSV files.</a:t>
            </a:r>
          </a:p>
          <a:p xmlns:a="http://schemas.openxmlformats.org/drawingml/2006/main">
            <a:r>
              <a:t/>
            </a:r>
          </a:p>
          <a:p xmlns:a="http://schemas.openxmlformats.org/drawingml/2006/main">
            <a:r>
              <a:t>Source: Creating with Generative AI — Miguel Guhlin</a:t>
            </a:r>
          </a:p>
          <a:p xmlns:a="http://schemas.openxmlformats.org/drawingml/2006/main">
            <a:r>
              <a:t>https://drive.google.com/file/d/1xQLXylvdtJVG775282uvm2uYgJnO609z/view</a:t>
            </a:r>
          </a:p>
          <a:p xmlns:a="http://schemas.openxmlformats.org/drawingml/2006/main">
            <a:r>
              <a:t/>
            </a:r>
          </a:p>
          <a:p xmlns:a="http://schemas.openxmlformats.org/drawingml/2006/main">
            <a:r>
              <a:t>Source: ChatGPT prompting guide</a:t>
            </a:r>
          </a:p>
          <a:p xmlns:a="http://schemas.openxmlformats.org/drawingml/2006/main">
            <a:r>
              <a:t>https://learn.chatgpt.com/docs/prompting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I supply real applicant information, I need to know which account, tool, and task my organization allows. Removing names is not enough, because stories, schools, or other details may identify a person. I will use made-up information for every demonstration today. AI can help prepare a list of questions or point out a late date. A staff member checks the actual records and applies the organization’s rules. Staff also own final scores and award decisions. The picture shows the relationship I want: the computer supplies a checklist, and the person checks it before making a decision.</a:t>
            </a:r>
          </a:p>
          <a:p xmlns:a="http://schemas.openxmlformats.org/drawingml/2006/main">
            <a:r>
              <a:t/>
            </a:r>
          </a:p>
          <a:p xmlns:a="http://schemas.openxmlformats.org/drawingml/2006/main">
            <a:r>
              <a:t>Slide reference wording:</a:t>
            </a:r>
          </a:p>
          <a:p xmlns:a="http://schemas.openxmlformats.org/drawingml/2006/main">
            <a:r>
              <a:t>Use the AI account and information your organization allows.</a:t>
            </a:r>
          </a:p>
          <a:p xmlns:a="http://schemas.openxmlformats.org/drawingml/2006/main">
            <a:r>
              <a:t>Names removed from a file do not remove every identifying detail.</a:t>
            </a:r>
          </a:p>
          <a:p xmlns:a="http://schemas.openxmlformats.org/drawingml/2006/main">
            <a:r>
              <a:t>Practice here uses made-up information.</a:t>
            </a:r>
          </a:p>
          <a:p xmlns:a="http://schemas.openxmlformats.org/drawingml/2006/main">
            <a:r>
              <a:t/>
            </a:r>
          </a:p>
          <a:p xmlns:a="http://schemas.openxmlformats.org/drawingml/2006/main">
            <a:r>
              <a:t>Source: Trust, Transparency, and AI workshop</a:t>
            </a:r>
          </a:p>
          <a:p xmlns:a="http://schemas.openxmlformats.org/drawingml/2006/main">
            <a:r>
              <a:t>https://mguhlin.github.io/nspa/2026/</a:t>
            </a:r>
          </a:p>
          <a:p xmlns:a="http://schemas.openxmlformats.org/drawingml/2006/main">
            <a:r>
              <a:t/>
            </a:r>
          </a:p>
          <a:p xmlns:a="http://schemas.openxmlformats.org/drawingml/2006/main">
            <a:r>
              <a:t>Source: Infographics and Frameworks — Miguel Guhlin</a:t>
            </a:r>
          </a:p>
          <a:p xmlns:a="http://schemas.openxmlformats.org/drawingml/2006/main">
            <a:r>
              <a:t>https://mguhlin.org/resources/infographics/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want to explain these labels before we use the packet. A17 is a made-up applicant code, not a person you are expected to recognize. A18 and A19 represent two other made-up applicants. The same code appears across the files so we can connect each person’s records without using a name. For example, A17-transcript dot pdf means the transcript file associated with applicant A17. Using a code can reduce direct identification, but it does not remove every identifying detail in a real application. Our workshop files contain made-up information, so no actual applicant is involved.</a:t>
            </a:r>
          </a:p>
          <a:p xmlns:a="http://schemas.openxmlformats.org/drawingml/2006/main">
            <a:r>
              <a:t/>
            </a:r>
          </a:p>
          <a:p xmlns:a="http://schemas.openxmlformats.org/drawingml/2006/main">
            <a:r>
              <a:t>Slide reference wording:</a:t>
            </a:r>
          </a:p>
          <a:p xmlns:a="http://schemas.openxmlformats.org/drawingml/2006/main">
            <a:r>
              <a:t>The same code connects one applicant’s records.</a:t>
            </a:r>
          </a:p>
          <a:p xmlns:a="http://schemas.openxmlformats.org/drawingml/2006/main">
            <a:r>
              <a:t>A17-transcript.pdf means the transcript file for applicant A17.</a:t>
            </a:r>
          </a:p>
          <a:p xmlns:a="http://schemas.openxmlformats.org/drawingml/2006/main">
            <a:r>
              <a:t>A code alone does not make real information anonymous.</a:t>
            </a:r>
          </a:p>
          <a:p xmlns:a="http://schemas.openxmlformats.org/drawingml/2006/main">
            <a:r>
              <a:t/>
            </a:r>
          </a:p>
          <a:p xmlns:a="http://schemas.openxmlformats.org/drawingml/2006/main">
            <a:r>
              <a:t>Source: Infographics and Frameworks — Miguel Guhlin</a:t>
            </a:r>
          </a:p>
          <a:p xmlns:a="http://schemas.openxmlformats.org/drawingml/2006/main">
            <a:r>
              <a:t>https://mguhlin.org/resources/infographics/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Manifest is another word that can sound more complicated than it is. Here it means a file list. Our manifest lists pretend filenames for each applicant. Seeing A17-transcript dot pdf on the list tells us that the name appears there. It does not tell us what grades are in that transcript or whether the transcript meets a requirement. In fact, those pretend PDFs are not included. We are practicing how to organize a list and identify questions for staff. I will stop any answer that claims to have read one of those unavailable documents.</a:t>
            </a:r>
          </a:p>
          <a:p xmlns:a="http://schemas.openxmlformats.org/drawingml/2006/main">
            <a:r>
              <a:t/>
            </a:r>
          </a:p>
          <a:p xmlns:a="http://schemas.openxmlformats.org/drawingml/2006/main">
            <a:r>
              <a:t>Slide reference wording:</a:t>
            </a:r>
          </a:p>
          <a:p xmlns:a="http://schemas.openxmlformats.org/drawingml/2006/main">
            <a:r>
              <a:t>manifest.csv lists pretend document names.</a:t>
            </a:r>
          </a:p>
          <a:p xmlns:a="http://schemas.openxmlformats.org/drawingml/2006/main">
            <a:r>
              <a:t>The pretend PDFs are not included.</a:t>
            </a:r>
          </a:p>
          <a:p xmlns:a="http://schemas.openxmlformats.org/drawingml/2006/main">
            <a:r>
              <a:t>A person must open an actual document to check its contents.</a:t>
            </a:r>
          </a:p>
          <a:p xmlns:a="http://schemas.openxmlformats.org/drawingml/2006/main">
            <a:r>
              <a:t/>
            </a:r>
          </a:p>
          <a:p xmlns:a="http://schemas.openxmlformats.org/drawingml/2006/main">
            <a:r>
              <a:t>Source: Infographics and Frameworks — Miguel Guhlin</a:t>
            </a:r>
          </a:p>
          <a:p xmlns:a="http://schemas.openxmlformats.org/drawingml/2006/main">
            <a:r>
              <a:t>https://mguhlin.org/resources/infographics/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rubric is a scoring guide. A criterion is one part of that guide, such as community contribution. An anchor describes the evidence needed for a particular score. Evidence is the original information supporting the judgment, and we need to know where to find it. A provisional score is a suggestion that a person must check; it is not a final decision. I will use these words on the practice page because they appear in the saved prompts. When we reach the scoring exercise, I will show the whole guide so nobody needs to guess what the scores mean.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can connect the introductory ideas with the office examples. The first task organizes filenames for each applicant. The second compares the listed items and dates with the made-up program rules. The third compares applicant statements with one part of a scoring guide. Each task has its own prompt and named input files. I will start a separate chat for each task so we can see what information it uses. The practice page has copyable prompts and prepared examples if a live run is unavailable. Those examples are teaching material, not proof of what a model will produce.</a:t>
            </a:r>
          </a:p>
          <a:p xmlns:a="http://schemas.openxmlformats.org/drawingml/2006/main">
            <a:r>
              <a:t/>
            </a:r>
          </a:p>
          <a:p xmlns:a="http://schemas.openxmlformats.org/drawingml/2006/main">
            <a:r>
              <a:t>Resource: https://mguhlin.github.io/nspa/2026/prompting/demos.html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will download and unzip the practice packet first. For a basic run, I can open a fresh ChatGPT chat, paste the shared instructions, and add only the files named for that demonstration. Then I copy the task prompt and send it. If the account offers Projects, I can keep the same instructions and files together in a practice Project; I will explain that after the demonstrations. A Project is optional for getting started. The important part is making the named sources available and checking the answer against them. I will never upload real applicant information in this workshop.</a:t>
            </a:r>
          </a:p>
          <a:p xmlns:a="http://schemas.openxmlformats.org/drawingml/2006/main">
            <a:r>
              <a:t/>
            </a:r>
          </a:p>
          <a:p xmlns:a="http://schemas.openxmlformats.org/drawingml/2006/main">
            <a:r>
              <a:t>Resource: https://mguhlin.github.io/nspa/2026/prompting/demos.html#setup</a:t>
            </a:r>
          </a:p>
          <a:p xmlns:a="http://schemas.openxmlformats.org/drawingml/2006/main">
            <a:r>
              <a:t/>
            </a:r>
          </a:p>
          <a:p xmlns:a="http://schemas.openxmlformats.org/drawingml/2006/main">
            <a:r>
              <a:t>Slide reference wording:</a:t>
            </a:r>
          </a:p>
          <a:p xmlns:a="http://schemas.openxmlformats.org/drawingml/2006/main">
            <a:r>
              <a:t>Download and unzip the practice packet.</a:t>
            </a:r>
          </a:p>
          <a:p xmlns:a="http://schemas.openxmlformats.org/drawingml/2006/main">
            <a:r>
              <a:t>Start a new chat and supply only the files named for that task.</a:t>
            </a:r>
          </a:p>
          <a:p xmlns:a="http://schemas.openxmlformats.org/drawingml/2006/main">
            <a:r>
              <a:t>Paste the supplied instructions, then the task prompt.</a:t>
            </a:r>
          </a:p>
          <a:p xmlns:a="http://schemas.openxmlformats.org/drawingml/2006/main">
            <a:r>
              <a:t>Compare the answer with the original files.</a:t>
            </a:r>
          </a:p>
          <a:p xmlns:a="http://schemas.openxmlformats.org/drawingml/2006/main">
            <a:r>
              <a:t/>
            </a:r>
          </a:p>
          <a:p xmlns:a="http://schemas.openxmlformats.org/drawingml/2006/main">
            <a:r>
              <a:t>Source: ChatGPT Projects</a:t>
            </a:r>
          </a:p>
          <a:p xmlns:a="http://schemas.openxmlformats.org/drawingml/2006/main">
            <a:r>
              <a:t>https://learn.chatgpt.com/docs/projects?surface=app</a:t>
            </a:r>
          </a:p>
          <a:p xmlns:a="http://schemas.openxmlformats.org/drawingml/2006/main">
            <a:r>
              <a:t/>
            </a:r>
          </a:p>
          <a:p xmlns:a="http://schemas.openxmlformats.org/drawingml/2006/main">
            <a:r>
              <a:t>Source: ChatGPT prompting guide</a:t>
            </a:r>
          </a:p>
          <a:p xmlns:a="http://schemas.openxmlformats.org/drawingml/2006/main">
            <a:r>
              <a:t>https://learn.chatgpt.com/docs/prompting</a:t>
            </a:r>
          </a:p>
          <a:p xmlns:a="http://schemas.openxmlformats.org/drawingml/2006/main">
            <a:r>
              <a:t/>
            </a:r>
          </a:p>
          <a:p xmlns:a="http://schemas.openxmlformats.org/drawingml/2006/main">
            <a:r>
              <a:t>Source: Infographics and Frameworks — Miguel Guhlin</a:t>
            </a:r>
          </a:p>
          <a:p xmlns:a="http://schemas.openxmlformats.org/drawingml/2006/main">
            <a:r>
              <a:t>https://mguhlin.org/resources/infographics/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gives the plain-language task. The practice page has the full prompt, including the fields and limits. I will attach manifest dot csv and applications dot csv, then copy that full prompt. We expect one row for each of the three applicant codes. We also expect every one of the twelve entries on the file list to remain accounted for. AI may point out a missing listing, but it cannot tell us that an unavailable document meets the rules. I will ask participants to count the applicant codes and check one row against the original list.</a:t>
            </a:r>
          </a:p>
          <a:p xmlns:a="http://schemas.openxmlformats.org/drawingml/2006/main">
            <a:r>
              <a:t/>
            </a:r>
          </a:p>
          <a:p xmlns:a="http://schemas.openxmlformats.org/drawingml/2006/main">
            <a:r>
              <a:t>Resource: https://mguhlin.github.io/nspa/2026/prompting/demos.html#organize</a:t>
            </a:r>
          </a:p>
          <a:p xmlns:a="http://schemas.openxmlformats.org/drawingml/2006/main">
            <a:r>
              <a:t/>
            </a:r>
          </a:p>
          <a:p xmlns:a="http://schemas.openxmlformats.org/drawingml/2006/main">
            <a:r>
              <a:t>Slide reference wording:</a:t>
            </a:r>
          </a:p>
          <a:p xmlns:a="http://schemas.openxmlformats.org/drawingml/2006/main">
            <a:r>
              <a:t>For each applicant code, list the file names, note any gaps in the list, and show where you found the information. Do not decide who qualifies.</a:t>
            </a:r>
          </a:p>
          <a:p xmlns:a="http://schemas.openxmlformats.org/drawingml/2006/main">
            <a:r>
              <a:t>Files: manifest.csv and applications.csv</a:t>
            </a:r>
          </a:p>
          <a:p xmlns:a="http://schemas.openxmlformats.org/drawingml/2006/main">
            <a:r>
              <a:t>The practice page provides the full copyable prompt.</a:t>
            </a:r>
          </a:p>
          <a:p xmlns:a="http://schemas.openxmlformats.org/drawingml/2006/main">
            <a:r>
              <a:t/>
            </a:r>
          </a:p>
          <a:p xmlns:a="http://schemas.openxmlformats.org/drawingml/2006/main">
            <a:r>
              <a:t>Source: Infographics and Frameworks — Miguel Guhlin</a:t>
            </a:r>
          </a:p>
          <a:p xmlns:a="http://schemas.openxmlformats.org/drawingml/2006/main">
            <a:r>
              <a:t>https://mguhlin.org/resources/infographics/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highlights what to check in the organization result. It is a shortened prepared example, not the complete inventory and not a captured AI response. The full prepared example on the practice page includes source locations. A17 has the required document types listed. A18 has no reference listed. A19 has no transcript listed and has an exception request, meaning a request for extra time or another allowed change. The complete inventory should still preserve the other listed files, including each application record. I will open the original list and verify those statements with the group.</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the second demonstration, I will add the program rules as well as the file list and application records. The made-up deadline is October 1, 2026. The rules require a statement, a transcript, and at least one reference. The task is to compare the records with those rules and flag questions. It is not to accept or reject applications. I will look for the exact rule and the row supporting each concern. If the tool cannot read a file, it needs to identify that problem rather than continue as if it had seen the contents.</a:t>
            </a:r>
          </a:p>
          <a:p xmlns:a="http://schemas.openxmlformats.org/drawingml/2006/main">
            <a:r>
              <a:t/>
            </a:r>
          </a:p>
          <a:p xmlns:a="http://schemas.openxmlformats.org/drawingml/2006/main">
            <a:r>
              <a:t>Resource: https://mguhlin.github.io/nspa/2026/prompting/demos.html#completeness</a:t>
            </a:r>
          </a:p>
          <a:p xmlns:a="http://schemas.openxmlformats.org/drawingml/2006/main">
            <a:r>
              <a:t/>
            </a:r>
          </a:p>
          <a:p xmlns:a="http://schemas.openxmlformats.org/drawingml/2006/main">
            <a:r>
              <a:t>Slide reference wording:</a:t>
            </a:r>
          </a:p>
          <a:p xmlns:a="http://schemas.openxmlformats.org/drawingml/2006/main">
            <a:r>
              <a:t>Compare the listed items and application dates with the program rules. Show the rule and the original record for each concern. Staff decide what happens next.</a:t>
            </a:r>
          </a:p>
          <a:p xmlns:a="http://schemas.openxmlformats.org/drawingml/2006/main">
            <a:r>
              <a:t>Files: program-rules.md, manifest.csv, applications.csv</a:t>
            </a:r>
          </a:p>
          <a:p xmlns:a="http://schemas.openxmlformats.org/drawingml/2006/main">
            <a:r>
              <a:t>Fictional deadline: October 1, 2026</a:t>
            </a:r>
          </a:p>
          <a:p xmlns:a="http://schemas.openxmlformats.org/drawingml/2006/main">
            <a:r>
              <a:t/>
            </a:r>
          </a:p>
          <a:p xmlns:a="http://schemas.openxmlformats.org/drawingml/2006/main">
            <a:r>
              <a:t>Source: Infographics and Frameworks — Miguel Guhlin</a:t>
            </a:r>
          </a:p>
          <a:p xmlns:a="http://schemas.openxmlformats.org/drawingml/2006/main">
            <a:r>
              <a:t>https://mguhlin.org/resources/infographics/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will focus on A19, our made-up applicant who submitted after the deadline and requested an exception. The recorded date is October 2. AI can report that the date is later than October 1 and that an exception request exists. It can also report that the file list has no transcript entry. A staff member must check the actual records and decide whether the rules allow extra time or another exception. I will watch for an answer that rejects A19 automatically. That would go beyond the task, even if the tool copied the date correctly.</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complete made-up scoring guide for the third demonstration. Zero means the statement describes no relevant activity. One means an activity appears, but the applicant’s role is unclear. Two means the applicant describes a specific contribution. Three requires that contribution and a supported result. The guide judges contribution, so polished language alone does not earn extra points. I will read these descriptions aloud before asking for any score. We need the actual descriptions available to the model, and a human reviewer must check the suggested match against both the guide and the original statement.</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will supply the statements and the complete rubric, then copy the full prompt from the practice page. We are comparing A17 and A18, which are our made-up applicant codes. I want the original quotation, its section, the suggested score, and an explanation using the guide. I also want to know what evidence is missing for the next score. The prompt calls the score provisional, which means a person must check it. We should not infer character or rank the applicants from these excerpts. I will verify each quoted word before discussing the suggested score.</a:t>
            </a:r>
          </a:p>
          <a:p xmlns:a="http://schemas.openxmlformats.org/drawingml/2006/main">
            <a:r>
              <a:t/>
            </a:r>
          </a:p>
          <a:p xmlns:a="http://schemas.openxmlformats.org/drawingml/2006/main">
            <a:r>
              <a:t>Resource: https://mguhlin.github.io/nspa/2026/prompting/demos.html#rubric</a:t>
            </a:r>
          </a:p>
          <a:p xmlns:a="http://schemas.openxmlformats.org/drawingml/2006/main">
            <a:r>
              <a:t/>
            </a:r>
          </a:p>
          <a:p xmlns:a="http://schemas.openxmlformats.org/drawingml/2006/main">
            <a:r>
              <a:t>Slide reference wording:</a:t>
            </a:r>
          </a:p>
          <a:p xmlns:a="http://schemas.openxmlformats.org/drawingml/2006/main">
            <a:r>
              <a:t>Compare A17 and A18 with the community contribution guide. Quote the original words, suggest a score, and explain what information is missing. A person checks the score.</a:t>
            </a:r>
          </a:p>
          <a:p xmlns:a="http://schemas.openxmlformats.org/drawingml/2006/main">
            <a:r>
              <a:t>Files: statements.md and rubric.md</a:t>
            </a:r>
          </a:p>
          <a:p xmlns:a="http://schemas.openxmlformats.org/drawingml/2006/main">
            <a:r>
              <a:t>Source location = where to find the original words</a:t>
            </a:r>
          </a:p>
          <a:p xmlns:a="http://schemas.openxmlformats.org/drawingml/2006/main">
            <a:r>
              <a:t/>
            </a:r>
          </a:p>
          <a:p xmlns:a="http://schemas.openxmlformats.org/drawingml/2006/main">
            <a:r>
              <a:t>Source: Infographics and Frameworks — Miguel Guhlin</a:t>
            </a:r>
          </a:p>
          <a:p xmlns:a="http://schemas.openxmlformats.org/drawingml/2006/main">
            <a:r>
              <a:t>https://mguhlin.org/resources/infographics/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statements use different wording for equivalent contribution evidence. Both describe twelve tutoring sessions or days and recruiting two volunteers. Under this guide, both support a suggested score of two. Neither excerpt supplies a supported result, so we do not have the evidence needed for three. The comparison is prepared teaching material, and these shortened phrases are summaries; the original wording is in statements dot md. I will compare the actual quotations there. If AI gives different scores, I will ask which fact in the contribution guide explains the difference. Writing polish alone cannot supply a greater contribution.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Project is a way to keep related work together. Instead of providing the same practice files and standing instructions in every new chat, I can put them in a practice Project when the account supports that feature. Each task can still have its own chat. The Project does not guarantee that the answer is correct, and it does not give us permission to upload applicant data. I will use the fictional packet and name the sources needed for each task. If Projects are unavailable, the fresh-chat method we already used remains a useful way to practice.</a:t>
            </a:r>
          </a:p>
          <a:p xmlns:a="http://schemas.openxmlformats.org/drawingml/2006/main">
            <a:r>
              <a:t/>
            </a:r>
          </a:p>
          <a:p xmlns:a="http://schemas.openxmlformats.org/drawingml/2006/main">
            <a:r>
              <a:t>Slide reference wording:</a:t>
            </a:r>
          </a:p>
          <a:p xmlns:a="http://schemas.openxmlformats.org/drawingml/2006/main">
            <a:r>
              <a:t>Optional next step: Scholarship Review Practice</a:t>
            </a:r>
          </a:p>
          <a:p xmlns:a="http://schemas.openxmlformats.org/drawingml/2006/main">
            <a:r>
              <a:t/>
            </a:r>
          </a:p>
          <a:p xmlns:a="http://schemas.openxmlformats.org/drawingml/2006/main">
            <a:r>
              <a:t>Source: ChatGPT Projects</a:t>
            </a:r>
          </a:p>
          <a:p xmlns:a="http://schemas.openxmlformats.org/drawingml/2006/main">
            <a:r>
              <a:t>https://learn.chatgpt.com/docs/projects?surface=app</a:t>
            </a:r>
          </a:p>
          <a:p xmlns:a="http://schemas.openxmlformats.org/drawingml/2006/main">
            <a:r>
              <a:t/>
            </a:r>
          </a:p>
          <a:p xmlns:a="http://schemas.openxmlformats.org/drawingml/2006/main">
            <a:r>
              <a:t>Source: Infographics and Frameworks — Miguel Guhlin</a:t>
            </a:r>
          </a:p>
          <a:p xmlns:a="http://schemas.openxmlformats.org/drawingml/2006/main">
            <a:r>
              <a:t>https://mguhlin.org/resources/infographics/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Instructions are rules for how the work should happen. This short example explains the most important ideas in the complete practice instructions. A prompt tells the tool what I need on this occasion. Project instructions keep relevant rules with the ongoing practice work. Personal custom instructions can express preferences across chats, but private program details should stay with the appropriate task or Project. I will inspect every answer even when instructions are saved. If a source document contains a request to ignore our rules, that is part of the source text to examine, not permission to change the review process.</a:t>
            </a:r>
          </a:p>
          <a:p xmlns:a="http://schemas.openxmlformats.org/drawingml/2006/main">
            <a:r>
              <a:t/>
            </a:r>
          </a:p>
          <a:p xmlns:a="http://schemas.openxmlformats.org/drawingml/2006/main">
            <a:r>
              <a:t>Resource: https://mguhlin.github.io/nspa/2026/prompting/demos.html#setup</a:t>
            </a:r>
          </a:p>
          <a:p xmlns:a="http://schemas.openxmlformats.org/drawingml/2006/main">
            <a:r>
              <a:t/>
            </a:r>
          </a:p>
          <a:p xmlns:a="http://schemas.openxmlformats.org/drawingml/2006/main">
            <a:r>
              <a:t>Slide reference wording:</a:t>
            </a:r>
          </a:p>
          <a:p xmlns:a="http://schemas.openxmlformats.org/drawingml/2006/main">
            <a:r>
              <a:t>Use only the supplied practice files. Show the original words and where to find them. Say when information is missing. Leave final decisions to staff.</a:t>
            </a:r>
          </a:p>
          <a:p xmlns:a="http://schemas.openxmlformats.org/drawingml/2006/main">
            <a:r>
              <a:t>A prompt names today’s task.</a:t>
            </a:r>
          </a:p>
          <a:p xmlns:a="http://schemas.openxmlformats.org/drawingml/2006/main">
            <a:r>
              <a:t>Project instructions apply to work inside that Project.</a:t>
            </a:r>
          </a:p>
          <a:p xmlns:a="http://schemas.openxmlformats.org/drawingml/2006/main">
            <a:r>
              <a:t/>
            </a:r>
          </a:p>
          <a:p xmlns:a="http://schemas.openxmlformats.org/drawingml/2006/main">
            <a:r>
              <a:t>Source: ChatGPT prompting guide</a:t>
            </a:r>
          </a:p>
          <a:p xmlns:a="http://schemas.openxmlformats.org/drawingml/2006/main">
            <a:r>
              <a:t>https://learn.chatgpt.com/docs/prompting</a:t>
            </a:r>
          </a:p>
          <a:p xmlns:a="http://schemas.openxmlformats.org/drawingml/2006/main">
            <a:r>
              <a:t/>
            </a:r>
          </a:p>
          <a:p xmlns:a="http://schemas.openxmlformats.org/drawingml/2006/main">
            <a:r>
              <a:t>Source: ChatGPT Projects</a:t>
            </a:r>
          </a:p>
          <a:p xmlns:a="http://schemas.openxmlformats.org/drawingml/2006/main">
            <a:r>
              <a:t>https://learn.chatgpt.com/docs/projects?surface=app</a:t>
            </a:r>
          </a:p>
          <a:p xmlns:a="http://schemas.openxmlformats.org/drawingml/2006/main">
            <a:r>
              <a:t/>
            </a:r>
          </a:p>
          <a:p xmlns:a="http://schemas.openxmlformats.org/drawingml/2006/main">
            <a:r>
              <a:t>Source: Infographics and Frameworks — Miguel Guhlin</a:t>
            </a:r>
          </a:p>
          <a:p xmlns:a="http://schemas.openxmlformats.org/drawingml/2006/main">
            <a:r>
              <a:t>https://mguhlin.org/resources/infographics/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think of a skill as a reusable recipe. This builds on the reusable-instruction steps on pages 61, 62, and 70 of my earlier deck. It describes what information is needed, how to carry out the task, and how to check the result. Our evidence-review skill asks for a statement and a scoring guide, then returns quotations, a suggested match, and missing information for a person to check. We can try the written procedure manually in a chat. Tools differ in how they install and run skills, so I do not assume one installation method works everywhere. Before relying on it, I will try known examples, missing information, and a misleading instruction inside a source.</a:t>
            </a:r>
          </a:p>
          <a:p xmlns:a="http://schemas.openxmlformats.org/drawingml/2006/main">
            <a:r>
              <a:t/>
            </a:r>
          </a:p>
          <a:p xmlns:a="http://schemas.openxmlformats.org/drawingml/2006/main">
            <a:r>
              <a:t>Resource: https://mguhlin.github.io/nspa/2026/prompting/demos.html#skill</a:t>
            </a:r>
          </a:p>
          <a:p xmlns:a="http://schemas.openxmlformats.org/drawingml/2006/main">
            <a:r>
              <a:t/>
            </a:r>
          </a:p>
          <a:p xmlns:a="http://schemas.openxmlformats.org/drawingml/2006/main">
            <a:r>
              <a:t>Source: Building skills in ChatGPT</a:t>
            </a:r>
          </a:p>
          <a:p xmlns:a="http://schemas.openxmlformats.org/drawingml/2006/main">
            <a:r>
              <a:t>https://learn.chatgpt.com/docs/build-skills</a:t>
            </a:r>
          </a:p>
          <a:p xmlns:a="http://schemas.openxmlformats.org/drawingml/2006/main">
            <a:r>
              <a:t/>
            </a:r>
          </a:p>
          <a:p xmlns:a="http://schemas.openxmlformats.org/drawingml/2006/main">
            <a:r>
              <a:t>Source: The Skills Library</a:t>
            </a:r>
          </a:p>
          <a:p xmlns:a="http://schemas.openxmlformats.org/drawingml/2006/main">
            <a:r>
              <a:t>https://mguhlin.github.io/creations/architect/skills/</a:t>
            </a:r>
          </a:p>
          <a:p xmlns:a="http://schemas.openxmlformats.org/drawingml/2006/main">
            <a:r>
              <a:t/>
            </a:r>
          </a:p>
          <a:p xmlns:a="http://schemas.openxmlformats.org/drawingml/2006/main">
            <a:r>
              <a:t>Source: Creating with Generative AI — Miguel Guhlin</a:t>
            </a:r>
          </a:p>
          <a:p xmlns:a="http://schemas.openxmlformats.org/drawingml/2006/main">
            <a:r>
              <a:t>https://drive.google.com/file/d/1xQLXylvdtJVG775282uvm2uYgJnO609z/view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review process also needs clear expectations for applicants. We should publish what kinds of help are allowed and how applicants should disclose that help. If a detection tool flags an essay, the flag does not prove who wrote it or that a rule was broken. An unflagged essay is not proof either. Staff should examine the concern under the published policy, give the applicant a fair chance to explain, and record the decision. The practice page includes sample language for local discussion. Each organization still needs to decide its own rules and how someone can request another review.</a:t>
            </a:r>
          </a:p>
          <a:p xmlns:a="http://schemas.openxmlformats.org/drawingml/2006/main">
            <a:r>
              <a:t/>
            </a:r>
          </a:p>
          <a:p xmlns:a="http://schemas.openxmlformats.org/drawingml/2006/main">
            <a:r>
              <a:t>Resource: https://mguhlin.github.io/nspa/2026/prompting/demos.html#policy</a:t>
            </a:r>
          </a:p>
          <a:p xmlns:a="http://schemas.openxmlformats.org/drawingml/2006/main">
            <a:r>
              <a:t/>
            </a:r>
          </a:p>
          <a:p xmlns:a="http://schemas.openxmlformats.org/drawingml/2006/main">
            <a:r>
              <a:t>Slide reference wording:</a:t>
            </a:r>
          </a:p>
          <a:p xmlns:a="http://schemas.openxmlformats.org/drawingml/2006/main">
            <a:r>
              <a:t>State what help is allowed and what must be disclosed.</a:t>
            </a:r>
          </a:p>
          <a:p xmlns:a="http://schemas.openxmlformats.org/drawingml/2006/main">
            <a:r>
              <a:t>A tool’s “AI-written” flag can be wrong.</a:t>
            </a:r>
          </a:p>
          <a:p xmlns:a="http://schemas.openxmlformats.org/drawingml/2006/main">
            <a:r>
              <a:t>Staff check concerns and give applicants a fair chance to explain.</a:t>
            </a:r>
          </a:p>
          <a:p xmlns:a="http://schemas.openxmlformats.org/drawingml/2006/main">
            <a:r>
              <a:t/>
            </a:r>
          </a:p>
          <a:p xmlns:a="http://schemas.openxmlformats.org/drawingml/2006/main">
            <a:r>
              <a:t>Source: Turnitin AI Writing Report guidance</a:t>
            </a:r>
          </a:p>
          <a:p xmlns:a="http://schemas.openxmlformats.org/drawingml/2006/main">
            <a:r>
              <a:t>https://guides.turnitin.com/hc/en-us/articles/22774058814093-Using-the-AI-Writing-Report</a:t>
            </a:r>
          </a:p>
          <a:p xmlns:a="http://schemas.openxmlformats.org/drawingml/2006/main">
            <a:r>
              <a:t/>
            </a:r>
          </a:p>
          <a:p xmlns:a="http://schemas.openxmlformats.org/drawingml/2006/main">
            <a:r>
              <a:t>Source: Trust, Transparency, and AI workshop</a:t>
            </a:r>
          </a:p>
          <a:p xmlns:a="http://schemas.openxmlformats.org/drawingml/2006/main">
            <a:r>
              <a:t>https://mguhlin.github.io/nspa/2026/</a:t>
            </a:r>
          </a:p>
          <a:p xmlns:a="http://schemas.openxmlformats.org/drawingml/2006/main">
            <a:r>
              <a:t/>
            </a:r>
          </a:p>
          <a:p xmlns:a="http://schemas.openxmlformats.org/drawingml/2006/main">
            <a:r>
              <a:t>Source: Infographics and Frameworks — Miguel Guhlin</a:t>
            </a:r>
          </a:p>
          <a:p xmlns:a="http://schemas.openxmlformats.org/drawingml/2006/main">
            <a:r>
              <a:t>https://mguhlin.org/resources/infographics/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invite you to choose one small task to try after the session. You can use the reminder example, the file-list demonstration, or one statement and the scoring guide. Write down the result you want and what you will check before you send the request. After the answer appears, compare it with the original. Keep a note of anything you changed, including a false detail, a missing item, or an unclear instruction. Then try again with that improvement. You can revisit the self-check and choose one next step. There is no need to master every feature before practicing one useful task.</a:t>
            </a:r>
          </a:p>
          <a:p xmlns:a="http://schemas.openxmlformats.org/drawingml/2006/main">
            <a:r>
              <a:t/>
            </a:r>
          </a:p>
          <a:p xmlns:a="http://schemas.openxmlformats.org/drawingml/2006/main">
            <a:r>
              <a:t>Resource: https://mguhlin.github.io/nspa/2026/assessment.html</a:t>
            </a:r>
          </a:p>
          <a:p xmlns:a="http://schemas.openxmlformats.org/drawingml/2006/main">
            <a:r>
              <a:t/>
            </a:r>
          </a:p>
          <a:p xmlns:a="http://schemas.openxmlformats.org/drawingml/2006/main">
            <a:r>
              <a:t>Slide reference wording:</a:t>
            </a:r>
          </a:p>
          <a:p xmlns:a="http://schemas.openxmlformats.org/drawingml/2006/main">
            <a:r>
              <a:t>Choose one made-up note or practice file.</a:t>
            </a:r>
          </a:p>
          <a:p xmlns:a="http://schemas.openxmlformats.org/drawingml/2006/main">
            <a:r>
              <a:t>Write the result I want and what must stay accurate.</a:t>
            </a:r>
          </a:p>
          <a:p xmlns:a="http://schemas.openxmlformats.org/drawingml/2006/main">
            <a:r>
              <a:t>Check the answer against the original.</a:t>
            </a:r>
          </a:p>
          <a:p xmlns:a="http://schemas.openxmlformats.org/drawingml/2006/main">
            <a:r>
              <a:t>Keep the request and note what I had to fix.</a:t>
            </a:r>
          </a:p>
          <a:p xmlns:a="http://schemas.openxmlformats.org/drawingml/2006/main">
            <a:r>
              <a:t/>
            </a:r>
          </a:p>
          <a:p xmlns:a="http://schemas.openxmlformats.org/drawingml/2006/main">
            <a:r>
              <a:t>Source: Creating with Generative AI — Miguel Guhlin</a:t>
            </a:r>
          </a:p>
          <a:p xmlns:a="http://schemas.openxmlformats.org/drawingml/2006/main">
            <a:r>
              <a:t>https://drive.google.com/file/d/1xQLXylvdtJVG775282uvm2uYgJnO609z/view</a:t>
            </a:r>
          </a:p>
          <a:p xmlns:a="http://schemas.openxmlformats.org/drawingml/2006/main">
            <a:r>
              <a:t/>
            </a:r>
          </a:p>
          <a:p xmlns:a="http://schemas.openxmlformats.org/drawingml/2006/main">
            <a:r>
              <a:t>Source: ChatGPT prompting guide</a:t>
            </a:r>
          </a:p>
          <a:p xmlns:a="http://schemas.openxmlformats.org/drawingml/2006/main">
            <a:r>
              <a:t>https://learn.chatgpt.com/docs/prompting</a:t>
            </a:r>
          </a:p>
          <a:p xmlns:a="http://schemas.openxmlformats.org/drawingml/2006/main">
            <a:r>
              <a:t/>
            </a:r>
          </a:p>
          <a:p xmlns:a="http://schemas.openxmlformats.org/drawingml/2006/main">
            <a:r>
              <a:t>Source: Infographics and Frameworks — Miguel Guhlin</a:t>
            </a:r>
          </a:p>
          <a:p xmlns:a="http://schemas.openxmlformats.org/drawingml/2006/main">
            <a:r>
              <a:t>https://mguhlin.org/resources/infographics/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participant page contains the presentation PDF, a word guide, the three demonstrations, and the fictional practice packet. Each demonstration names the files it needs, supplies a copyable prompt, and includes a prepared example for comparison. The awareness self-check gives a small next step if you want more practice. The QR code leads to the broader NSPA resource post, and the direct practice link opens this collection. You can also explore The Prompt Library and The Skills Library when you want more examples. I encourage you to begin with one task whose answer you can check, then build from what you learn.</a:t>
            </a:r>
          </a:p>
          <a:p xmlns:a="http://schemas.openxmlformats.org/drawingml/2006/main">
            <a:r>
              <a:t/>
            </a:r>
          </a:p>
          <a:p xmlns:a="http://schemas.openxmlformats.org/drawingml/2006/main">
            <a:r>
              <a:t>Resource: https://mguhlin.github.io/nspa/2026/prompting/</a:t>
            </a:r>
          </a:p>
          <a:p xmlns:a="http://schemas.openxmlformats.org/drawingml/2006/main">
            <a:r>
              <a:t/>
            </a:r>
          </a:p>
          <a:p xmlns:a="http://schemas.openxmlformats.org/drawingml/2006/main">
            <a:r>
              <a:t>Source: The Prompt Library</a:t>
            </a:r>
          </a:p>
          <a:p xmlns:a="http://schemas.openxmlformats.org/drawingml/2006/main">
            <a:r>
              <a:t>https://mguhlin.github.io/creations/architect/index.html</a:t>
            </a:r>
          </a:p>
          <a:p xmlns:a="http://schemas.openxmlformats.org/drawingml/2006/main">
            <a:r>
              <a:t/>
            </a:r>
          </a:p>
          <a:p xmlns:a="http://schemas.openxmlformats.org/drawingml/2006/main">
            <a:r>
              <a:t>Source: The Skills Library</a:t>
            </a:r>
          </a:p>
          <a:p xmlns:a="http://schemas.openxmlformats.org/drawingml/2006/main">
            <a:r>
              <a:t>https://mguhlin.github.io/creations/architect/skills/</a:t>
            </a:r>
          </a:p>
          <a:p xmlns:a="http://schemas.openxmlformats.org/drawingml/2006/main">
            <a:r>
              <a:t/>
            </a:r>
          </a:p>
          <a:p xmlns:a="http://schemas.openxmlformats.org/drawingml/2006/main">
            <a:r>
              <a:t>Source: Trust, Transparency, and AI workshop</a:t>
            </a:r>
          </a:p>
          <a:p xmlns:a="http://schemas.openxmlformats.org/drawingml/2006/main">
            <a:r>
              <a:t>https://mguhlin.github.io/nspa/2026/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fb1f95175834d7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697a2095d304b7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63fd953e5d5404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6c2fe006a724eb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84fa2a4a84745c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044850bb92540a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BC536EB-EF93-4F95-836D-E057607A832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978CCAC-6F85-4354-AC16-2DC39E13F23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23DA19A-1FB2-4282-910F-75277CCC293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B937D6A-571F-4C32-88E1-55E05CD91A2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60C7804-F38D-4D9B-AFA3-228D0325050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C7E032B-F63E-43FE-AF99-3962F0949C0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854A15F-0B76-4FE5-8ECB-E29D2452EC2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7281603-A535-4C51-8007-9041E57B63F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D058142-786F-4953-929A-5561F2FFD2F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546BFED-A117-4A70-9C44-05ED70D4EFE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8ca6644a0464b3c" /><Relationship Type="http://schemas.openxmlformats.org/officeDocument/2006/relationships/slideLayout" Target="/ppt/slideLayouts/slideLayout1.xml" Id="R5cd34e77b6e64c4e" /><Relationship Type="http://schemas.openxmlformats.org/officeDocument/2006/relationships/slideLayout" Target="/ppt/slideLayouts/slideLayout2.xml" Id="R8c0885a6f1fa4346" /><Relationship Type="http://schemas.openxmlformats.org/officeDocument/2006/relationships/slideLayout" Target="/ppt/slideLayouts/slideLayout3.xml" Id="R7230d435238b4b83" /><Relationship Type="http://schemas.openxmlformats.org/officeDocument/2006/relationships/slideLayout" Target="/ppt/slideLayouts/slideLayout4.xml" Id="R2736e7252fb34e89" /><Relationship Type="http://schemas.openxmlformats.org/officeDocument/2006/relationships/slideLayout" Target="/ppt/slideLayouts/slideLayout5.xml" Id="Rebb80aa953424203" /><Relationship Type="http://schemas.openxmlformats.org/officeDocument/2006/relationships/slideLayout" Target="/ppt/slideLayouts/slideLayout6.xml" Id="R03467e836e0a42c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cd34e77b6e64c4e"/>
    <p:sldLayoutId xmlns:r="http://schemas.openxmlformats.org/officeDocument/2006/relationships" id="2147483650" r:id="R8c0885a6f1fa4346"/>
    <p:sldLayoutId xmlns:r="http://schemas.openxmlformats.org/officeDocument/2006/relationships" id="2147483651" r:id="R7230d435238b4b83"/>
    <p:sldLayoutId xmlns:r="http://schemas.openxmlformats.org/officeDocument/2006/relationships" id="2147483652" r:id="R2736e7252fb34e89"/>
    <p:sldLayoutId xmlns:r="http://schemas.openxmlformats.org/officeDocument/2006/relationships" id="2147483653" r:id="Rebb80aa953424203"/>
    <p:sldLayoutId xmlns:r="http://schemas.openxmlformats.org/officeDocument/2006/relationships" id="2147483654" r:id="R03467e836e0a42c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599d9ed17d142c5" /><Relationship Type="http://schemas.openxmlformats.org/officeDocument/2006/relationships/image" Target="/ppt/media/image.png" Id="R51544d93260647a8" /><Relationship Type="http://schemas.openxmlformats.org/officeDocument/2006/relationships/notesSlide" Target="/ppt/notesSlides/notesSlide1.xml" Id="R6cb253add30347e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b8968b7343f40d6" /><Relationship Type="http://schemas.openxmlformats.org/officeDocument/2006/relationships/image" Target="/ppt/media/image2.png" Id="Rf2865abe3eca4509" /><Relationship Type="http://schemas.openxmlformats.org/officeDocument/2006/relationships/image" Target="/ppt/media/image.bin" Id="R7cb82d98dd174619" /><Relationship Type="http://schemas.openxmlformats.org/officeDocument/2006/relationships/hyperlink" Target="https://mguhlin.github.io/nspa/2026/assessment.html" TargetMode="External" Id="R82743fb7b9cc4414" /><Relationship Type="http://schemas.openxmlformats.org/officeDocument/2006/relationships/notesSlide" Target="/ppt/notesSlides/notesSlide2.xml" Id="R7045199a17de406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6165df3b2524f7f" /><Relationship Type="http://schemas.openxmlformats.org/officeDocument/2006/relationships/image" Target="/ppt/media/image3.png" Id="R9024469384894e3d" /><Relationship Type="http://schemas.openxmlformats.org/officeDocument/2006/relationships/image" Target="/ppt/media/image2.bin" Id="R6eac68d878ff4a7f" /><Relationship Type="http://schemas.openxmlformats.org/officeDocument/2006/relationships/notesSlide" Target="/ppt/notesSlides/notesSlide3.xml" Id="Rd1fa3cecc4f6409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01623ca6ae6484a" /><Relationship Type="http://schemas.openxmlformats.org/officeDocument/2006/relationships/image" Target="/ppt/media/image4.png" Id="R9f5e7f2f7e8b441a" /><Relationship Type="http://schemas.openxmlformats.org/officeDocument/2006/relationships/notesSlide" Target="/ppt/notesSlides/notesSlide4.xml" Id="Re2059a05e6e8483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230df7aa6aa4e7f" /><Relationship Type="http://schemas.openxmlformats.org/officeDocument/2006/relationships/image" Target="/ppt/media/image5.png" Id="R320a4ad47c0c4e57" /><Relationship Type="http://schemas.openxmlformats.org/officeDocument/2006/relationships/image" Target="/ppt/media/image3.bin" Id="Rdfbf14495d45467d" /><Relationship Type="http://schemas.openxmlformats.org/officeDocument/2006/relationships/hyperlink" Target="https://mguhlin.github.io/nspa/2026/prompting/demos.html#first-prompt" TargetMode="External" Id="R0964cb93345c422d" /><Relationship Type="http://schemas.openxmlformats.org/officeDocument/2006/relationships/notesSlide" Target="/ppt/notesSlides/notesSlide5.xml" Id="R751c2a3b32b142d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d4af17b8c45441f" /><Relationship Type="http://schemas.openxmlformats.org/officeDocument/2006/relationships/image" Target="/ppt/media/image6.png" Id="R1a4616953743485b" /><Relationship Type="http://schemas.openxmlformats.org/officeDocument/2006/relationships/notesSlide" Target="/ppt/notesSlides/notesSlide6.xml" Id="Rea9bbc7e05754c0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5e249ae81a64f6e" /><Relationship Type="http://schemas.openxmlformats.org/officeDocument/2006/relationships/image" Target="/ppt/media/image7.png" Id="Raf7dffea465e4348" /><Relationship Type="http://schemas.openxmlformats.org/officeDocument/2006/relationships/image" Target="/ppt/media/image4.bin" Id="R4f27d321f2524fcf" /><Relationship Type="http://schemas.openxmlformats.org/officeDocument/2006/relationships/notesSlide" Target="/ppt/notesSlides/notesSlide7.xml" Id="Rea0fb32aabbf4f2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7cdecbb6fc9442c" /><Relationship Type="http://schemas.openxmlformats.org/officeDocument/2006/relationships/image" Target="/ppt/media/image8.png" Id="Rec62881156994c25" /><Relationship Type="http://schemas.openxmlformats.org/officeDocument/2006/relationships/image" Target="/ppt/media/image5.bin" Id="Rbeca440ae6c34dd4" /><Relationship Type="http://schemas.openxmlformats.org/officeDocument/2006/relationships/notesSlide" Target="/ppt/notesSlides/notesSlide8.xml" Id="R6cbba7a6db2f43c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06a7c70b155440d" /><Relationship Type="http://schemas.openxmlformats.org/officeDocument/2006/relationships/image" Target="/ppt/media/image9.png" Id="Rbed5689fa6d447df" /><Relationship Type="http://schemas.openxmlformats.org/officeDocument/2006/relationships/notesSlide" Target="/ppt/notesSlides/notesSlide9.xml" Id="R2ab9149d89c74be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cb0c19ef2304cbb" /><Relationship Type="http://schemas.openxmlformats.org/officeDocument/2006/relationships/image" Target="/ppt/media/image10.png" Id="Rb533359851ef4757" /><Relationship Type="http://schemas.openxmlformats.org/officeDocument/2006/relationships/image" Target="/ppt/media/image6.bin" Id="R9838013fdfa144a5" /><Relationship Type="http://schemas.openxmlformats.org/officeDocument/2006/relationships/notesSlide" Target="/ppt/notesSlides/notesSlide10.xml" Id="R2e995593c01744d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24bd5bf3fac415f" /><Relationship Type="http://schemas.openxmlformats.org/officeDocument/2006/relationships/image" Target="/ppt/media/image11.png" Id="R40b3f475711f4bb0" /><Relationship Type="http://schemas.openxmlformats.org/officeDocument/2006/relationships/image" Target="/ppt/media/image7.bin" Id="R32b6380ff5b340ab" /><Relationship Type="http://schemas.openxmlformats.org/officeDocument/2006/relationships/notesSlide" Target="/ppt/notesSlides/notesSlide11.xml" Id="Rc4f90c0e9e4f43d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88c87cb4cf2403d" /><Relationship Type="http://schemas.openxmlformats.org/officeDocument/2006/relationships/image" Target="/ppt/media/image12.png" Id="R2c428660699c46e2" /><Relationship Type="http://schemas.openxmlformats.org/officeDocument/2006/relationships/notesSlide" Target="/ppt/notesSlides/notesSlide12.xml" Id="R8cf42cc5fda4422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5d72257a5dc4a89" /><Relationship Type="http://schemas.openxmlformats.org/officeDocument/2006/relationships/image" Target="/ppt/media/image13.png" Id="Raad1d1a68b5b46eb" /><Relationship Type="http://schemas.openxmlformats.org/officeDocument/2006/relationships/image" Target="/ppt/media/image8.bin" Id="Ree103675ad1544f9" /><Relationship Type="http://schemas.openxmlformats.org/officeDocument/2006/relationships/notesSlide" Target="/ppt/notesSlides/notesSlide13.xml" Id="Rc3b6b5244275411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4696061c9aa4d39" /><Relationship Type="http://schemas.openxmlformats.org/officeDocument/2006/relationships/image" Target="/ppt/media/image14.png" Id="R808eb00709334baa" /><Relationship Type="http://schemas.openxmlformats.org/officeDocument/2006/relationships/image" Target="/ppt/media/image9.bin" Id="R1def131bccc948e9" /><Relationship Type="http://schemas.openxmlformats.org/officeDocument/2006/relationships/notesSlide" Target="/ppt/notesSlides/notesSlide14.xml" Id="Rc66b9b018e124f7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6a07e17e8cb40ee" /><Relationship Type="http://schemas.openxmlformats.org/officeDocument/2006/relationships/image" Target="/ppt/media/image15.png" Id="Rfa84af43df224db3" /><Relationship Type="http://schemas.openxmlformats.org/officeDocument/2006/relationships/image" Target="/ppt/media/image10.bin" Id="Rd44cf3aa2ed9422d" /><Relationship Type="http://schemas.openxmlformats.org/officeDocument/2006/relationships/notesSlide" Target="/ppt/notesSlides/notesSlide15.xml" Id="R793e82888cf14dd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7b654466f954486" /><Relationship Type="http://schemas.openxmlformats.org/officeDocument/2006/relationships/image" Target="/ppt/media/image16.png" Id="R7be90c248cd34353" /><Relationship Type="http://schemas.openxmlformats.org/officeDocument/2006/relationships/notesSlide" Target="/ppt/notesSlides/notesSlide16.xml" Id="R35702789a5af44a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83066917d694af4" /><Relationship Type="http://schemas.openxmlformats.org/officeDocument/2006/relationships/image" Target="/ppt/media/image17.png" Id="R064f5d7eca464a50" /><Relationship Type="http://schemas.openxmlformats.org/officeDocument/2006/relationships/hyperlink" Target="https://mguhlin.github.io/nspa/2026/prompting/demos.html" TargetMode="External" Id="Rfebfef59188043ad" /><Relationship Type="http://schemas.openxmlformats.org/officeDocument/2006/relationships/notesSlide" Target="/ppt/notesSlides/notesSlide17.xml" Id="Rf97d045aa3754f0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5987c723cafb421e" /><Relationship Type="http://schemas.openxmlformats.org/officeDocument/2006/relationships/image" Target="/ppt/media/image18.png" Id="Rbe462758f0a14ed2" /><Relationship Type="http://schemas.openxmlformats.org/officeDocument/2006/relationships/image" Target="/ppt/media/image11.bin" Id="R4657b468015249be" /><Relationship Type="http://schemas.openxmlformats.org/officeDocument/2006/relationships/hyperlink" Target="https://mguhlin.github.io/nspa/2026/prompting/demos.html#setup" TargetMode="External" Id="R598d5263eddb4813" /><Relationship Type="http://schemas.openxmlformats.org/officeDocument/2006/relationships/notesSlide" Target="/ppt/notesSlides/notesSlide18.xml" Id="Re5a03c18637647a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3566e97de164924" /><Relationship Type="http://schemas.openxmlformats.org/officeDocument/2006/relationships/image" Target="/ppt/media/image19.png" Id="Rb06cc0703b4a4382" /><Relationship Type="http://schemas.openxmlformats.org/officeDocument/2006/relationships/image" Target="/ppt/media/image12.bin" Id="R4e51ad0c2fc14cec" /><Relationship Type="http://schemas.openxmlformats.org/officeDocument/2006/relationships/hyperlink" Target="https://mguhlin.github.io/nspa/2026/prompting/demos.html#organize" TargetMode="External" Id="R4b99c83d8468492e" /><Relationship Type="http://schemas.openxmlformats.org/officeDocument/2006/relationships/notesSlide" Target="/ppt/notesSlides/notesSlide19.xml" Id="R8060de02d656452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00b285aea92f4a44" /><Relationship Type="http://schemas.openxmlformats.org/officeDocument/2006/relationships/image" Target="/ppt/media/image20.png" Id="Rb1925977026a4cea" /><Relationship Type="http://schemas.openxmlformats.org/officeDocument/2006/relationships/notesSlide" Target="/ppt/notesSlides/notesSlide20.xml" Id="R1cb8cc8444314b4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f6b02400336f4190" /><Relationship Type="http://schemas.openxmlformats.org/officeDocument/2006/relationships/image" Target="/ppt/media/image21.png" Id="Rf94e38b17b36478d" /><Relationship Type="http://schemas.openxmlformats.org/officeDocument/2006/relationships/image" Target="/ppt/media/image13.bin" Id="Re2150e5f43f44947" /><Relationship Type="http://schemas.openxmlformats.org/officeDocument/2006/relationships/hyperlink" Target="https://mguhlin.github.io/nspa/2026/prompting/demos.html#completeness" TargetMode="External" Id="Rb43537aaeb54403e" /><Relationship Type="http://schemas.openxmlformats.org/officeDocument/2006/relationships/notesSlide" Target="/ppt/notesSlides/notesSlide21.xml" Id="Red201e50f21f48d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a52e3c38a084e66" /><Relationship Type="http://schemas.openxmlformats.org/officeDocument/2006/relationships/image" Target="/ppt/media/image22.png" Id="Rf7d4a078aef24d2a" /><Relationship Type="http://schemas.openxmlformats.org/officeDocument/2006/relationships/notesSlide" Target="/ppt/notesSlides/notesSlide22.xml" Id="R2e521ba9469b487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ebf34591708d4743" /><Relationship Type="http://schemas.openxmlformats.org/officeDocument/2006/relationships/image" Target="/ppt/media/image23.png" Id="R2380682953dd4a4e" /><Relationship Type="http://schemas.openxmlformats.org/officeDocument/2006/relationships/notesSlide" Target="/ppt/notesSlides/notesSlide23.xml" Id="Re1fe664692684fa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c4d48a4363642c1" /><Relationship Type="http://schemas.openxmlformats.org/officeDocument/2006/relationships/image" Target="/ppt/media/image24.png" Id="R1d594b1e9a994013" /><Relationship Type="http://schemas.openxmlformats.org/officeDocument/2006/relationships/image" Target="/ppt/media/image14.bin" Id="R3304f0954bde46c3" /><Relationship Type="http://schemas.openxmlformats.org/officeDocument/2006/relationships/hyperlink" Target="https://mguhlin.github.io/nspa/2026/prompting/demos.html#rubric" TargetMode="External" Id="Rbba4e174018b4998" /><Relationship Type="http://schemas.openxmlformats.org/officeDocument/2006/relationships/notesSlide" Target="/ppt/notesSlides/notesSlide24.xml" Id="R8f32aec2e3dd4a4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bbd66a522f0a4c49" /><Relationship Type="http://schemas.openxmlformats.org/officeDocument/2006/relationships/image" Target="/ppt/media/image25.png" Id="R78d6603dbd644bb7" /><Relationship Type="http://schemas.openxmlformats.org/officeDocument/2006/relationships/notesSlide" Target="/ppt/notesSlides/notesSlide25.xml" Id="R669ba0f8ce5a484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e06adbbaecc545f2" /><Relationship Type="http://schemas.openxmlformats.org/officeDocument/2006/relationships/image" Target="/ppt/media/image26.png" Id="Ra48280bed945473a" /><Relationship Type="http://schemas.openxmlformats.org/officeDocument/2006/relationships/image" Target="/ppt/media/image15.bin" Id="R55041679615e40d5" /><Relationship Type="http://schemas.openxmlformats.org/officeDocument/2006/relationships/notesSlide" Target="/ppt/notesSlides/notesSlide26.xml" Id="R0d4cce1110414c0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1a18f3643ce949d5" /><Relationship Type="http://schemas.openxmlformats.org/officeDocument/2006/relationships/image" Target="/ppt/media/image27.png" Id="Rb9ecb13a382349f3" /><Relationship Type="http://schemas.openxmlformats.org/officeDocument/2006/relationships/image" Target="/ppt/media/image16.bin" Id="Rb29652ff387849be" /><Relationship Type="http://schemas.openxmlformats.org/officeDocument/2006/relationships/hyperlink" Target="https://mguhlin.github.io/nspa/2026/prompting/demos.html#setup" TargetMode="External" Id="Re04a5ef3000d4397" /><Relationship Type="http://schemas.openxmlformats.org/officeDocument/2006/relationships/notesSlide" Target="/ppt/notesSlides/notesSlide27.xml" Id="R99f3ae10265248e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01bdd3039a34a38" /><Relationship Type="http://schemas.openxmlformats.org/officeDocument/2006/relationships/image" Target="/ppt/media/image28.png" Id="Rcbd3bdf7a3df4b11" /><Relationship Type="http://schemas.openxmlformats.org/officeDocument/2006/relationships/hyperlink" Target="https://mguhlin.github.io/nspa/2026/prompting/demos.html#skill" TargetMode="External" Id="R7efb66d7b3844238" /><Relationship Type="http://schemas.openxmlformats.org/officeDocument/2006/relationships/notesSlide" Target="/ppt/notesSlides/notesSlide28.xml" Id="Rea4e54b9897e478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3955b4054f534603" /><Relationship Type="http://schemas.openxmlformats.org/officeDocument/2006/relationships/image" Target="/ppt/media/image29.png" Id="Rf83f2d53c9534224" /><Relationship Type="http://schemas.openxmlformats.org/officeDocument/2006/relationships/image" Target="/ppt/media/image17.bin" Id="Re1da52b62f9c4b83" /><Relationship Type="http://schemas.openxmlformats.org/officeDocument/2006/relationships/hyperlink" Target="https://mguhlin.github.io/nspa/2026/prompting/demos.html#policy" TargetMode="External" Id="R33ee21e369f945cc" /><Relationship Type="http://schemas.openxmlformats.org/officeDocument/2006/relationships/notesSlide" Target="/ppt/notesSlides/notesSlide29.xml" Id="R706fa40459794658"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44fe29ff211346a2" /><Relationship Type="http://schemas.openxmlformats.org/officeDocument/2006/relationships/image" Target="/ppt/media/image30.png" Id="Ra24c881285fc4bb1" /><Relationship Type="http://schemas.openxmlformats.org/officeDocument/2006/relationships/image" Target="/ppt/media/image18.bin" Id="R94be618836e94712" /><Relationship Type="http://schemas.openxmlformats.org/officeDocument/2006/relationships/hyperlink" Target="https://mguhlin.github.io/nspa/2026/assessment.html" TargetMode="External" Id="R1343615e215b41cb" /><Relationship Type="http://schemas.openxmlformats.org/officeDocument/2006/relationships/notesSlide" Target="/ppt/notesSlides/notesSlide30.xml" Id="R8b4971e6156d4cc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2fae18c7db254e4d" /><Relationship Type="http://schemas.openxmlformats.org/officeDocument/2006/relationships/image" Target="/ppt/media/image31.png" Id="Ra06592112bee4273" /><Relationship Type="http://schemas.openxmlformats.org/officeDocument/2006/relationships/image" Target="/ppt/media/image32.png" Id="R0fa640b85a7846b5" /><Relationship Type="http://schemas.openxmlformats.org/officeDocument/2006/relationships/hyperlink" Target="https://mguhlin.github.io/nspa/2026/prompting/" TargetMode="External" Id="R606ee0e13c624979" /><Relationship Type="http://schemas.openxmlformats.org/officeDocument/2006/relationships/notesSlide" Target="/ppt/notesSlides/notesSlide31.xml" Id="R21f86a8f56c94ffc"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365D5B9B-BECC-4680-87AF-905C1CC42926}"/>
              </a:ext>
            </a:extLst>
          </p:cNvPr>
          <p:cNvPicPr>
            <a:picLocks xmlns:a="http://schemas.openxmlformats.org/drawingml/2006/main" noChangeAspect="1"/>
          </p:cNvPicPr>
          <p:nvPr/>
        </p:nvPicPr>
        <p:blipFill>
          <a:blip xmlns:r="http://schemas.openxmlformats.org/officeDocument/2006/relationships" xmlns:a="http://schemas.openxmlformats.org/drawingml/2006/main" r:embed="R51544d93260647a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7058ED6E-8C5B-4A61-9509-5118CD07EAC4}"/>
              </a:ext>
            </a:extLst>
          </p:cNvPr>
          <p:cNvSpPr>
            <a:spLocks xmlns:a="http://schemas.openxmlformats.org/drawingml/2006/main" noGrp="1"/>
          </p:cNvSpPr>
          <p:nvPr/>
        </p:nvSpPr>
        <p:spPr>
          <a:xfrm xmlns:a="http://schemas.openxmlformats.org/drawingml/2006/main">
            <a:off x="609600" y="7143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950212DB-B806-4662-8C01-C03B51C74D63}"/>
              </a:ext>
            </a:extLst>
          </p:cNvPr>
          <p:cNvSpPr>
            <a:spLocks xmlns:a="http://schemas.openxmlformats.org/drawingml/2006/main" noGrp="1"/>
          </p:cNvSpPr>
          <p:nvPr/>
        </p:nvSpPr>
        <p:spPr>
          <a:xfrm xmlns:a="http://schemas.openxmlformats.org/drawingml/2006/main">
            <a:off x="609600" y="1381125"/>
            <a:ext cx="88582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1">
                <a:solidFill>
                  <a:srgbClr val="2E4F66"/>
                </a:solidFill>
                <a:latin typeface="Poppins"/>
                <a:ea typeface="Poppins"/>
                <a:cs typeface="Poppins"/>
              </a:defRPr>
            </a:defPPr>
            <a:lvl1pPr>
              <a:defRPr sz="4800" b="1">
                <a:solidFill>
                  <a:srgbClr val="2E4F66"/>
                </a:solidFill>
                <a:latin typeface="Poppins"/>
                <a:ea typeface="Poppins"/>
                <a:cs typeface="Poppins"/>
              </a:defRPr>
            </a:lvl1pPr>
            <a:lvl2pPr>
              <a:defRPr sz="4800" b="1">
                <a:solidFill>
                  <a:srgbClr val="2E4F66"/>
                </a:solidFill>
                <a:latin typeface="Poppins"/>
                <a:ea typeface="Poppins"/>
                <a:cs typeface="Poppins"/>
              </a:defRPr>
            </a:lvl2pPr>
            <a:lvl3pPr>
              <a:defRPr sz="4800" b="1">
                <a:solidFill>
                  <a:srgbClr val="2E4F66"/>
                </a:solidFill>
                <a:latin typeface="Poppins"/>
                <a:ea typeface="Poppins"/>
                <a:cs typeface="Poppins"/>
              </a:defRPr>
            </a:lvl3pPr>
            <a:lvl4pPr>
              <a:defRPr sz="4800" b="1">
                <a:solidFill>
                  <a:srgbClr val="2E4F66"/>
                </a:solidFill>
                <a:latin typeface="Poppins"/>
                <a:ea typeface="Poppins"/>
                <a:cs typeface="Poppins"/>
              </a:defRPr>
            </a:lvl4pPr>
            <a:lvl5pPr>
              <a:defRPr sz="4800" b="1">
                <a:solidFill>
                  <a:srgbClr val="2E4F66"/>
                </a:solidFill>
                <a:latin typeface="Poppins"/>
                <a:ea typeface="Poppins"/>
                <a:cs typeface="Poppins"/>
              </a:defRPr>
            </a:lvl5pPr>
            <a:lvl6pPr>
              <a:defRPr sz="4800" b="1">
                <a:solidFill>
                  <a:srgbClr val="2E4F66"/>
                </a:solidFill>
                <a:latin typeface="Poppins"/>
                <a:ea typeface="Poppins"/>
                <a:cs typeface="Poppins"/>
              </a:defRPr>
            </a:lvl6pPr>
            <a:lvl7pPr>
              <a:defRPr sz="4800" b="1">
                <a:solidFill>
                  <a:srgbClr val="2E4F66"/>
                </a:solidFill>
                <a:latin typeface="Poppins"/>
                <a:ea typeface="Poppins"/>
                <a:cs typeface="Poppins"/>
              </a:defRPr>
            </a:lvl7pPr>
            <a:lvl8pPr>
              <a:defRPr sz="4800" b="1">
                <a:solidFill>
                  <a:srgbClr val="2E4F66"/>
                </a:solidFill>
                <a:latin typeface="Poppins"/>
                <a:ea typeface="Poppins"/>
                <a:cs typeface="Poppins"/>
              </a:defRPr>
            </a:lvl8pPr>
            <a:lvl9pPr>
              <a:defRPr sz="4800" b="1">
                <a:solidFill>
                  <a:srgbClr val="2E4F66"/>
                </a:solidFill>
                <a:latin typeface="Poppins"/>
                <a:ea typeface="Poppins"/>
                <a:cs typeface="Poppins"/>
              </a:defRPr>
            </a:lvl9pPr>
          </a:lstStyle>
          <a:p xmlns:a="http://schemas.openxmlformats.org/drawingml/2006/main">
            <a:pPr>
              <a:defRPr sz="4800" b="1">
                <a:solidFill>
                  <a:srgbClr val="2E4F66"/>
                </a:solidFill>
                <a:latin typeface="Poppins"/>
                <a:ea typeface="Poppins"/>
                <a:cs typeface="Poppins"/>
              </a:defRPr>
            </a:pPr>
            <a:r>
              <a:rPr sz="4800" b="1">
                <a:solidFill>
                  <a:srgbClr val="2E4F66"/>
                </a:solidFill>
                <a:latin typeface="Poppins"/>
                <a:ea typeface="Poppins"/>
                <a:cs typeface="Poppins"/>
              </a:rPr>
              <a:t>AI Prompting for Scholarship Review</a:t>
            </a:r>
          </a:p>
        </p:txBody>
      </p:sp>
      <p:sp>
        <p:nvSpPr>
          <p:cNvPr id="4" name="Text">
            <a:extLst xmlns:a="http://schemas.openxmlformats.org/drawingml/2006/main">
              <a:ext uri="{FF2B5EF4-FFF2-40B4-BE49-F238E27FC236}">
                <a16:creationId xmlns:a16="http://schemas.microsoft.com/office/drawing/2014/main" id="{8E14D8EB-EEBC-4E0C-A21A-5959642D36EE}"/>
              </a:ext>
            </a:extLst>
          </p:cNvPr>
          <p:cNvSpPr>
            <a:spLocks xmlns:a="http://schemas.openxmlformats.org/drawingml/2006/main" noGrp="1"/>
          </p:cNvSpPr>
          <p:nvPr/>
        </p:nvSpPr>
        <p:spPr>
          <a:xfrm xmlns:a="http://schemas.openxmlformats.org/drawingml/2006/main">
            <a:off x="609600" y="3095625"/>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E4F66"/>
                </a:solidFill>
                <a:latin typeface="Poppins"/>
                <a:ea typeface="Poppins"/>
                <a:cs typeface="Poppins"/>
              </a:defRPr>
            </a:defPPr>
            <a:lvl1pPr>
              <a:defRPr sz="2025" b="0">
                <a:solidFill>
                  <a:srgbClr val="2E4F66"/>
                </a:solidFill>
                <a:latin typeface="Poppins"/>
                <a:ea typeface="Poppins"/>
                <a:cs typeface="Poppins"/>
              </a:defRPr>
            </a:lvl1pPr>
            <a:lvl2pPr>
              <a:defRPr sz="2025" b="0">
                <a:solidFill>
                  <a:srgbClr val="2E4F66"/>
                </a:solidFill>
                <a:latin typeface="Poppins"/>
                <a:ea typeface="Poppins"/>
                <a:cs typeface="Poppins"/>
              </a:defRPr>
            </a:lvl2pPr>
            <a:lvl3pPr>
              <a:defRPr sz="2025" b="0">
                <a:solidFill>
                  <a:srgbClr val="2E4F66"/>
                </a:solidFill>
                <a:latin typeface="Poppins"/>
                <a:ea typeface="Poppins"/>
                <a:cs typeface="Poppins"/>
              </a:defRPr>
            </a:lvl3pPr>
            <a:lvl4pPr>
              <a:defRPr sz="2025" b="0">
                <a:solidFill>
                  <a:srgbClr val="2E4F66"/>
                </a:solidFill>
                <a:latin typeface="Poppins"/>
                <a:ea typeface="Poppins"/>
                <a:cs typeface="Poppins"/>
              </a:defRPr>
            </a:lvl4pPr>
            <a:lvl5pPr>
              <a:defRPr sz="2025" b="0">
                <a:solidFill>
                  <a:srgbClr val="2E4F66"/>
                </a:solidFill>
                <a:latin typeface="Poppins"/>
                <a:ea typeface="Poppins"/>
                <a:cs typeface="Poppins"/>
              </a:defRPr>
            </a:lvl5pPr>
            <a:lvl6pPr>
              <a:defRPr sz="2025" b="0">
                <a:solidFill>
                  <a:srgbClr val="2E4F66"/>
                </a:solidFill>
                <a:latin typeface="Poppins"/>
                <a:ea typeface="Poppins"/>
                <a:cs typeface="Poppins"/>
              </a:defRPr>
            </a:lvl6pPr>
            <a:lvl7pPr>
              <a:defRPr sz="2025" b="0">
                <a:solidFill>
                  <a:srgbClr val="2E4F66"/>
                </a:solidFill>
                <a:latin typeface="Poppins"/>
                <a:ea typeface="Poppins"/>
                <a:cs typeface="Poppins"/>
              </a:defRPr>
            </a:lvl7pPr>
            <a:lvl8pPr>
              <a:defRPr sz="2025" b="0">
                <a:solidFill>
                  <a:srgbClr val="2E4F66"/>
                </a:solidFill>
                <a:latin typeface="Poppins"/>
                <a:ea typeface="Poppins"/>
                <a:cs typeface="Poppins"/>
              </a:defRPr>
            </a:lvl8pPr>
            <a:lvl9pPr>
              <a:defRPr sz="2025" b="0">
                <a:solidFill>
                  <a:srgbClr val="2E4F66"/>
                </a:solidFill>
                <a:latin typeface="Poppins"/>
                <a:ea typeface="Poppins"/>
                <a:cs typeface="Poppins"/>
              </a:defRPr>
            </a:lvl9pPr>
          </a:lstStyle>
          <a:p xmlns:a="http://schemas.openxmlformats.org/drawingml/2006/main">
            <a:pPr>
              <a:defRPr sz="2025" b="0">
                <a:solidFill>
                  <a:srgbClr val="2E4F66"/>
                </a:solidFill>
                <a:latin typeface="Poppins"/>
                <a:ea typeface="Poppins"/>
                <a:cs typeface="Poppins"/>
              </a:defRPr>
            </a:pPr>
            <a:r>
              <a:rPr sz="2025" b="0">
                <a:solidFill>
                  <a:srgbClr val="2E4F66"/>
                </a:solidFill>
                <a:latin typeface="Poppins"/>
                <a:ea typeface="Poppins"/>
                <a:cs typeface="Poppins"/>
              </a:rPr>
              <a:t>Everyday language, clear examples, and practice in ChatGPT</a:t>
            </a:r>
          </a:p>
        </p:txBody>
      </p:sp>
      <p:sp>
        <p:nvSpPr>
          <p:cNvPr id="5" name="Supporting text">
            <a:extLst xmlns:a="http://schemas.openxmlformats.org/drawingml/2006/main">
              <a:ext uri="{FF2B5EF4-FFF2-40B4-BE49-F238E27FC236}">
                <a16:creationId xmlns:a16="http://schemas.microsoft.com/office/drawing/2014/main" id="{EE58FBB3-1C44-4353-969C-4C89C1DFB340}"/>
              </a:ext>
            </a:extLst>
          </p:cNvPr>
          <p:cNvSpPr>
            <a:spLocks xmlns:a="http://schemas.openxmlformats.org/drawingml/2006/main" noGrp="1"/>
          </p:cNvSpPr>
          <p:nvPr/>
        </p:nvSpPr>
        <p:spPr>
          <a:xfrm xmlns:a="http://schemas.openxmlformats.org/drawingml/2006/main">
            <a:off x="609600" y="3714750"/>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E4F66"/>
                </a:solidFill>
                <a:latin typeface="Poppins"/>
                <a:ea typeface="Poppins"/>
                <a:cs typeface="Poppins"/>
              </a:defRPr>
            </a:defPPr>
            <a:lvl1pPr>
              <a:defRPr sz="2100" b="0">
                <a:solidFill>
                  <a:srgbClr val="2E4F66"/>
                </a:solidFill>
                <a:latin typeface="Poppins"/>
                <a:ea typeface="Poppins"/>
                <a:cs typeface="Poppins"/>
              </a:defRPr>
            </a:lvl1pPr>
            <a:lvl2pPr>
              <a:defRPr sz="2100" b="0">
                <a:solidFill>
                  <a:srgbClr val="2E4F66"/>
                </a:solidFill>
                <a:latin typeface="Poppins"/>
                <a:ea typeface="Poppins"/>
                <a:cs typeface="Poppins"/>
              </a:defRPr>
            </a:lvl2pPr>
            <a:lvl3pPr>
              <a:defRPr sz="2100" b="0">
                <a:solidFill>
                  <a:srgbClr val="2E4F66"/>
                </a:solidFill>
                <a:latin typeface="Poppins"/>
                <a:ea typeface="Poppins"/>
                <a:cs typeface="Poppins"/>
              </a:defRPr>
            </a:lvl3pPr>
            <a:lvl4pPr>
              <a:defRPr sz="2100" b="0">
                <a:solidFill>
                  <a:srgbClr val="2E4F66"/>
                </a:solidFill>
                <a:latin typeface="Poppins"/>
                <a:ea typeface="Poppins"/>
                <a:cs typeface="Poppins"/>
              </a:defRPr>
            </a:lvl4pPr>
            <a:lvl5pPr>
              <a:defRPr sz="2100" b="0">
                <a:solidFill>
                  <a:srgbClr val="2E4F66"/>
                </a:solidFill>
                <a:latin typeface="Poppins"/>
                <a:ea typeface="Poppins"/>
                <a:cs typeface="Poppins"/>
              </a:defRPr>
            </a:lvl5pPr>
            <a:lvl6pPr>
              <a:defRPr sz="2100" b="0">
                <a:solidFill>
                  <a:srgbClr val="2E4F66"/>
                </a:solidFill>
                <a:latin typeface="Poppins"/>
                <a:ea typeface="Poppins"/>
                <a:cs typeface="Poppins"/>
              </a:defRPr>
            </a:lvl6pPr>
            <a:lvl7pPr>
              <a:defRPr sz="2100" b="0">
                <a:solidFill>
                  <a:srgbClr val="2E4F66"/>
                </a:solidFill>
                <a:latin typeface="Poppins"/>
                <a:ea typeface="Poppins"/>
                <a:cs typeface="Poppins"/>
              </a:defRPr>
            </a:lvl7pPr>
            <a:lvl8pPr>
              <a:defRPr sz="2100" b="0">
                <a:solidFill>
                  <a:srgbClr val="2E4F66"/>
                </a:solidFill>
                <a:latin typeface="Poppins"/>
                <a:ea typeface="Poppins"/>
                <a:cs typeface="Poppins"/>
              </a:defRPr>
            </a:lvl8pPr>
            <a:lvl9pPr>
              <a:defRPr sz="2100" b="0">
                <a:solidFill>
                  <a:srgbClr val="2E4F66"/>
                </a:solidFill>
                <a:latin typeface="Poppins"/>
                <a:ea typeface="Poppins"/>
                <a:cs typeface="Poppins"/>
              </a:defRPr>
            </a:lvl9pPr>
          </a:lstStyle>
          <a:p xmlns:a="http://schemas.openxmlformats.org/drawingml/2006/main">
            <a:pPr>
              <a:defRPr sz="2100" b="0">
                <a:solidFill>
                  <a:srgbClr val="2E4F66"/>
                </a:solidFill>
                <a:latin typeface="Poppins"/>
                <a:ea typeface="Poppins"/>
                <a:cs typeface="Poppins"/>
              </a:defRPr>
            </a:pPr>
            <a:r>
              <a:rPr sz="2100" b="0">
                <a:solidFill>
                  <a:srgbClr val="2E4F66"/>
                </a:solidFill>
                <a:latin typeface="Poppins"/>
                <a:ea typeface="Poppins"/>
                <a:cs typeface="Poppins"/>
              </a:rPr>
              <a:t>Miguel Guhlin</a:t>
            </a:r>
          </a:p>
        </p:txBody>
      </p:sp>
      <p:sp>
        <p:nvSpPr>
          <p:cNvPr id="6" name="Supporting text">
            <a:extLst xmlns:a="http://schemas.openxmlformats.org/drawingml/2006/main">
              <a:ext uri="{FF2B5EF4-FFF2-40B4-BE49-F238E27FC236}">
                <a16:creationId xmlns:a16="http://schemas.microsoft.com/office/drawing/2014/main" id="{A4208CA1-F57D-4096-9202-4BFEDC16C82C}"/>
              </a:ext>
            </a:extLst>
          </p:cNvPr>
          <p:cNvSpPr>
            <a:spLocks xmlns:a="http://schemas.openxmlformats.org/drawingml/2006/main" noGrp="1"/>
          </p:cNvSpPr>
          <p:nvPr/>
        </p:nvSpPr>
        <p:spPr>
          <a:xfrm xmlns:a="http://schemas.openxmlformats.org/drawingml/2006/main">
            <a:off x="609600" y="4171950"/>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E4F66"/>
                </a:solidFill>
                <a:latin typeface="Poppins"/>
                <a:ea typeface="Poppins"/>
                <a:cs typeface="Poppins"/>
              </a:defRPr>
            </a:defPPr>
            <a:lvl1pPr>
              <a:defRPr sz="2100" b="0">
                <a:solidFill>
                  <a:srgbClr val="2E4F66"/>
                </a:solidFill>
                <a:latin typeface="Poppins"/>
                <a:ea typeface="Poppins"/>
                <a:cs typeface="Poppins"/>
              </a:defRPr>
            </a:lvl1pPr>
            <a:lvl2pPr>
              <a:defRPr sz="2100" b="0">
                <a:solidFill>
                  <a:srgbClr val="2E4F66"/>
                </a:solidFill>
                <a:latin typeface="Poppins"/>
                <a:ea typeface="Poppins"/>
                <a:cs typeface="Poppins"/>
              </a:defRPr>
            </a:lvl2pPr>
            <a:lvl3pPr>
              <a:defRPr sz="2100" b="0">
                <a:solidFill>
                  <a:srgbClr val="2E4F66"/>
                </a:solidFill>
                <a:latin typeface="Poppins"/>
                <a:ea typeface="Poppins"/>
                <a:cs typeface="Poppins"/>
              </a:defRPr>
            </a:lvl3pPr>
            <a:lvl4pPr>
              <a:defRPr sz="2100" b="0">
                <a:solidFill>
                  <a:srgbClr val="2E4F66"/>
                </a:solidFill>
                <a:latin typeface="Poppins"/>
                <a:ea typeface="Poppins"/>
                <a:cs typeface="Poppins"/>
              </a:defRPr>
            </a:lvl4pPr>
            <a:lvl5pPr>
              <a:defRPr sz="2100" b="0">
                <a:solidFill>
                  <a:srgbClr val="2E4F66"/>
                </a:solidFill>
                <a:latin typeface="Poppins"/>
                <a:ea typeface="Poppins"/>
                <a:cs typeface="Poppins"/>
              </a:defRPr>
            </a:lvl5pPr>
            <a:lvl6pPr>
              <a:defRPr sz="2100" b="0">
                <a:solidFill>
                  <a:srgbClr val="2E4F66"/>
                </a:solidFill>
                <a:latin typeface="Poppins"/>
                <a:ea typeface="Poppins"/>
                <a:cs typeface="Poppins"/>
              </a:defRPr>
            </a:lvl6pPr>
            <a:lvl7pPr>
              <a:defRPr sz="2100" b="0">
                <a:solidFill>
                  <a:srgbClr val="2E4F66"/>
                </a:solidFill>
                <a:latin typeface="Poppins"/>
                <a:ea typeface="Poppins"/>
                <a:cs typeface="Poppins"/>
              </a:defRPr>
            </a:lvl7pPr>
            <a:lvl8pPr>
              <a:defRPr sz="2100" b="0">
                <a:solidFill>
                  <a:srgbClr val="2E4F66"/>
                </a:solidFill>
                <a:latin typeface="Poppins"/>
                <a:ea typeface="Poppins"/>
                <a:cs typeface="Poppins"/>
              </a:defRPr>
            </a:lvl8pPr>
            <a:lvl9pPr>
              <a:defRPr sz="2100" b="0">
                <a:solidFill>
                  <a:srgbClr val="2E4F66"/>
                </a:solidFill>
                <a:latin typeface="Poppins"/>
                <a:ea typeface="Poppins"/>
                <a:cs typeface="Poppins"/>
              </a:defRPr>
            </a:lvl9pPr>
          </a:lstStyle>
          <a:p xmlns:a="http://schemas.openxmlformats.org/drawingml/2006/main">
            <a:pPr>
              <a:defRPr sz="2100" b="0">
                <a:solidFill>
                  <a:srgbClr val="2E4F66"/>
                </a:solidFill>
                <a:latin typeface="Poppins"/>
                <a:ea typeface="Poppins"/>
                <a:cs typeface="Poppins"/>
              </a:defRPr>
            </a:pPr>
            <a:r>
              <a:rPr sz="2100" b="0">
                <a:solidFill>
                  <a:srgbClr val="2E4F66"/>
                </a:solidFill>
                <a:latin typeface="Poppins"/>
                <a:ea typeface="Poppins"/>
                <a:cs typeface="Poppins"/>
              </a:rPr>
              <a:t>NSPA 2026 · October 21</a:t>
            </a:r>
          </a:p>
        </p:txBody>
      </p:sp>
      <p:sp>
        <p:nvSpPr>
          <p:cNvPr id="7" name="Footer">
            <a:extLst xmlns:a="http://schemas.openxmlformats.org/drawingml/2006/main">
              <a:ext uri="{FF2B5EF4-FFF2-40B4-BE49-F238E27FC236}">
                <a16:creationId xmlns:a16="http://schemas.microsoft.com/office/drawing/2014/main" id="{1266987E-90DC-4A09-9F82-96EC0B1B6109}"/>
              </a:ext>
            </a:extLst>
          </p:cNvPr>
          <p:cNvSpPr>
            <a:spLocks xmlns:a="http://schemas.openxmlformats.org/drawingml/2006/main" noGrp="1"/>
          </p:cNvSpPr>
          <p:nvPr/>
        </p:nvSpPr>
        <p:spPr>
          <a:xfrm xmlns:a="http://schemas.openxmlformats.org/drawingml/2006/main">
            <a:off x="8096250" y="6467475"/>
            <a:ext cx="285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FFFFFF"/>
                </a:solidFill>
                <a:latin typeface="Poppins"/>
                <a:ea typeface="Poppins"/>
                <a:cs typeface="Poppins"/>
              </a:defRPr>
            </a:defPPr>
            <a:lvl1pPr>
              <a:defRPr sz="1200" b="0">
                <a:solidFill>
                  <a:srgbClr val="FFFFFF"/>
                </a:solidFill>
                <a:latin typeface="Poppins"/>
                <a:ea typeface="Poppins"/>
                <a:cs typeface="Poppins"/>
              </a:defRPr>
            </a:lvl1pPr>
            <a:lvl2pPr>
              <a:defRPr sz="1200" b="0">
                <a:solidFill>
                  <a:srgbClr val="FFFFFF"/>
                </a:solidFill>
                <a:latin typeface="Poppins"/>
                <a:ea typeface="Poppins"/>
                <a:cs typeface="Poppins"/>
              </a:defRPr>
            </a:lvl2pPr>
            <a:lvl3pPr>
              <a:defRPr sz="1200" b="0">
                <a:solidFill>
                  <a:srgbClr val="FFFFFF"/>
                </a:solidFill>
                <a:latin typeface="Poppins"/>
                <a:ea typeface="Poppins"/>
                <a:cs typeface="Poppins"/>
              </a:defRPr>
            </a:lvl3pPr>
            <a:lvl4pPr>
              <a:defRPr sz="1200" b="0">
                <a:solidFill>
                  <a:srgbClr val="FFFFFF"/>
                </a:solidFill>
                <a:latin typeface="Poppins"/>
                <a:ea typeface="Poppins"/>
                <a:cs typeface="Poppins"/>
              </a:defRPr>
            </a:lvl4pPr>
            <a:lvl5pPr>
              <a:defRPr sz="1200" b="0">
                <a:solidFill>
                  <a:srgbClr val="FFFFFF"/>
                </a:solidFill>
                <a:latin typeface="Poppins"/>
                <a:ea typeface="Poppins"/>
                <a:cs typeface="Poppins"/>
              </a:defRPr>
            </a:lvl5pPr>
            <a:lvl6pPr>
              <a:defRPr sz="1200" b="0">
                <a:solidFill>
                  <a:srgbClr val="FFFFFF"/>
                </a:solidFill>
                <a:latin typeface="Poppins"/>
                <a:ea typeface="Poppins"/>
                <a:cs typeface="Poppins"/>
              </a:defRPr>
            </a:lvl6pPr>
            <a:lvl7pPr>
              <a:defRPr sz="1200" b="0">
                <a:solidFill>
                  <a:srgbClr val="FFFFFF"/>
                </a:solidFill>
                <a:latin typeface="Poppins"/>
                <a:ea typeface="Poppins"/>
                <a:cs typeface="Poppins"/>
              </a:defRPr>
            </a:lvl7pPr>
            <a:lvl8pPr>
              <a:defRPr sz="1200" b="0">
                <a:solidFill>
                  <a:srgbClr val="FFFFFF"/>
                </a:solidFill>
                <a:latin typeface="Poppins"/>
                <a:ea typeface="Poppins"/>
                <a:cs typeface="Poppins"/>
              </a:defRPr>
            </a:lvl8pPr>
            <a:lvl9pPr>
              <a:defRPr sz="1200" b="0">
                <a:solidFill>
                  <a:srgbClr val="FFFFFF"/>
                </a:solidFill>
                <a:latin typeface="Poppins"/>
                <a:ea typeface="Poppins"/>
                <a:cs typeface="Poppins"/>
              </a:defRPr>
            </a:lvl9pPr>
          </a:lstStyle>
          <a:p xmlns:a="http://schemas.openxmlformats.org/drawingml/2006/main">
            <a:pPr>
              <a:defRPr sz="1200" b="0">
                <a:solidFill>
                  <a:srgbClr val="FFFFFF"/>
                </a:solidFill>
                <a:latin typeface="Poppins"/>
                <a:ea typeface="Poppins"/>
                <a:cs typeface="Poppins"/>
              </a:defRPr>
            </a:pPr>
            <a:r>
              <a:rPr sz="1200" b="0">
                <a:solidFill>
                  <a:srgbClr val="FFFFFF"/>
                </a:solidFill>
                <a:latin typeface="Poppins"/>
                <a:ea typeface="Poppins"/>
                <a:cs typeface="Poppins"/>
              </a:rPr>
              <a:t>01 / 31</a:t>
            </a:r>
          </a:p>
        </p:txBody>
      </p:sp>
    </p:spTree>
    <p:extLst>
      <p:ext uri="{BB962C8B-B14F-4D97-AF65-F5344CB8AC3E}">
        <p14:creationId xmlns:p14="http://schemas.microsoft.com/office/powerpoint/2010/main" val="134255992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0F4F6C8A-98DB-4781-8858-BB0971CFCA03}"/>
              </a:ext>
            </a:extLst>
          </p:cNvPr>
          <p:cNvPicPr>
            <a:picLocks xmlns:a="http://schemas.openxmlformats.org/drawingml/2006/main" noChangeAspect="1"/>
          </p:cNvPicPr>
          <p:nvPr/>
        </p:nvPicPr>
        <p:blipFill>
          <a:blip xmlns:r="http://schemas.openxmlformats.org/officeDocument/2006/relationships" xmlns:a="http://schemas.openxmlformats.org/drawingml/2006/main" r:embed="Rf2865abe3eca450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F6F6D975-739E-4FC1-8E11-C1429B77AA25}"/>
              </a:ext>
            </a:extLst>
          </p:cNvPr>
          <p:cNvSpPr>
            <a:spLocks xmlns:a="http://schemas.openxmlformats.org/drawingml/2006/main" noGrp="1"/>
          </p:cNvSpPr>
          <p:nvPr/>
        </p:nvSpPr>
        <p:spPr>
          <a:xfrm xmlns:a="http://schemas.openxmlformats.org/drawingml/2006/main">
            <a:off x="609600" y="40957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6C4E32A0-8AC3-47E0-B704-474EA2EC951A}"/>
              </a:ext>
            </a:extLst>
          </p:cNvPr>
          <p:cNvSpPr>
            <a:spLocks xmlns:a="http://schemas.openxmlformats.org/drawingml/2006/main" noGrp="1"/>
          </p:cNvSpPr>
          <p:nvPr/>
        </p:nvSpPr>
        <p:spPr>
          <a:xfrm xmlns:a="http://schemas.openxmlformats.org/drawingml/2006/main">
            <a:off x="609600" y="8572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My starting point</a:t>
            </a:r>
          </a:p>
        </p:txBody>
      </p:sp>
      <p:sp>
        <p:nvSpPr>
          <p:cNvPr id="4" name="Text">
            <a:extLst xmlns:a="http://schemas.openxmlformats.org/drawingml/2006/main">
              <a:ext uri="{FF2B5EF4-FFF2-40B4-BE49-F238E27FC236}">
                <a16:creationId xmlns:a16="http://schemas.microsoft.com/office/drawing/2014/main" id="{61891DBF-EC18-4F0C-9EFD-DD86F21086F9}"/>
              </a:ext>
            </a:extLst>
          </p:cNvPr>
          <p:cNvSpPr>
            <a:spLocks xmlns:a="http://schemas.openxmlformats.org/drawingml/2006/main" noGrp="1"/>
          </p:cNvSpPr>
          <p:nvPr/>
        </p:nvSpPr>
        <p:spPr>
          <a:xfrm xmlns:a="http://schemas.openxmlformats.org/drawingml/2006/main">
            <a:off x="609600" y="15811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E4F66"/>
                </a:solidFill>
                <a:latin typeface="Poppins"/>
                <a:ea typeface="Poppins"/>
                <a:cs typeface="Poppins"/>
              </a:defRPr>
            </a:defPPr>
            <a:lvl1pPr>
              <a:defRPr sz="1875" b="0">
                <a:solidFill>
                  <a:srgbClr val="2E4F66"/>
                </a:solidFill>
                <a:latin typeface="Poppins"/>
                <a:ea typeface="Poppins"/>
                <a:cs typeface="Poppins"/>
              </a:defRPr>
            </a:lvl1pPr>
            <a:lvl2pPr>
              <a:defRPr sz="1875" b="0">
                <a:solidFill>
                  <a:srgbClr val="2E4F66"/>
                </a:solidFill>
                <a:latin typeface="Poppins"/>
                <a:ea typeface="Poppins"/>
                <a:cs typeface="Poppins"/>
              </a:defRPr>
            </a:lvl2pPr>
            <a:lvl3pPr>
              <a:defRPr sz="1875" b="0">
                <a:solidFill>
                  <a:srgbClr val="2E4F66"/>
                </a:solidFill>
                <a:latin typeface="Poppins"/>
                <a:ea typeface="Poppins"/>
                <a:cs typeface="Poppins"/>
              </a:defRPr>
            </a:lvl3pPr>
            <a:lvl4pPr>
              <a:defRPr sz="1875" b="0">
                <a:solidFill>
                  <a:srgbClr val="2E4F66"/>
                </a:solidFill>
                <a:latin typeface="Poppins"/>
                <a:ea typeface="Poppins"/>
                <a:cs typeface="Poppins"/>
              </a:defRPr>
            </a:lvl4pPr>
            <a:lvl5pPr>
              <a:defRPr sz="1875" b="0">
                <a:solidFill>
                  <a:srgbClr val="2E4F66"/>
                </a:solidFill>
                <a:latin typeface="Poppins"/>
                <a:ea typeface="Poppins"/>
                <a:cs typeface="Poppins"/>
              </a:defRPr>
            </a:lvl5pPr>
            <a:lvl6pPr>
              <a:defRPr sz="1875" b="0">
                <a:solidFill>
                  <a:srgbClr val="2E4F66"/>
                </a:solidFill>
                <a:latin typeface="Poppins"/>
                <a:ea typeface="Poppins"/>
                <a:cs typeface="Poppins"/>
              </a:defRPr>
            </a:lvl6pPr>
            <a:lvl7pPr>
              <a:defRPr sz="1875" b="0">
                <a:solidFill>
                  <a:srgbClr val="2E4F66"/>
                </a:solidFill>
                <a:latin typeface="Poppins"/>
                <a:ea typeface="Poppins"/>
                <a:cs typeface="Poppins"/>
              </a:defRPr>
            </a:lvl7pPr>
            <a:lvl8pPr>
              <a:defRPr sz="1875" b="0">
                <a:solidFill>
                  <a:srgbClr val="2E4F66"/>
                </a:solidFill>
                <a:latin typeface="Poppins"/>
                <a:ea typeface="Poppins"/>
                <a:cs typeface="Poppins"/>
              </a:defRPr>
            </a:lvl8pPr>
            <a:lvl9pPr>
              <a:defRPr sz="1875" b="0">
                <a:solidFill>
                  <a:srgbClr val="2E4F66"/>
                </a:solidFill>
                <a:latin typeface="Poppins"/>
                <a:ea typeface="Poppins"/>
                <a:cs typeface="Poppins"/>
              </a:defRPr>
            </a:lvl9pPr>
          </a:lstStyle>
          <a:p xmlns:a="http://schemas.openxmlformats.org/drawingml/2006/main">
            <a:pPr>
              <a:defRPr sz="1875" b="0">
                <a:solidFill>
                  <a:srgbClr val="2E4F66"/>
                </a:solidFill>
                <a:latin typeface="Poppins"/>
                <a:ea typeface="Poppins"/>
                <a:cs typeface="Poppins"/>
              </a:defRPr>
            </a:pPr>
            <a:r>
              <a:rPr sz="1875" b="0">
                <a:solidFill>
                  <a:srgbClr val="2E4F66"/>
                </a:solidFill>
                <a:latin typeface="Poppins"/>
                <a:ea typeface="Poppins"/>
                <a:cs typeface="Poppins"/>
              </a:rPr>
              <a:t>Eight short situations, a score, and a graph</a:t>
            </a:r>
          </a:p>
        </p:txBody>
      </p:sp>
      <p:pic>
        <p:nvPicPr>
          <p:cNvPr id="5" name="">
            <a:extLst xmlns:a="http://schemas.openxmlformats.org/drawingml/2006/main">
              <a:ext uri="{FF2B5EF4-FFF2-40B4-BE49-F238E27FC236}">
                <a16:creationId xmlns:a16="http://schemas.microsoft.com/office/drawing/2014/main" id="{CBBD6945-DE62-4A84-B023-C2B725B28F09}"/>
              </a:ext>
            </a:extLst>
          </p:cNvPr>
          <p:cNvPicPr>
            <a:picLocks xmlns:a="http://schemas.openxmlformats.org/drawingml/2006/main" noChangeAspect="1"/>
          </p:cNvPicPr>
          <p:nvPr/>
        </p:nvPicPr>
        <p:blipFill>
          <a:blip xmlns:r="http://schemas.openxmlformats.org/officeDocument/2006/relationships" xmlns:a="http://schemas.openxmlformats.org/drawingml/2006/main" r:embed="R7cb82d98dd174619"/>
          <a:stretch xmlns:a="http://schemas.openxmlformats.org/drawingml/2006/main"/>
        </p:blipFill>
        <p:spPr>
          <a:xfrm xmlns:a="http://schemas.openxmlformats.org/drawingml/2006/main">
            <a:off x="1809750" y="2047875"/>
            <a:ext cx="8572500" cy="2857500"/>
          </a:xfrm>
          <a:prstGeom xmlns:a="http://schemas.openxmlformats.org/drawingml/2006/main" prst="rect">
            <a:avLst/>
          </a:prstGeom>
        </p:spPr>
      </p:pic>
      <p:sp>
        <p:nvSpPr>
          <p:cNvPr id="6" name="Infographic heading">
            <a:extLst xmlns:a="http://schemas.openxmlformats.org/drawingml/2006/main">
              <a:ext uri="{FF2B5EF4-FFF2-40B4-BE49-F238E27FC236}">
                <a16:creationId xmlns:a16="http://schemas.microsoft.com/office/drawing/2014/main" id="{A4BC6FBB-DC6D-4F2A-8EEC-AEB4DD40AA5A}"/>
              </a:ext>
            </a:extLst>
          </p:cNvPr>
          <p:cNvSpPr>
            <a:spLocks xmlns:a="http://schemas.openxmlformats.org/drawingml/2006/main" noGrp="1"/>
          </p:cNvSpPr>
          <p:nvPr/>
        </p:nvSpPr>
        <p:spPr>
          <a:xfrm xmlns:a="http://schemas.openxmlformats.org/drawingml/2006/main">
            <a:off x="7620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Choose an answer</a:t>
            </a:r>
          </a:p>
        </p:txBody>
      </p:sp>
      <p:sp>
        <p:nvSpPr>
          <p:cNvPr id="7" name="Infographic explanation">
            <a:extLst xmlns:a="http://schemas.openxmlformats.org/drawingml/2006/main">
              <a:ext uri="{FF2B5EF4-FFF2-40B4-BE49-F238E27FC236}">
                <a16:creationId xmlns:a16="http://schemas.microsoft.com/office/drawing/2014/main" id="{F22139C1-B59D-4CA4-9B7A-8B92C0979BAF}"/>
              </a:ext>
            </a:extLst>
          </p:cNvPr>
          <p:cNvSpPr>
            <a:spLocks xmlns:a="http://schemas.openxmlformats.org/drawingml/2006/main" noGrp="1"/>
          </p:cNvSpPr>
          <p:nvPr/>
        </p:nvSpPr>
        <p:spPr>
          <a:xfrm xmlns:a="http://schemas.openxmlformats.org/drawingml/2006/main">
            <a:off x="7620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Eight everyday situations about using AI carefully.</a:t>
            </a:r>
          </a:p>
        </p:txBody>
      </p:sp>
      <p:sp>
        <p:nvSpPr>
          <p:cNvPr id="8" name="Infographic heading">
            <a:extLst xmlns:a="http://schemas.openxmlformats.org/drawingml/2006/main">
              <a:ext uri="{FF2B5EF4-FFF2-40B4-BE49-F238E27FC236}">
                <a16:creationId xmlns:a16="http://schemas.microsoft.com/office/drawing/2014/main" id="{2B29B705-6803-462A-AF5D-D0D0DCA70C84}"/>
              </a:ext>
            </a:extLst>
          </p:cNvPr>
          <p:cNvSpPr>
            <a:spLocks xmlns:a="http://schemas.openxmlformats.org/drawingml/2006/main" noGrp="1"/>
          </p:cNvSpPr>
          <p:nvPr/>
        </p:nvSpPr>
        <p:spPr>
          <a:xfrm xmlns:a="http://schemas.openxmlformats.org/drawingml/2006/main">
            <a:off x="43942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Score and graph</a:t>
            </a:r>
          </a:p>
        </p:txBody>
      </p:sp>
      <p:sp>
        <p:nvSpPr>
          <p:cNvPr id="9" name="Infographic explanation">
            <a:extLst xmlns:a="http://schemas.openxmlformats.org/drawingml/2006/main">
              <a:ext uri="{FF2B5EF4-FFF2-40B4-BE49-F238E27FC236}">
                <a16:creationId xmlns:a16="http://schemas.microsoft.com/office/drawing/2014/main" id="{78880F59-F9BC-4A25-89AC-99C8960569EB}"/>
              </a:ext>
            </a:extLst>
          </p:cNvPr>
          <p:cNvSpPr>
            <a:spLocks xmlns:a="http://schemas.openxmlformats.org/drawingml/2006/main" noGrp="1"/>
          </p:cNvSpPr>
          <p:nvPr/>
        </p:nvSpPr>
        <p:spPr>
          <a:xfrm xmlns:a="http://schemas.openxmlformats.org/drawingml/2006/main">
            <a:off x="43942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Find out which topics need more attention.</a:t>
            </a:r>
          </a:p>
        </p:txBody>
      </p:sp>
      <p:sp>
        <p:nvSpPr>
          <p:cNvPr id="10" name="Infographic heading">
            <a:extLst xmlns:a="http://schemas.openxmlformats.org/drawingml/2006/main">
              <a:ext uri="{FF2B5EF4-FFF2-40B4-BE49-F238E27FC236}">
                <a16:creationId xmlns:a16="http://schemas.microsoft.com/office/drawing/2014/main" id="{AF71F44D-CE82-4452-9E5B-50F734BA003A}"/>
              </a:ext>
            </a:extLst>
          </p:cNvPr>
          <p:cNvSpPr>
            <a:spLocks xmlns:a="http://schemas.openxmlformats.org/drawingml/2006/main" noGrp="1"/>
          </p:cNvSpPr>
          <p:nvPr/>
        </p:nvSpPr>
        <p:spPr>
          <a:xfrm xmlns:a="http://schemas.openxmlformats.org/drawingml/2006/main">
            <a:off x="80264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Read your suggestions</a:t>
            </a:r>
          </a:p>
        </p:txBody>
      </p:sp>
      <p:sp>
        <p:nvSpPr>
          <p:cNvPr id="11" name="Infographic explanation">
            <a:extLst xmlns:a="http://schemas.openxmlformats.org/drawingml/2006/main">
              <a:ext uri="{FF2B5EF4-FFF2-40B4-BE49-F238E27FC236}">
                <a16:creationId xmlns:a16="http://schemas.microsoft.com/office/drawing/2014/main" id="{13053B7F-534F-4CB4-B7DB-63CE276200A9}"/>
              </a:ext>
            </a:extLst>
          </p:cNvPr>
          <p:cNvSpPr>
            <a:spLocks xmlns:a="http://schemas.openxmlformats.org/drawingml/2006/main" noGrp="1"/>
          </p:cNvSpPr>
          <p:nvPr/>
        </p:nvSpPr>
        <p:spPr>
          <a:xfrm xmlns:a="http://schemas.openxmlformats.org/drawingml/2006/main">
            <a:off x="80264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Get clear ways to improve based on your answers.</a:t>
            </a:r>
          </a:p>
        </p:txBody>
      </p:sp>
      <p:sp>
        <p:nvSpPr>
          <p:cNvPr id="12" name="Resource link">
            <a:extLst xmlns:a="http://schemas.openxmlformats.org/drawingml/2006/main">
              <a:ext uri="{FF2B5EF4-FFF2-40B4-BE49-F238E27FC236}">
                <a16:creationId xmlns:a16="http://schemas.microsoft.com/office/drawing/2014/main" id="{DE847CDB-1FC0-44CD-BC4F-779DDBB5254C}"/>
              </a:ext>
            </a:extLst>
          </p:cNvPr>
          <p:cNvSpPr>
            <a:spLocks xmlns:a="http://schemas.openxmlformats.org/drawingml/2006/main" noGrp="1"/>
          </p:cNvSpPr>
          <p:nvPr/>
        </p:nvSpPr>
        <p:spPr>
          <a:xfrm xmlns:a="http://schemas.openxmlformats.org/drawingml/2006/main">
            <a:off x="8001000" y="409575"/>
            <a:ext cx="3581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u="sng">
                <a:solidFill>
                  <a:srgbClr val="007681"/>
                </a:solidFill>
                <a:latin typeface="Poppins"/>
                <a:ea typeface="Poppins"/>
                <a:cs typeface="Poppins"/>
                <a:hlinkClick xmlns:r="http://schemas.openxmlformats.org/officeDocument/2006/relationships" r:id="R82743fb7b9cc4414"/>
              </a:rPr>
              <a:t>Open awareness self-check</a:t>
            </a:r>
          </a:p>
        </p:txBody>
      </p:sp>
      <p:sp>
        <p:nvSpPr>
          <p:cNvPr id="13" name="Footer">
            <a:extLst xmlns:a="http://schemas.openxmlformats.org/drawingml/2006/main">
              <a:ext uri="{FF2B5EF4-FFF2-40B4-BE49-F238E27FC236}">
                <a16:creationId xmlns:a16="http://schemas.microsoft.com/office/drawing/2014/main" id="{FDA0D5F3-597C-4762-B6D1-97C9D7D75EF9}"/>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02 / 31</a:t>
            </a:r>
          </a:p>
        </p:txBody>
      </p:sp>
    </p:spTree>
    <p:extLst>
      <p:ext uri="{BB962C8B-B14F-4D97-AF65-F5344CB8AC3E}">
        <p14:creationId xmlns:p14="http://schemas.microsoft.com/office/powerpoint/2010/main" val="1113416618"/>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437E321A-B3B8-4767-88CA-FB31CC329561}"/>
              </a:ext>
            </a:extLst>
          </p:cNvPr>
          <p:cNvPicPr>
            <a:picLocks xmlns:a="http://schemas.openxmlformats.org/drawingml/2006/main" noChangeAspect="1"/>
          </p:cNvPicPr>
          <p:nvPr/>
        </p:nvPicPr>
        <p:blipFill>
          <a:blip xmlns:r="http://schemas.openxmlformats.org/officeDocument/2006/relationships" xmlns:a="http://schemas.openxmlformats.org/drawingml/2006/main" r:embed="R9024469384894e3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F8ED4FD4-7850-4398-99E3-2A77612F75FB}"/>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874C40E2-CAB7-4BEF-8A0F-624D3EB21159}"/>
              </a:ext>
            </a:extLst>
          </p:cNvPr>
          <p:cNvSpPr>
            <a:spLocks xmlns:a="http://schemas.openxmlformats.org/drawingml/2006/main" noGrp="1"/>
          </p:cNvSpPr>
          <p:nvPr/>
        </p:nvSpPr>
        <p:spPr>
          <a:xfrm xmlns:a="http://schemas.openxmlformats.org/drawingml/2006/main">
            <a:off x="609600" y="8572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What generative AI does</a:t>
            </a:r>
          </a:p>
        </p:txBody>
      </p:sp>
      <p:sp>
        <p:nvSpPr>
          <p:cNvPr id="4" name="Text">
            <a:extLst xmlns:a="http://schemas.openxmlformats.org/drawingml/2006/main">
              <a:ext uri="{FF2B5EF4-FFF2-40B4-BE49-F238E27FC236}">
                <a16:creationId xmlns:a16="http://schemas.microsoft.com/office/drawing/2014/main" id="{C503785B-F4B7-4C2E-9F41-97C6A7CCA617}"/>
              </a:ext>
            </a:extLst>
          </p:cNvPr>
          <p:cNvSpPr>
            <a:spLocks xmlns:a="http://schemas.openxmlformats.org/drawingml/2006/main" noGrp="1"/>
          </p:cNvSpPr>
          <p:nvPr/>
        </p:nvSpPr>
        <p:spPr>
          <a:xfrm xmlns:a="http://schemas.openxmlformats.org/drawingml/2006/main">
            <a:off x="609600" y="15811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E4F66"/>
                </a:solidFill>
                <a:latin typeface="Poppins"/>
                <a:ea typeface="Poppins"/>
                <a:cs typeface="Poppins"/>
              </a:defRPr>
            </a:defPPr>
            <a:lvl1pPr>
              <a:defRPr sz="1875" b="0">
                <a:solidFill>
                  <a:srgbClr val="2E4F66"/>
                </a:solidFill>
                <a:latin typeface="Poppins"/>
                <a:ea typeface="Poppins"/>
                <a:cs typeface="Poppins"/>
              </a:defRPr>
            </a:lvl1pPr>
            <a:lvl2pPr>
              <a:defRPr sz="1875" b="0">
                <a:solidFill>
                  <a:srgbClr val="2E4F66"/>
                </a:solidFill>
                <a:latin typeface="Poppins"/>
                <a:ea typeface="Poppins"/>
                <a:cs typeface="Poppins"/>
              </a:defRPr>
            </a:lvl2pPr>
            <a:lvl3pPr>
              <a:defRPr sz="1875" b="0">
                <a:solidFill>
                  <a:srgbClr val="2E4F66"/>
                </a:solidFill>
                <a:latin typeface="Poppins"/>
                <a:ea typeface="Poppins"/>
                <a:cs typeface="Poppins"/>
              </a:defRPr>
            </a:lvl3pPr>
            <a:lvl4pPr>
              <a:defRPr sz="1875" b="0">
                <a:solidFill>
                  <a:srgbClr val="2E4F66"/>
                </a:solidFill>
                <a:latin typeface="Poppins"/>
                <a:ea typeface="Poppins"/>
                <a:cs typeface="Poppins"/>
              </a:defRPr>
            </a:lvl4pPr>
            <a:lvl5pPr>
              <a:defRPr sz="1875" b="0">
                <a:solidFill>
                  <a:srgbClr val="2E4F66"/>
                </a:solidFill>
                <a:latin typeface="Poppins"/>
                <a:ea typeface="Poppins"/>
                <a:cs typeface="Poppins"/>
              </a:defRPr>
            </a:lvl5pPr>
            <a:lvl6pPr>
              <a:defRPr sz="1875" b="0">
                <a:solidFill>
                  <a:srgbClr val="2E4F66"/>
                </a:solidFill>
                <a:latin typeface="Poppins"/>
                <a:ea typeface="Poppins"/>
                <a:cs typeface="Poppins"/>
              </a:defRPr>
            </a:lvl6pPr>
            <a:lvl7pPr>
              <a:defRPr sz="1875" b="0">
                <a:solidFill>
                  <a:srgbClr val="2E4F66"/>
                </a:solidFill>
                <a:latin typeface="Poppins"/>
                <a:ea typeface="Poppins"/>
                <a:cs typeface="Poppins"/>
              </a:defRPr>
            </a:lvl7pPr>
            <a:lvl8pPr>
              <a:defRPr sz="1875" b="0">
                <a:solidFill>
                  <a:srgbClr val="2E4F66"/>
                </a:solidFill>
                <a:latin typeface="Poppins"/>
                <a:ea typeface="Poppins"/>
                <a:cs typeface="Poppins"/>
              </a:defRPr>
            </a:lvl8pPr>
            <a:lvl9pPr>
              <a:defRPr sz="1875" b="0">
                <a:solidFill>
                  <a:srgbClr val="2E4F66"/>
                </a:solidFill>
                <a:latin typeface="Poppins"/>
                <a:ea typeface="Poppins"/>
                <a:cs typeface="Poppins"/>
              </a:defRPr>
            </a:lvl9pPr>
          </a:lstStyle>
          <a:p xmlns:a="http://schemas.openxmlformats.org/drawingml/2006/main">
            <a:pPr>
              <a:defRPr sz="1875" b="0">
                <a:solidFill>
                  <a:srgbClr val="2E4F66"/>
                </a:solidFill>
                <a:latin typeface="Poppins"/>
                <a:ea typeface="Poppins"/>
                <a:cs typeface="Poppins"/>
              </a:defRPr>
            </a:pPr>
            <a:r>
              <a:rPr sz="1875" b="0">
                <a:solidFill>
                  <a:srgbClr val="2E4F66"/>
                </a:solidFill>
                <a:latin typeface="Poppins"/>
                <a:ea typeface="Poppins"/>
                <a:cs typeface="Poppins"/>
              </a:rPr>
              <a:t>It creates a draft from your request and the information available to it.</a:t>
            </a:r>
          </a:p>
        </p:txBody>
      </p:sp>
      <p:pic>
        <p:nvPicPr>
          <p:cNvPr id="5" name="">
            <a:extLst xmlns:a="http://schemas.openxmlformats.org/drawingml/2006/main">
              <a:ext uri="{FF2B5EF4-FFF2-40B4-BE49-F238E27FC236}">
                <a16:creationId xmlns:a16="http://schemas.microsoft.com/office/drawing/2014/main" id="{399AB155-9CF3-4A6F-A04C-0507318440D8}"/>
              </a:ext>
            </a:extLst>
          </p:cNvPr>
          <p:cNvPicPr>
            <a:picLocks xmlns:a="http://schemas.openxmlformats.org/drawingml/2006/main" noChangeAspect="1"/>
          </p:cNvPicPr>
          <p:nvPr/>
        </p:nvPicPr>
        <p:blipFill>
          <a:blip xmlns:r="http://schemas.openxmlformats.org/officeDocument/2006/relationships" xmlns:a="http://schemas.openxmlformats.org/drawingml/2006/main" r:embed="R6eac68d878ff4a7f"/>
          <a:stretch xmlns:a="http://schemas.openxmlformats.org/drawingml/2006/main"/>
        </p:blipFill>
        <p:spPr>
          <a:xfrm xmlns:a="http://schemas.openxmlformats.org/drawingml/2006/main">
            <a:off x="2524125" y="2047875"/>
            <a:ext cx="7143750" cy="2857500"/>
          </a:xfrm>
          <a:prstGeom xmlns:a="http://schemas.openxmlformats.org/drawingml/2006/main" prst="rect">
            <a:avLst/>
          </a:prstGeom>
        </p:spPr>
      </p:pic>
      <p:sp>
        <p:nvSpPr>
          <p:cNvPr id="6" name="Infographic heading">
            <a:extLst xmlns:a="http://schemas.openxmlformats.org/drawingml/2006/main">
              <a:ext uri="{FF2B5EF4-FFF2-40B4-BE49-F238E27FC236}">
                <a16:creationId xmlns:a16="http://schemas.microsoft.com/office/drawing/2014/main" id="{F48FC590-455E-4D20-A1FB-1ED5839245D1}"/>
              </a:ext>
            </a:extLst>
          </p:cNvPr>
          <p:cNvSpPr>
            <a:spLocks xmlns:a="http://schemas.openxmlformats.org/drawingml/2006/main" noGrp="1"/>
          </p:cNvSpPr>
          <p:nvPr/>
        </p:nvSpPr>
        <p:spPr>
          <a:xfrm xmlns:a="http://schemas.openxmlformats.org/drawingml/2006/main">
            <a:off x="7620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Your request</a:t>
            </a:r>
          </a:p>
        </p:txBody>
      </p:sp>
      <p:sp>
        <p:nvSpPr>
          <p:cNvPr id="7" name="Infographic explanation">
            <a:extLst xmlns:a="http://schemas.openxmlformats.org/drawingml/2006/main">
              <a:ext uri="{FF2B5EF4-FFF2-40B4-BE49-F238E27FC236}">
                <a16:creationId xmlns:a16="http://schemas.microsoft.com/office/drawing/2014/main" id="{CF3E4180-CAD7-4B6E-A1C4-FF1B1DF799D8}"/>
              </a:ext>
            </a:extLst>
          </p:cNvPr>
          <p:cNvSpPr>
            <a:spLocks xmlns:a="http://schemas.openxmlformats.org/drawingml/2006/main" noGrp="1"/>
          </p:cNvSpPr>
          <p:nvPr/>
        </p:nvSpPr>
        <p:spPr>
          <a:xfrm xmlns:a="http://schemas.openxmlformats.org/drawingml/2006/main">
            <a:off x="7620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Say what you want AI to help you do.</a:t>
            </a:r>
          </a:p>
        </p:txBody>
      </p:sp>
      <p:sp>
        <p:nvSpPr>
          <p:cNvPr id="8" name="Infographic heading">
            <a:extLst xmlns:a="http://schemas.openxmlformats.org/drawingml/2006/main">
              <a:ext uri="{FF2B5EF4-FFF2-40B4-BE49-F238E27FC236}">
                <a16:creationId xmlns:a16="http://schemas.microsoft.com/office/drawing/2014/main" id="{3BF2C345-B7E4-4909-8789-F144198C93AF}"/>
              </a:ext>
            </a:extLst>
          </p:cNvPr>
          <p:cNvSpPr>
            <a:spLocks xmlns:a="http://schemas.openxmlformats.org/drawingml/2006/main" noGrp="1"/>
          </p:cNvSpPr>
          <p:nvPr/>
        </p:nvSpPr>
        <p:spPr>
          <a:xfrm xmlns:a="http://schemas.openxmlformats.org/drawingml/2006/main">
            <a:off x="43942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Useful information</a:t>
            </a:r>
          </a:p>
        </p:txBody>
      </p:sp>
      <p:sp>
        <p:nvSpPr>
          <p:cNvPr id="9" name="Infographic explanation">
            <a:extLst xmlns:a="http://schemas.openxmlformats.org/drawingml/2006/main">
              <a:ext uri="{FF2B5EF4-FFF2-40B4-BE49-F238E27FC236}">
                <a16:creationId xmlns:a16="http://schemas.microsoft.com/office/drawing/2014/main" id="{E70C288F-0FA3-48D2-A99E-D8FB8965E126}"/>
              </a:ext>
            </a:extLst>
          </p:cNvPr>
          <p:cNvSpPr>
            <a:spLocks xmlns:a="http://schemas.openxmlformats.org/drawingml/2006/main" noGrp="1"/>
          </p:cNvSpPr>
          <p:nvPr/>
        </p:nvSpPr>
        <p:spPr>
          <a:xfrm xmlns:a="http://schemas.openxmlformats.org/drawingml/2006/main">
            <a:off x="43942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Add the facts or files the task needs.</a:t>
            </a:r>
          </a:p>
        </p:txBody>
      </p:sp>
      <p:sp>
        <p:nvSpPr>
          <p:cNvPr id="10" name="Infographic heading">
            <a:extLst xmlns:a="http://schemas.openxmlformats.org/drawingml/2006/main">
              <a:ext uri="{FF2B5EF4-FFF2-40B4-BE49-F238E27FC236}">
                <a16:creationId xmlns:a16="http://schemas.microsoft.com/office/drawing/2014/main" id="{26536418-2A31-4E2F-B06A-BC5C47ABD09A}"/>
              </a:ext>
            </a:extLst>
          </p:cNvPr>
          <p:cNvSpPr>
            <a:spLocks xmlns:a="http://schemas.openxmlformats.org/drawingml/2006/main" noGrp="1"/>
          </p:cNvSpPr>
          <p:nvPr/>
        </p:nvSpPr>
        <p:spPr>
          <a:xfrm xmlns:a="http://schemas.openxmlformats.org/drawingml/2006/main">
            <a:off x="80264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A draft to check</a:t>
            </a:r>
          </a:p>
        </p:txBody>
      </p:sp>
      <p:sp>
        <p:nvSpPr>
          <p:cNvPr id="11" name="Infographic explanation">
            <a:extLst xmlns:a="http://schemas.openxmlformats.org/drawingml/2006/main">
              <a:ext uri="{FF2B5EF4-FFF2-40B4-BE49-F238E27FC236}">
                <a16:creationId xmlns:a16="http://schemas.microsoft.com/office/drawing/2014/main" id="{6F5B7539-3AB6-447C-B85A-4B224F56895A}"/>
              </a:ext>
            </a:extLst>
          </p:cNvPr>
          <p:cNvSpPr>
            <a:spLocks xmlns:a="http://schemas.openxmlformats.org/drawingml/2006/main" noGrp="1"/>
          </p:cNvSpPr>
          <p:nvPr/>
        </p:nvSpPr>
        <p:spPr>
          <a:xfrm xmlns:a="http://schemas.openxmlformats.org/drawingml/2006/main">
            <a:off x="80264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Compare the answer with the original.</a:t>
            </a:r>
          </a:p>
        </p:txBody>
      </p:sp>
      <p:sp>
        <p:nvSpPr>
          <p:cNvPr id="12" name="Footer">
            <a:extLst xmlns:a="http://schemas.openxmlformats.org/drawingml/2006/main">
              <a:ext uri="{FF2B5EF4-FFF2-40B4-BE49-F238E27FC236}">
                <a16:creationId xmlns:a16="http://schemas.microsoft.com/office/drawing/2014/main" id="{1D79351E-1BB6-404F-B1AC-E0117A72C5EE}"/>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03 / 31</a:t>
            </a:r>
          </a:p>
        </p:txBody>
      </p:sp>
    </p:spTree>
    <p:extLst>
      <p:ext uri="{BB962C8B-B14F-4D97-AF65-F5344CB8AC3E}">
        <p14:creationId xmlns:p14="http://schemas.microsoft.com/office/powerpoint/2010/main" val="110706397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A68EC877-B4F7-4AE8-9B47-61FBC182A8CD}"/>
              </a:ext>
            </a:extLst>
          </p:cNvPr>
          <p:cNvPicPr>
            <a:picLocks xmlns:a="http://schemas.openxmlformats.org/drawingml/2006/main" noChangeAspect="1"/>
          </p:cNvPicPr>
          <p:nvPr/>
        </p:nvPicPr>
        <p:blipFill>
          <a:blip xmlns:r="http://schemas.openxmlformats.org/officeDocument/2006/relationships" xmlns:a="http://schemas.openxmlformats.org/drawingml/2006/main" r:embed="R9f5e7f2f7e8b441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559B9C4E-C50A-42DD-AE0F-D969072475B0}"/>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0202CE9E-C1FE-4647-A0A4-EE5A69853C6D}"/>
              </a:ext>
            </a:extLst>
          </p:cNvPr>
          <p:cNvSpPr>
            <a:spLocks xmlns:a="http://schemas.openxmlformats.org/drawingml/2006/main" noGrp="1"/>
          </p:cNvSpPr>
          <p:nvPr/>
        </p:nvSpPr>
        <p:spPr>
          <a:xfrm xmlns:a="http://schemas.openxmlformats.org/drawingml/2006/main">
            <a:off x="609600" y="85725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Words for our first chat</a:t>
            </a:r>
          </a:p>
        </p:txBody>
      </p:sp>
      <p:sp>
        <p:nvSpPr>
          <p:cNvPr id="4" name="Text">
            <a:extLst xmlns:a="http://schemas.openxmlformats.org/drawingml/2006/main">
              <a:ext uri="{FF2B5EF4-FFF2-40B4-BE49-F238E27FC236}">
                <a16:creationId xmlns:a16="http://schemas.microsoft.com/office/drawing/2014/main" id="{11C9FAFE-7E99-413D-BE95-57532B134EB9}"/>
              </a:ext>
            </a:extLst>
          </p:cNvPr>
          <p:cNvSpPr>
            <a:spLocks xmlns:a="http://schemas.openxmlformats.org/drawingml/2006/main" noGrp="1"/>
          </p:cNvSpPr>
          <p:nvPr/>
        </p:nvSpPr>
        <p:spPr>
          <a:xfrm xmlns:a="http://schemas.openxmlformats.org/drawingml/2006/main">
            <a:off x="609600" y="1809750"/>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E4F66"/>
                </a:solidFill>
                <a:latin typeface="Poppins"/>
                <a:ea typeface="Poppins"/>
                <a:cs typeface="Poppins"/>
              </a:defRPr>
            </a:defPPr>
            <a:lvl1pPr>
              <a:defRPr sz="2025" b="0">
                <a:solidFill>
                  <a:srgbClr val="2E4F66"/>
                </a:solidFill>
                <a:latin typeface="Poppins"/>
                <a:ea typeface="Poppins"/>
                <a:cs typeface="Poppins"/>
              </a:defRPr>
            </a:lvl1pPr>
            <a:lvl2pPr>
              <a:defRPr sz="2025" b="0">
                <a:solidFill>
                  <a:srgbClr val="2E4F66"/>
                </a:solidFill>
                <a:latin typeface="Poppins"/>
                <a:ea typeface="Poppins"/>
                <a:cs typeface="Poppins"/>
              </a:defRPr>
            </a:lvl2pPr>
            <a:lvl3pPr>
              <a:defRPr sz="2025" b="0">
                <a:solidFill>
                  <a:srgbClr val="2E4F66"/>
                </a:solidFill>
                <a:latin typeface="Poppins"/>
                <a:ea typeface="Poppins"/>
                <a:cs typeface="Poppins"/>
              </a:defRPr>
            </a:lvl3pPr>
            <a:lvl4pPr>
              <a:defRPr sz="2025" b="0">
                <a:solidFill>
                  <a:srgbClr val="2E4F66"/>
                </a:solidFill>
                <a:latin typeface="Poppins"/>
                <a:ea typeface="Poppins"/>
                <a:cs typeface="Poppins"/>
              </a:defRPr>
            </a:lvl4pPr>
            <a:lvl5pPr>
              <a:defRPr sz="2025" b="0">
                <a:solidFill>
                  <a:srgbClr val="2E4F66"/>
                </a:solidFill>
                <a:latin typeface="Poppins"/>
                <a:ea typeface="Poppins"/>
                <a:cs typeface="Poppins"/>
              </a:defRPr>
            </a:lvl5pPr>
            <a:lvl6pPr>
              <a:defRPr sz="2025" b="0">
                <a:solidFill>
                  <a:srgbClr val="2E4F66"/>
                </a:solidFill>
                <a:latin typeface="Poppins"/>
                <a:ea typeface="Poppins"/>
                <a:cs typeface="Poppins"/>
              </a:defRPr>
            </a:lvl6pPr>
            <a:lvl7pPr>
              <a:defRPr sz="2025" b="0">
                <a:solidFill>
                  <a:srgbClr val="2E4F66"/>
                </a:solidFill>
                <a:latin typeface="Poppins"/>
                <a:ea typeface="Poppins"/>
                <a:cs typeface="Poppins"/>
              </a:defRPr>
            </a:lvl7pPr>
            <a:lvl8pPr>
              <a:defRPr sz="2025" b="0">
                <a:solidFill>
                  <a:srgbClr val="2E4F66"/>
                </a:solidFill>
                <a:latin typeface="Poppins"/>
                <a:ea typeface="Poppins"/>
                <a:cs typeface="Poppins"/>
              </a:defRPr>
            </a:lvl8pPr>
            <a:lvl9pPr>
              <a:defRPr sz="2025" b="0">
                <a:solidFill>
                  <a:srgbClr val="2E4F66"/>
                </a:solidFill>
                <a:latin typeface="Poppins"/>
                <a:ea typeface="Poppins"/>
                <a:cs typeface="Poppins"/>
              </a:defRPr>
            </a:lvl9pPr>
          </a:lstStyle>
          <a:p xmlns:a="http://schemas.openxmlformats.org/drawingml/2006/main">
            <a:pPr>
              <a:defRPr sz="2025" b="0">
                <a:solidFill>
                  <a:srgbClr val="2E4F66"/>
                </a:solidFill>
                <a:latin typeface="Poppins"/>
                <a:ea typeface="Poppins"/>
                <a:cs typeface="Poppins"/>
              </a:defRPr>
            </a:pPr>
            <a:r>
              <a:rPr sz="2025" b="0">
                <a:solidFill>
                  <a:srgbClr val="2E4F66"/>
                </a:solidFill>
                <a:latin typeface="Poppins"/>
                <a:ea typeface="Poppins"/>
                <a:cs typeface="Poppins"/>
              </a:rPr>
              <a:t>A prompt is simply your request.</a:t>
            </a:r>
          </a:p>
        </p:txBody>
      </p:sp>
      <p:graphicFrame>
        <p:nvGraphicFramePr>
          <p:cNvPr id="5" name="">
            <a:extLst xmlns:a="http://schemas.openxmlformats.org/drawingml/2006/main">
              <a:ext uri="{FF2B5EF4-FFF2-40B4-BE49-F238E27FC236}">
                <a16:creationId xmlns:a16="http://schemas.microsoft.com/office/drawing/2014/main" id="{62030810-7B3E-4452-B836-B69ADFFBF845}"/>
              </a:ext>
            </a:extLst>
          </p:cNvPr>
          <p:cNvGraphicFramePr/>
          <p:nvPr/>
        </p:nvGraphicFramePr>
        <p:xfrm>
          <a:off xmlns:a="http://schemas.openxmlformats.org/drawingml/2006/main" x="609600" y="2428875"/>
          <a:ext xmlns:a="http://schemas.openxmlformats.org/drawingml/2006/main" cx="10972800" cy="3143250"/>
        </p:xfrm>
        <a:graphic xmlns:a="http://schemas.openxmlformats.org/drawingml/2006/main">
          <a:graphicData uri="http://schemas.openxmlformats.org/drawingml/2006/table">
            <a:tbl>
              <a:tblPr firstRow="1" bandRow="0"/>
              <a:tblGrid>
                <a:gridCol w="2571750"/>
                <a:gridCol w="8401050"/>
              </a:tblGrid>
              <a:tr h="628650">
                <a:tc>
                  <a:txBody>
                    <a:bodyPr/>
                    <a:lstStyle/>
                    <a:p>
                      <a:r>
                        <a:rPr sz="1800" b="1">
                          <a:solidFill>
                            <a:srgbClr val="FFFFFF"/>
                          </a:solidFill>
                          <a:latin typeface="Poppins"/>
                          <a:ea typeface="Poppins"/>
                          <a:cs typeface="Poppins"/>
                        </a:rPr>
                        <a:t>Word</a:t>
                      </a:r>
                    </a:p>
                  </a:txBody>
                  <a:tcPr marL="133350" marR="133350" marT="85725" marB="85725" anchor="t">
                    <a:lnL w="9525">
                      <a:solidFill>
                        <a:srgbClr val="B6D4D6"/>
                      </a:solidFill>
                      <a:prstDash val="solid"/>
                    </a:lnL>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c>
                  <a:txBody>
                    <a:bodyPr/>
                    <a:lstStyle/>
                    <a:p>
                      <a:r>
                        <a:rPr sz="1800" b="1">
                          <a:solidFill>
                            <a:srgbClr val="FFFFFF"/>
                          </a:solidFill>
                          <a:latin typeface="Poppins"/>
                          <a:ea typeface="Poppins"/>
                          <a:cs typeface="Poppins"/>
                        </a:rPr>
                        <a:t>Everyday meaning</a:t>
                      </a:r>
                    </a:p>
                  </a:txBody>
                  <a:tcPr marL="133350" marR="133350" marT="85725" marB="85725" anchor="t">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r>
              <a:tr h="628650">
                <a:tc>
                  <a:txBody>
                    <a:bodyPr/>
                    <a:lstStyle/>
                    <a:p>
                      <a:r>
                        <a:rPr sz="1800" b="0">
                          <a:solidFill>
                            <a:srgbClr val="2E4F66"/>
                          </a:solidFill>
                          <a:latin typeface="Poppins"/>
                          <a:ea typeface="Poppins"/>
                          <a:cs typeface="Poppins"/>
                        </a:rPr>
                        <a:t>Chatbot</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The app you talk with, such as ChatGPT</a:t>
                      </a:r>
                    </a:p>
                  </a:txBody>
                  <a:tcPr marL="133350" marR="133350" marT="85725" marB="85725" anchor="t">
                    <a:lnR w="9525">
                      <a:solidFill>
                        <a:srgbClr val="B6D4D6"/>
                      </a:solidFill>
                      <a:prstDash val="solid"/>
                    </a:lnR>
                    <a:lnB w="9525">
                      <a:solidFill>
                        <a:srgbClr val="B6D4D6"/>
                      </a:solidFill>
                      <a:prstDash val="solid"/>
                    </a:lnB>
                    <a:solidFill>
                      <a:srgbClr val="F0F8F8"/>
                    </a:solidFill>
                  </a:tcPr>
                </a:tc>
              </a:tr>
              <a:tr h="628650">
                <a:tc>
                  <a:txBody>
                    <a:bodyPr/>
                    <a:lstStyle/>
                    <a:p>
                      <a:r>
                        <a:rPr sz="1800" b="0">
                          <a:solidFill>
                            <a:srgbClr val="2E4F66"/>
                          </a:solidFill>
                          <a:latin typeface="Poppins"/>
                          <a:ea typeface="Poppins"/>
                          <a:cs typeface="Poppins"/>
                        </a:rPr>
                        <a:t>Model</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FFFFF"/>
                    </a:solidFill>
                  </a:tcPr>
                </a:tc>
                <a:tc>
                  <a:txBody>
                    <a:bodyPr/>
                    <a:lstStyle/>
                    <a:p>
                      <a:r>
                        <a:rPr sz="1800" b="0">
                          <a:solidFill>
                            <a:srgbClr val="2E4F66"/>
                          </a:solidFill>
                          <a:latin typeface="Poppins"/>
                          <a:ea typeface="Poppins"/>
                          <a:cs typeface="Poppins"/>
                        </a:rPr>
                        <a:t>The AI system the app uses to create an answer</a:t>
                      </a:r>
                    </a:p>
                  </a:txBody>
                  <a:tcPr marL="133350" marR="133350" marT="85725" marB="85725" anchor="t">
                    <a:lnR w="9525">
                      <a:solidFill>
                        <a:srgbClr val="B6D4D6"/>
                      </a:solidFill>
                      <a:prstDash val="solid"/>
                    </a:lnR>
                    <a:lnB w="9525">
                      <a:solidFill>
                        <a:srgbClr val="B6D4D6"/>
                      </a:solidFill>
                      <a:prstDash val="solid"/>
                    </a:lnB>
                    <a:solidFill>
                      <a:srgbClr val="FFFFFF"/>
                    </a:solidFill>
                  </a:tcPr>
                </a:tc>
              </a:tr>
              <a:tr h="628650">
                <a:tc>
                  <a:txBody>
                    <a:bodyPr/>
                    <a:lstStyle/>
                    <a:p>
                      <a:r>
                        <a:rPr sz="1800" b="0">
                          <a:solidFill>
                            <a:srgbClr val="2E4F66"/>
                          </a:solidFill>
                          <a:latin typeface="Poppins"/>
                          <a:ea typeface="Poppins"/>
                          <a:cs typeface="Poppins"/>
                        </a:rPr>
                        <a:t>Prompt / input</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Your request and the information you give it</a:t>
                      </a:r>
                    </a:p>
                  </a:txBody>
                  <a:tcPr marL="133350" marR="133350" marT="85725" marB="85725" anchor="t">
                    <a:lnR w="9525">
                      <a:solidFill>
                        <a:srgbClr val="B6D4D6"/>
                      </a:solidFill>
                      <a:prstDash val="solid"/>
                    </a:lnR>
                    <a:lnB w="9525">
                      <a:solidFill>
                        <a:srgbClr val="B6D4D6"/>
                      </a:solidFill>
                      <a:prstDash val="solid"/>
                    </a:lnB>
                    <a:solidFill>
                      <a:srgbClr val="F0F8F8"/>
                    </a:solidFill>
                  </a:tcPr>
                </a:tc>
              </a:tr>
              <a:tr h="628650">
                <a:tc>
                  <a:txBody>
                    <a:bodyPr/>
                    <a:lstStyle/>
                    <a:p>
                      <a:r>
                        <a:rPr sz="1800" b="0">
                          <a:solidFill>
                            <a:srgbClr val="2E4F66"/>
                          </a:solidFill>
                          <a:latin typeface="Poppins"/>
                          <a:ea typeface="Poppins"/>
                          <a:cs typeface="Poppins"/>
                        </a:rPr>
                        <a:t>Response / output</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FFFFF"/>
                    </a:solidFill>
                  </a:tcPr>
                </a:tc>
                <a:tc>
                  <a:txBody>
                    <a:bodyPr/>
                    <a:lstStyle/>
                    <a:p>
                      <a:r>
                        <a:rPr sz="1800" b="0">
                          <a:solidFill>
                            <a:srgbClr val="2E4F66"/>
                          </a:solidFill>
                          <a:latin typeface="Poppins"/>
                          <a:ea typeface="Poppins"/>
                          <a:cs typeface="Poppins"/>
                        </a:rPr>
                        <a:t>The answer or draft you receive</a:t>
                      </a:r>
                    </a:p>
                  </a:txBody>
                  <a:tcPr marL="133350" marR="133350" marT="85725" marB="85725" anchor="t">
                    <a:lnR w="9525">
                      <a:solidFill>
                        <a:srgbClr val="B6D4D6"/>
                      </a:solidFill>
                      <a:prstDash val="solid"/>
                    </a:lnR>
                    <a:lnB w="9525">
                      <a:solidFill>
                        <a:srgbClr val="B6D4D6"/>
                      </a:solidFill>
                      <a:prstDash val="solid"/>
                    </a:lnB>
                    <a:solidFill>
                      <a:srgbClr val="FFFFFF"/>
                    </a:solidFill>
                  </a:tcPr>
                </a:tc>
              </a:tr>
            </a:tbl>
          </a:graphicData>
        </a:graphic>
      </p:graphicFrame>
      <p:sp>
        <p:nvSpPr>
          <p:cNvPr id="6" name="Footer">
            <a:extLst xmlns:a="http://schemas.openxmlformats.org/drawingml/2006/main">
              <a:ext uri="{FF2B5EF4-FFF2-40B4-BE49-F238E27FC236}">
                <a16:creationId xmlns:a16="http://schemas.microsoft.com/office/drawing/2014/main" id="{9AC68158-3F02-4375-B6AA-6FD3D0283E1C}"/>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04 / 31</a:t>
            </a:r>
          </a:p>
        </p:txBody>
      </p:sp>
    </p:spTree>
    <p:extLst>
      <p:ext uri="{BB962C8B-B14F-4D97-AF65-F5344CB8AC3E}">
        <p14:creationId xmlns:p14="http://schemas.microsoft.com/office/powerpoint/2010/main" val="175407765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8010AC99-168E-4A5E-A67C-85CA4E8906E4}"/>
              </a:ext>
            </a:extLst>
          </p:cNvPr>
          <p:cNvPicPr>
            <a:picLocks xmlns:a="http://schemas.openxmlformats.org/drawingml/2006/main" noChangeAspect="1"/>
          </p:cNvPicPr>
          <p:nvPr/>
        </p:nvPicPr>
        <p:blipFill>
          <a:blip xmlns:r="http://schemas.openxmlformats.org/officeDocument/2006/relationships" xmlns:a="http://schemas.openxmlformats.org/drawingml/2006/main" r:embed="R320a4ad47c0c4e5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C8CFC373-0293-46DF-B172-80822588E7E5}"/>
              </a:ext>
            </a:extLst>
          </p:cNvPr>
          <p:cNvSpPr>
            <a:spLocks xmlns:a="http://schemas.openxmlformats.org/drawingml/2006/main" noGrp="1"/>
          </p:cNvSpPr>
          <p:nvPr/>
        </p:nvSpPr>
        <p:spPr>
          <a:xfrm xmlns:a="http://schemas.openxmlformats.org/drawingml/2006/main">
            <a:off x="609600" y="40957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9D37EC58-5B83-4D90-9691-7E3CB4EDFB8D}"/>
              </a:ext>
            </a:extLst>
          </p:cNvPr>
          <p:cNvSpPr>
            <a:spLocks xmlns:a="http://schemas.openxmlformats.org/drawingml/2006/main" noGrp="1"/>
          </p:cNvSpPr>
          <p:nvPr/>
        </p:nvSpPr>
        <p:spPr>
          <a:xfrm xmlns:a="http://schemas.openxmlformats.org/drawingml/2006/main">
            <a:off x="609600" y="8572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A first request</a:t>
            </a:r>
          </a:p>
        </p:txBody>
      </p:sp>
      <p:sp>
        <p:nvSpPr>
          <p:cNvPr id="4" name="Text">
            <a:extLst xmlns:a="http://schemas.openxmlformats.org/drawingml/2006/main">
              <a:ext uri="{FF2B5EF4-FFF2-40B4-BE49-F238E27FC236}">
                <a16:creationId xmlns:a16="http://schemas.microsoft.com/office/drawing/2014/main" id="{E3AC9DAA-291B-4256-B9B4-F7FB212CD6D7}"/>
              </a:ext>
            </a:extLst>
          </p:cNvPr>
          <p:cNvSpPr>
            <a:spLocks xmlns:a="http://schemas.openxmlformats.org/drawingml/2006/main" noGrp="1"/>
          </p:cNvSpPr>
          <p:nvPr/>
        </p:nvSpPr>
        <p:spPr>
          <a:xfrm xmlns:a="http://schemas.openxmlformats.org/drawingml/2006/main">
            <a:off x="609600" y="15811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E4F66"/>
                </a:solidFill>
                <a:latin typeface="Poppins"/>
                <a:ea typeface="Poppins"/>
                <a:cs typeface="Poppins"/>
              </a:defRPr>
            </a:defPPr>
            <a:lvl1pPr>
              <a:defRPr sz="1875" b="0">
                <a:solidFill>
                  <a:srgbClr val="2E4F66"/>
                </a:solidFill>
                <a:latin typeface="Poppins"/>
                <a:ea typeface="Poppins"/>
                <a:cs typeface="Poppins"/>
              </a:defRPr>
            </a:lvl1pPr>
            <a:lvl2pPr>
              <a:defRPr sz="1875" b="0">
                <a:solidFill>
                  <a:srgbClr val="2E4F66"/>
                </a:solidFill>
                <a:latin typeface="Poppins"/>
                <a:ea typeface="Poppins"/>
                <a:cs typeface="Poppins"/>
              </a:defRPr>
            </a:lvl2pPr>
            <a:lvl3pPr>
              <a:defRPr sz="1875" b="0">
                <a:solidFill>
                  <a:srgbClr val="2E4F66"/>
                </a:solidFill>
                <a:latin typeface="Poppins"/>
                <a:ea typeface="Poppins"/>
                <a:cs typeface="Poppins"/>
              </a:defRPr>
            </a:lvl3pPr>
            <a:lvl4pPr>
              <a:defRPr sz="1875" b="0">
                <a:solidFill>
                  <a:srgbClr val="2E4F66"/>
                </a:solidFill>
                <a:latin typeface="Poppins"/>
                <a:ea typeface="Poppins"/>
                <a:cs typeface="Poppins"/>
              </a:defRPr>
            </a:lvl4pPr>
            <a:lvl5pPr>
              <a:defRPr sz="1875" b="0">
                <a:solidFill>
                  <a:srgbClr val="2E4F66"/>
                </a:solidFill>
                <a:latin typeface="Poppins"/>
                <a:ea typeface="Poppins"/>
                <a:cs typeface="Poppins"/>
              </a:defRPr>
            </a:lvl5pPr>
            <a:lvl6pPr>
              <a:defRPr sz="1875" b="0">
                <a:solidFill>
                  <a:srgbClr val="2E4F66"/>
                </a:solidFill>
                <a:latin typeface="Poppins"/>
                <a:ea typeface="Poppins"/>
                <a:cs typeface="Poppins"/>
              </a:defRPr>
            </a:lvl6pPr>
            <a:lvl7pPr>
              <a:defRPr sz="1875" b="0">
                <a:solidFill>
                  <a:srgbClr val="2E4F66"/>
                </a:solidFill>
                <a:latin typeface="Poppins"/>
                <a:ea typeface="Poppins"/>
                <a:cs typeface="Poppins"/>
              </a:defRPr>
            </a:lvl7pPr>
            <a:lvl8pPr>
              <a:defRPr sz="1875" b="0">
                <a:solidFill>
                  <a:srgbClr val="2E4F66"/>
                </a:solidFill>
                <a:latin typeface="Poppins"/>
                <a:ea typeface="Poppins"/>
                <a:cs typeface="Poppins"/>
              </a:defRPr>
            </a:lvl8pPr>
            <a:lvl9pPr>
              <a:defRPr sz="1875" b="0">
                <a:solidFill>
                  <a:srgbClr val="2E4F66"/>
                </a:solidFill>
                <a:latin typeface="Poppins"/>
                <a:ea typeface="Poppins"/>
                <a:cs typeface="Poppins"/>
              </a:defRPr>
            </a:lvl9pPr>
          </a:lstStyle>
          <a:p xmlns:a="http://schemas.openxmlformats.org/drawingml/2006/main">
            <a:pPr>
              <a:defRPr sz="1875" b="0">
                <a:solidFill>
                  <a:srgbClr val="2E4F66"/>
                </a:solidFill>
                <a:latin typeface="Poppins"/>
                <a:ea typeface="Poppins"/>
                <a:cs typeface="Poppins"/>
              </a:defRPr>
            </a:pPr>
            <a:r>
              <a:rPr sz="1875" b="0">
                <a:solidFill>
                  <a:srgbClr val="2E4F66"/>
                </a:solidFill>
                <a:latin typeface="Poppins"/>
                <a:ea typeface="Poppins"/>
                <a:cs typeface="Poppins"/>
              </a:rPr>
              <a:t>One small job using a made-up note</a:t>
            </a:r>
          </a:p>
        </p:txBody>
      </p:sp>
      <p:pic>
        <p:nvPicPr>
          <p:cNvPr id="5" name="">
            <a:extLst xmlns:a="http://schemas.openxmlformats.org/drawingml/2006/main">
              <a:ext uri="{FF2B5EF4-FFF2-40B4-BE49-F238E27FC236}">
                <a16:creationId xmlns:a16="http://schemas.microsoft.com/office/drawing/2014/main" id="{4A91F9DF-5B69-4CFD-AF58-8BCE4CCDE053}"/>
              </a:ext>
            </a:extLst>
          </p:cNvPr>
          <p:cNvPicPr>
            <a:picLocks xmlns:a="http://schemas.openxmlformats.org/drawingml/2006/main" noChangeAspect="1"/>
          </p:cNvPicPr>
          <p:nvPr/>
        </p:nvPicPr>
        <p:blipFill>
          <a:blip xmlns:r="http://schemas.openxmlformats.org/officeDocument/2006/relationships" xmlns:a="http://schemas.openxmlformats.org/drawingml/2006/main" r:embed="Rdfbf14495d45467d"/>
          <a:stretch xmlns:a="http://schemas.openxmlformats.org/drawingml/2006/main"/>
        </p:blipFill>
        <p:spPr>
          <a:xfrm xmlns:a="http://schemas.openxmlformats.org/drawingml/2006/main">
            <a:off x="2524125" y="2047875"/>
            <a:ext cx="7143750" cy="2857500"/>
          </a:xfrm>
          <a:prstGeom xmlns:a="http://schemas.openxmlformats.org/drawingml/2006/main" prst="rect">
            <a:avLst/>
          </a:prstGeom>
        </p:spPr>
      </p:pic>
      <p:sp>
        <p:nvSpPr>
          <p:cNvPr id="6" name="Infographic heading">
            <a:extLst xmlns:a="http://schemas.openxmlformats.org/drawingml/2006/main">
              <a:ext uri="{FF2B5EF4-FFF2-40B4-BE49-F238E27FC236}">
                <a16:creationId xmlns:a16="http://schemas.microsoft.com/office/drawing/2014/main" id="{D6399794-2A63-4494-83BF-0BDC37AB11F1}"/>
              </a:ext>
            </a:extLst>
          </p:cNvPr>
          <p:cNvSpPr>
            <a:spLocks xmlns:a="http://schemas.openxmlformats.org/drawingml/2006/main" noGrp="1"/>
          </p:cNvSpPr>
          <p:nvPr/>
        </p:nvSpPr>
        <p:spPr>
          <a:xfrm xmlns:a="http://schemas.openxmlformats.org/drawingml/2006/main">
            <a:off x="7620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The supplied note</a:t>
            </a:r>
          </a:p>
        </p:txBody>
      </p:sp>
      <p:sp>
        <p:nvSpPr>
          <p:cNvPr id="7" name="Infographic explanation">
            <a:extLst xmlns:a="http://schemas.openxmlformats.org/drawingml/2006/main">
              <a:ext uri="{FF2B5EF4-FFF2-40B4-BE49-F238E27FC236}">
                <a16:creationId xmlns:a16="http://schemas.microsoft.com/office/drawing/2014/main" id="{CF1319E1-7811-4247-ACF0-09894A299ACC}"/>
              </a:ext>
            </a:extLst>
          </p:cNvPr>
          <p:cNvSpPr>
            <a:spLocks xmlns:a="http://schemas.openxmlformats.org/drawingml/2006/main" noGrp="1"/>
          </p:cNvSpPr>
          <p:nvPr/>
        </p:nvSpPr>
        <p:spPr>
          <a:xfrm xmlns:a="http://schemas.openxmlformats.org/drawingml/2006/main">
            <a:off x="7620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“Applications close October 1.”</a:t>
            </a:r>
          </a:p>
        </p:txBody>
      </p:sp>
      <p:sp>
        <p:nvSpPr>
          <p:cNvPr id="8" name="Infographic heading">
            <a:extLst xmlns:a="http://schemas.openxmlformats.org/drawingml/2006/main">
              <a:ext uri="{FF2B5EF4-FFF2-40B4-BE49-F238E27FC236}">
                <a16:creationId xmlns:a16="http://schemas.microsoft.com/office/drawing/2014/main" id="{A2314F1A-BB67-4A6B-8927-A8231DC3E79A}"/>
              </a:ext>
            </a:extLst>
          </p:cNvPr>
          <p:cNvSpPr>
            <a:spLocks xmlns:a="http://schemas.openxmlformats.org/drawingml/2006/main" noGrp="1"/>
          </p:cNvSpPr>
          <p:nvPr/>
        </p:nvSpPr>
        <p:spPr>
          <a:xfrm xmlns:a="http://schemas.openxmlformats.org/drawingml/2006/main">
            <a:off x="43942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The request</a:t>
            </a:r>
          </a:p>
        </p:txBody>
      </p:sp>
      <p:sp>
        <p:nvSpPr>
          <p:cNvPr id="9" name="Infographic explanation">
            <a:extLst xmlns:a="http://schemas.openxmlformats.org/drawingml/2006/main">
              <a:ext uri="{FF2B5EF4-FFF2-40B4-BE49-F238E27FC236}">
                <a16:creationId xmlns:a16="http://schemas.microsoft.com/office/drawing/2014/main" id="{39C3C968-AA8E-4481-BF0F-07DED7BAC78E}"/>
              </a:ext>
            </a:extLst>
          </p:cNvPr>
          <p:cNvSpPr>
            <a:spLocks xmlns:a="http://schemas.openxmlformats.org/drawingml/2006/main" noGrp="1"/>
          </p:cNvSpPr>
          <p:nvPr/>
        </p:nvSpPr>
        <p:spPr>
          <a:xfrm xmlns:a="http://schemas.openxmlformats.org/drawingml/2006/main">
            <a:off x="43942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“Write a friendly one-sentence reminder.”</a:t>
            </a:r>
          </a:p>
        </p:txBody>
      </p:sp>
      <p:sp>
        <p:nvSpPr>
          <p:cNvPr id="10" name="Infographic heading">
            <a:extLst xmlns:a="http://schemas.openxmlformats.org/drawingml/2006/main">
              <a:ext uri="{FF2B5EF4-FFF2-40B4-BE49-F238E27FC236}">
                <a16:creationId xmlns:a16="http://schemas.microsoft.com/office/drawing/2014/main" id="{D3029DBC-C8FF-4B69-BF38-D4CF9D38EE37}"/>
              </a:ext>
            </a:extLst>
          </p:cNvPr>
          <p:cNvSpPr>
            <a:spLocks xmlns:a="http://schemas.openxmlformats.org/drawingml/2006/main" noGrp="1"/>
          </p:cNvSpPr>
          <p:nvPr/>
        </p:nvSpPr>
        <p:spPr>
          <a:xfrm xmlns:a="http://schemas.openxmlformats.org/drawingml/2006/main">
            <a:off x="80264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Your check</a:t>
            </a:r>
          </a:p>
        </p:txBody>
      </p:sp>
      <p:sp>
        <p:nvSpPr>
          <p:cNvPr id="11" name="Infographic explanation">
            <a:extLst xmlns:a="http://schemas.openxmlformats.org/drawingml/2006/main">
              <a:ext uri="{FF2B5EF4-FFF2-40B4-BE49-F238E27FC236}">
                <a16:creationId xmlns:a16="http://schemas.microsoft.com/office/drawing/2014/main" id="{9B1101F8-E405-46EB-9266-F9CBD34DACC8}"/>
              </a:ext>
            </a:extLst>
          </p:cNvPr>
          <p:cNvSpPr>
            <a:spLocks xmlns:a="http://schemas.openxmlformats.org/drawingml/2006/main" noGrp="1"/>
          </p:cNvSpPr>
          <p:nvPr/>
        </p:nvSpPr>
        <p:spPr>
          <a:xfrm xmlns:a="http://schemas.openxmlformats.org/drawingml/2006/main">
            <a:off x="80264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Keep October 1. Add no new rules or promises.</a:t>
            </a:r>
          </a:p>
        </p:txBody>
      </p:sp>
      <p:sp>
        <p:nvSpPr>
          <p:cNvPr id="12" name="Resource link">
            <a:extLst xmlns:a="http://schemas.openxmlformats.org/drawingml/2006/main">
              <a:ext uri="{FF2B5EF4-FFF2-40B4-BE49-F238E27FC236}">
                <a16:creationId xmlns:a16="http://schemas.microsoft.com/office/drawing/2014/main" id="{23F760D2-05A3-4EFB-B661-31A13A486041}"/>
              </a:ext>
            </a:extLst>
          </p:cNvPr>
          <p:cNvSpPr>
            <a:spLocks xmlns:a="http://schemas.openxmlformats.org/drawingml/2006/main" noGrp="1"/>
          </p:cNvSpPr>
          <p:nvPr/>
        </p:nvSpPr>
        <p:spPr>
          <a:xfrm xmlns:a="http://schemas.openxmlformats.org/drawingml/2006/main">
            <a:off x="8001000" y="409575"/>
            <a:ext cx="3581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u="sng">
                <a:solidFill>
                  <a:srgbClr val="007681"/>
                </a:solidFill>
                <a:latin typeface="Poppins"/>
                <a:ea typeface="Poppins"/>
                <a:cs typeface="Poppins"/>
                <a:hlinkClick xmlns:r="http://schemas.openxmlformats.org/officeDocument/2006/relationships" r:id="R0964cb93345c422d"/>
              </a:rPr>
              <a:t>Open practice activity</a:t>
            </a:r>
          </a:p>
        </p:txBody>
      </p:sp>
      <p:sp>
        <p:nvSpPr>
          <p:cNvPr id="13" name="Footer">
            <a:extLst xmlns:a="http://schemas.openxmlformats.org/drawingml/2006/main">
              <a:ext uri="{FF2B5EF4-FFF2-40B4-BE49-F238E27FC236}">
                <a16:creationId xmlns:a16="http://schemas.microsoft.com/office/drawing/2014/main" id="{1DD382A7-C3EB-45AB-BD7F-503AC789726D}"/>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05 / 31</a:t>
            </a:r>
          </a:p>
        </p:txBody>
      </p:sp>
    </p:spTree>
    <p:extLst>
      <p:ext uri="{BB962C8B-B14F-4D97-AF65-F5344CB8AC3E}">
        <p14:creationId xmlns:p14="http://schemas.microsoft.com/office/powerpoint/2010/main" val="167914127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16279A19-C426-4839-B6F7-322289241700}"/>
              </a:ext>
            </a:extLst>
          </p:cNvPr>
          <p:cNvPicPr>
            <a:picLocks xmlns:a="http://schemas.openxmlformats.org/drawingml/2006/main" noChangeAspect="1"/>
          </p:cNvPicPr>
          <p:nvPr/>
        </p:nvPicPr>
        <p:blipFill>
          <a:blip xmlns:r="http://schemas.openxmlformats.org/officeDocument/2006/relationships" xmlns:a="http://schemas.openxmlformats.org/drawingml/2006/main" r:embed="R1a4616953743485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1675B205-8DB7-4D12-BC2B-B4A0459B34AE}"/>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C2432CA4-1851-4C08-891B-3425E717D4E2}"/>
              </a:ext>
            </a:extLst>
          </p:cNvPr>
          <p:cNvSpPr>
            <a:spLocks xmlns:a="http://schemas.openxmlformats.org/drawingml/2006/main" noGrp="1"/>
          </p:cNvSpPr>
          <p:nvPr/>
        </p:nvSpPr>
        <p:spPr>
          <a:xfrm xmlns:a="http://schemas.openxmlformats.org/drawingml/2006/main">
            <a:off x="609600" y="85725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Useful background information</a:t>
            </a:r>
          </a:p>
        </p:txBody>
      </p:sp>
      <p:sp>
        <p:nvSpPr>
          <p:cNvPr id="4" name="Text">
            <a:extLst xmlns:a="http://schemas.openxmlformats.org/drawingml/2006/main">
              <a:ext uri="{FF2B5EF4-FFF2-40B4-BE49-F238E27FC236}">
                <a16:creationId xmlns:a16="http://schemas.microsoft.com/office/drawing/2014/main" id="{BB2B19DF-E013-4B6B-A41D-F15C2B8A2D4F}"/>
              </a:ext>
            </a:extLst>
          </p:cNvPr>
          <p:cNvSpPr>
            <a:spLocks xmlns:a="http://schemas.openxmlformats.org/drawingml/2006/main" noGrp="1"/>
          </p:cNvSpPr>
          <p:nvPr/>
        </p:nvSpPr>
        <p:spPr>
          <a:xfrm xmlns:a="http://schemas.openxmlformats.org/drawingml/2006/main">
            <a:off x="609600" y="1809750"/>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E4F66"/>
                </a:solidFill>
                <a:latin typeface="Poppins"/>
                <a:ea typeface="Poppins"/>
                <a:cs typeface="Poppins"/>
              </a:defRPr>
            </a:defPPr>
            <a:lvl1pPr>
              <a:defRPr sz="2025" b="0">
                <a:solidFill>
                  <a:srgbClr val="2E4F66"/>
                </a:solidFill>
                <a:latin typeface="Poppins"/>
                <a:ea typeface="Poppins"/>
                <a:cs typeface="Poppins"/>
              </a:defRPr>
            </a:lvl1pPr>
            <a:lvl2pPr>
              <a:defRPr sz="2025" b="0">
                <a:solidFill>
                  <a:srgbClr val="2E4F66"/>
                </a:solidFill>
                <a:latin typeface="Poppins"/>
                <a:ea typeface="Poppins"/>
                <a:cs typeface="Poppins"/>
              </a:defRPr>
            </a:lvl2pPr>
            <a:lvl3pPr>
              <a:defRPr sz="2025" b="0">
                <a:solidFill>
                  <a:srgbClr val="2E4F66"/>
                </a:solidFill>
                <a:latin typeface="Poppins"/>
                <a:ea typeface="Poppins"/>
                <a:cs typeface="Poppins"/>
              </a:defRPr>
            </a:lvl3pPr>
            <a:lvl4pPr>
              <a:defRPr sz="2025" b="0">
                <a:solidFill>
                  <a:srgbClr val="2E4F66"/>
                </a:solidFill>
                <a:latin typeface="Poppins"/>
                <a:ea typeface="Poppins"/>
                <a:cs typeface="Poppins"/>
              </a:defRPr>
            </a:lvl4pPr>
            <a:lvl5pPr>
              <a:defRPr sz="2025" b="0">
                <a:solidFill>
                  <a:srgbClr val="2E4F66"/>
                </a:solidFill>
                <a:latin typeface="Poppins"/>
                <a:ea typeface="Poppins"/>
                <a:cs typeface="Poppins"/>
              </a:defRPr>
            </a:lvl5pPr>
            <a:lvl6pPr>
              <a:defRPr sz="2025" b="0">
                <a:solidFill>
                  <a:srgbClr val="2E4F66"/>
                </a:solidFill>
                <a:latin typeface="Poppins"/>
                <a:ea typeface="Poppins"/>
                <a:cs typeface="Poppins"/>
              </a:defRPr>
            </a:lvl6pPr>
            <a:lvl7pPr>
              <a:defRPr sz="2025" b="0">
                <a:solidFill>
                  <a:srgbClr val="2E4F66"/>
                </a:solidFill>
                <a:latin typeface="Poppins"/>
                <a:ea typeface="Poppins"/>
                <a:cs typeface="Poppins"/>
              </a:defRPr>
            </a:lvl7pPr>
            <a:lvl8pPr>
              <a:defRPr sz="2025" b="0">
                <a:solidFill>
                  <a:srgbClr val="2E4F66"/>
                </a:solidFill>
                <a:latin typeface="Poppins"/>
                <a:ea typeface="Poppins"/>
                <a:cs typeface="Poppins"/>
              </a:defRPr>
            </a:lvl8pPr>
            <a:lvl9pPr>
              <a:defRPr sz="2025" b="0">
                <a:solidFill>
                  <a:srgbClr val="2E4F66"/>
                </a:solidFill>
                <a:latin typeface="Poppins"/>
                <a:ea typeface="Poppins"/>
                <a:cs typeface="Poppins"/>
              </a:defRPr>
            </a:lvl9pPr>
          </a:lstStyle>
          <a:p xmlns:a="http://schemas.openxmlformats.org/drawingml/2006/main">
            <a:pPr>
              <a:defRPr sz="2025" b="0">
                <a:solidFill>
                  <a:srgbClr val="2E4F66"/>
                </a:solidFill>
                <a:latin typeface="Poppins"/>
                <a:ea typeface="Poppins"/>
                <a:cs typeface="Poppins"/>
              </a:defRPr>
            </a:pPr>
            <a:r>
              <a:rPr sz="2025" b="0">
                <a:solidFill>
                  <a:srgbClr val="2E4F66"/>
                </a:solidFill>
                <a:latin typeface="Poppins"/>
                <a:ea typeface="Poppins"/>
                <a:cs typeface="Poppins"/>
              </a:rPr>
              <a:t>Context means the information that helps AI do the job.</a:t>
            </a:r>
          </a:p>
        </p:txBody>
      </p:sp>
      <p:graphicFrame>
        <p:nvGraphicFramePr>
          <p:cNvPr id="5" name="">
            <a:extLst xmlns:a="http://schemas.openxmlformats.org/drawingml/2006/main">
              <a:ext uri="{FF2B5EF4-FFF2-40B4-BE49-F238E27FC236}">
                <a16:creationId xmlns:a16="http://schemas.microsoft.com/office/drawing/2014/main" id="{9CCABEEB-ED79-4A72-9A4A-2E7F3F4E3CDC}"/>
              </a:ext>
            </a:extLst>
          </p:cNvPr>
          <p:cNvGraphicFramePr/>
          <p:nvPr/>
        </p:nvGraphicFramePr>
        <p:xfrm>
          <a:off xmlns:a="http://schemas.openxmlformats.org/drawingml/2006/main" x="609600" y="2428875"/>
          <a:ext xmlns:a="http://schemas.openxmlformats.org/drawingml/2006/main" cx="10972800" cy="3143250"/>
        </p:xfrm>
        <a:graphic xmlns:a="http://schemas.openxmlformats.org/drawingml/2006/main">
          <a:graphicData uri="http://schemas.openxmlformats.org/drawingml/2006/table">
            <a:tbl>
              <a:tblPr firstRow="1" bandRow="0"/>
              <a:tblGrid>
                <a:gridCol w="2571750"/>
                <a:gridCol w="8401050"/>
              </a:tblGrid>
              <a:tr h="628650">
                <a:tc>
                  <a:txBody>
                    <a:bodyPr/>
                    <a:lstStyle/>
                    <a:p>
                      <a:r>
                        <a:rPr sz="1800" b="1">
                          <a:solidFill>
                            <a:srgbClr val="FFFFFF"/>
                          </a:solidFill>
                          <a:latin typeface="Poppins"/>
                          <a:ea typeface="Poppins"/>
                          <a:cs typeface="Poppins"/>
                        </a:rPr>
                        <a:t>Detail</a:t>
                      </a:r>
                    </a:p>
                  </a:txBody>
                  <a:tcPr marL="133350" marR="133350" marT="85725" marB="85725" anchor="t">
                    <a:lnL w="9525">
                      <a:solidFill>
                        <a:srgbClr val="B6D4D6"/>
                      </a:solidFill>
                      <a:prstDash val="solid"/>
                    </a:lnL>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c>
                  <a:txBody>
                    <a:bodyPr/>
                    <a:lstStyle/>
                    <a:p>
                      <a:r>
                        <a:rPr sz="1800" b="1">
                          <a:solidFill>
                            <a:srgbClr val="FFFFFF"/>
                          </a:solidFill>
                          <a:latin typeface="Poppins"/>
                          <a:ea typeface="Poppins"/>
                          <a:cs typeface="Poppins"/>
                        </a:rPr>
                        <a:t>Our reminder example</a:t>
                      </a:r>
                    </a:p>
                  </a:txBody>
                  <a:tcPr marL="133350" marR="133350" marT="85725" marB="85725" anchor="t">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r>
              <a:tr h="628650">
                <a:tc>
                  <a:txBody>
                    <a:bodyPr/>
                    <a:lstStyle/>
                    <a:p>
                      <a:r>
                        <a:rPr sz="1800" b="0">
                          <a:solidFill>
                            <a:srgbClr val="2E4F66"/>
                          </a:solidFill>
                          <a:latin typeface="Poppins"/>
                          <a:ea typeface="Poppins"/>
                          <a:cs typeface="Poppins"/>
                        </a:rPr>
                        <a:t>Audience: who will read it</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Students applying for a scholarship</a:t>
                      </a:r>
                    </a:p>
                  </a:txBody>
                  <a:tcPr marL="133350" marR="133350" marT="85725" marB="85725" anchor="t">
                    <a:lnR w="9525">
                      <a:solidFill>
                        <a:srgbClr val="B6D4D6"/>
                      </a:solidFill>
                      <a:prstDash val="solid"/>
                    </a:lnR>
                    <a:lnB w="9525">
                      <a:solidFill>
                        <a:srgbClr val="B6D4D6"/>
                      </a:solidFill>
                      <a:prstDash val="solid"/>
                    </a:lnB>
                    <a:solidFill>
                      <a:srgbClr val="F0F8F8"/>
                    </a:solidFill>
                  </a:tcPr>
                </a:tc>
              </a:tr>
              <a:tr h="628650">
                <a:tc>
                  <a:txBody>
                    <a:bodyPr/>
                    <a:lstStyle/>
                    <a:p>
                      <a:r>
                        <a:rPr sz="1800" b="0">
                          <a:solidFill>
                            <a:srgbClr val="2E4F66"/>
                          </a:solidFill>
                          <a:latin typeface="Poppins"/>
                          <a:ea typeface="Poppins"/>
                          <a:cs typeface="Poppins"/>
                        </a:rPr>
                        <a:t>Tone: how it should sound</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FFFFF"/>
                    </a:solidFill>
                  </a:tcPr>
                </a:tc>
                <a:tc>
                  <a:txBody>
                    <a:bodyPr/>
                    <a:lstStyle/>
                    <a:p>
                      <a:r>
                        <a:rPr sz="1800" b="0">
                          <a:solidFill>
                            <a:srgbClr val="2E4F66"/>
                          </a:solidFill>
                          <a:latin typeface="Poppins"/>
                          <a:ea typeface="Poppins"/>
                          <a:cs typeface="Poppins"/>
                        </a:rPr>
                        <a:t>Friendly and direct</a:t>
                      </a:r>
                    </a:p>
                  </a:txBody>
                  <a:tcPr marL="133350" marR="133350" marT="85725" marB="85725" anchor="t">
                    <a:lnR w="9525">
                      <a:solidFill>
                        <a:srgbClr val="B6D4D6"/>
                      </a:solidFill>
                      <a:prstDash val="solid"/>
                    </a:lnR>
                    <a:lnB w="9525">
                      <a:solidFill>
                        <a:srgbClr val="B6D4D6"/>
                      </a:solidFill>
                      <a:prstDash val="solid"/>
                    </a:lnB>
                    <a:solidFill>
                      <a:srgbClr val="FFFFFF"/>
                    </a:solidFill>
                  </a:tcPr>
                </a:tc>
              </a:tr>
              <a:tr h="628650">
                <a:tc>
                  <a:txBody>
                    <a:bodyPr/>
                    <a:lstStyle/>
                    <a:p>
                      <a:r>
                        <a:rPr sz="1800" b="0">
                          <a:solidFill>
                            <a:srgbClr val="2E4F66"/>
                          </a:solidFill>
                          <a:latin typeface="Poppins"/>
                          <a:ea typeface="Poppins"/>
                          <a:cs typeface="Poppins"/>
                        </a:rPr>
                        <a:t>Source: where facts come from</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The supplied deadline note</a:t>
                      </a:r>
                    </a:p>
                  </a:txBody>
                  <a:tcPr marL="133350" marR="133350" marT="85725" marB="85725" anchor="t">
                    <a:lnR w="9525">
                      <a:solidFill>
                        <a:srgbClr val="B6D4D6"/>
                      </a:solidFill>
                      <a:prstDash val="solid"/>
                    </a:lnR>
                    <a:lnB w="9525">
                      <a:solidFill>
                        <a:srgbClr val="B6D4D6"/>
                      </a:solidFill>
                      <a:prstDash val="solid"/>
                    </a:lnB>
                    <a:solidFill>
                      <a:srgbClr val="F0F8F8"/>
                    </a:solidFill>
                  </a:tcPr>
                </a:tc>
              </a:tr>
              <a:tr h="628650">
                <a:tc>
                  <a:txBody>
                    <a:bodyPr/>
                    <a:lstStyle/>
                    <a:p>
                      <a:r>
                        <a:rPr sz="1800" b="0">
                          <a:solidFill>
                            <a:srgbClr val="2E4F66"/>
                          </a:solidFill>
                          <a:latin typeface="Poppins"/>
                          <a:ea typeface="Poppins"/>
                          <a:cs typeface="Poppins"/>
                        </a:rPr>
                        <a:t>Limit: what it must avoid</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FFFFF"/>
                    </a:solidFill>
                  </a:tcPr>
                </a:tc>
                <a:tc>
                  <a:txBody>
                    <a:bodyPr/>
                    <a:lstStyle/>
                    <a:p>
                      <a:r>
                        <a:rPr sz="1800" b="0">
                          <a:solidFill>
                            <a:srgbClr val="2E4F66"/>
                          </a:solidFill>
                          <a:latin typeface="Poppins"/>
                          <a:ea typeface="Poppins"/>
                          <a:cs typeface="Poppins"/>
                        </a:rPr>
                        <a:t>No invented dates, links, or promises</a:t>
                      </a:r>
                    </a:p>
                  </a:txBody>
                  <a:tcPr marL="133350" marR="133350" marT="85725" marB="85725" anchor="t">
                    <a:lnR w="9525">
                      <a:solidFill>
                        <a:srgbClr val="B6D4D6"/>
                      </a:solidFill>
                      <a:prstDash val="solid"/>
                    </a:lnR>
                    <a:lnB w="9525">
                      <a:solidFill>
                        <a:srgbClr val="B6D4D6"/>
                      </a:solidFill>
                      <a:prstDash val="solid"/>
                    </a:lnB>
                    <a:solidFill>
                      <a:srgbClr val="FFFFFF"/>
                    </a:solidFill>
                  </a:tcPr>
                </a:tc>
              </a:tr>
            </a:tbl>
          </a:graphicData>
        </a:graphic>
      </p:graphicFrame>
      <p:sp>
        <p:nvSpPr>
          <p:cNvPr id="6" name="Footer">
            <a:extLst xmlns:a="http://schemas.openxmlformats.org/drawingml/2006/main">
              <a:ext uri="{FF2B5EF4-FFF2-40B4-BE49-F238E27FC236}">
                <a16:creationId xmlns:a16="http://schemas.microsoft.com/office/drawing/2014/main" id="{0B5563A1-BD2B-488B-BF27-21A1279F7C25}"/>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06 / 31</a:t>
            </a:r>
          </a:p>
        </p:txBody>
      </p:sp>
    </p:spTree>
    <p:extLst>
      <p:ext uri="{BB962C8B-B14F-4D97-AF65-F5344CB8AC3E}">
        <p14:creationId xmlns:p14="http://schemas.microsoft.com/office/powerpoint/2010/main" val="15332813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E340DBB3-045C-4665-A2B2-681E134285FD}"/>
              </a:ext>
            </a:extLst>
          </p:cNvPr>
          <p:cNvPicPr>
            <a:picLocks xmlns:a="http://schemas.openxmlformats.org/drawingml/2006/main" noChangeAspect="1"/>
          </p:cNvPicPr>
          <p:nvPr/>
        </p:nvPicPr>
        <p:blipFill>
          <a:blip xmlns:r="http://schemas.openxmlformats.org/officeDocument/2006/relationships" xmlns:a="http://schemas.openxmlformats.org/drawingml/2006/main" r:embed="Raf7dffea465e434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F07BAECB-20D0-4022-8426-4E634E7D1CC5}"/>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FF98A6DF-0390-469C-B329-C0950065C259}"/>
              </a:ext>
            </a:extLst>
          </p:cNvPr>
          <p:cNvSpPr>
            <a:spLocks xmlns:a="http://schemas.openxmlformats.org/drawingml/2006/main" noGrp="1"/>
          </p:cNvSpPr>
          <p:nvPr/>
        </p:nvSpPr>
        <p:spPr>
          <a:xfrm xmlns:a="http://schemas.openxmlformats.org/drawingml/2006/main">
            <a:off x="609600" y="8572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A clearer request</a:t>
            </a:r>
          </a:p>
        </p:txBody>
      </p:sp>
      <p:sp>
        <p:nvSpPr>
          <p:cNvPr id="4" name="Text">
            <a:extLst xmlns:a="http://schemas.openxmlformats.org/drawingml/2006/main">
              <a:ext uri="{FF2B5EF4-FFF2-40B4-BE49-F238E27FC236}">
                <a16:creationId xmlns:a16="http://schemas.microsoft.com/office/drawing/2014/main" id="{C6B15A1C-BD30-4084-B5C0-25134E85A10C}"/>
              </a:ext>
            </a:extLst>
          </p:cNvPr>
          <p:cNvSpPr>
            <a:spLocks xmlns:a="http://schemas.openxmlformats.org/drawingml/2006/main" noGrp="1"/>
          </p:cNvSpPr>
          <p:nvPr/>
        </p:nvSpPr>
        <p:spPr>
          <a:xfrm xmlns:a="http://schemas.openxmlformats.org/drawingml/2006/main">
            <a:off x="609600" y="15811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E4F66"/>
                </a:solidFill>
                <a:latin typeface="Poppins"/>
                <a:ea typeface="Poppins"/>
                <a:cs typeface="Poppins"/>
              </a:defRPr>
            </a:defPPr>
            <a:lvl1pPr>
              <a:defRPr sz="1875" b="0">
                <a:solidFill>
                  <a:srgbClr val="2E4F66"/>
                </a:solidFill>
                <a:latin typeface="Poppins"/>
                <a:ea typeface="Poppins"/>
                <a:cs typeface="Poppins"/>
              </a:defRPr>
            </a:lvl1pPr>
            <a:lvl2pPr>
              <a:defRPr sz="1875" b="0">
                <a:solidFill>
                  <a:srgbClr val="2E4F66"/>
                </a:solidFill>
                <a:latin typeface="Poppins"/>
                <a:ea typeface="Poppins"/>
                <a:cs typeface="Poppins"/>
              </a:defRPr>
            </a:lvl2pPr>
            <a:lvl3pPr>
              <a:defRPr sz="1875" b="0">
                <a:solidFill>
                  <a:srgbClr val="2E4F66"/>
                </a:solidFill>
                <a:latin typeface="Poppins"/>
                <a:ea typeface="Poppins"/>
                <a:cs typeface="Poppins"/>
              </a:defRPr>
            </a:lvl3pPr>
            <a:lvl4pPr>
              <a:defRPr sz="1875" b="0">
                <a:solidFill>
                  <a:srgbClr val="2E4F66"/>
                </a:solidFill>
                <a:latin typeface="Poppins"/>
                <a:ea typeface="Poppins"/>
                <a:cs typeface="Poppins"/>
              </a:defRPr>
            </a:lvl4pPr>
            <a:lvl5pPr>
              <a:defRPr sz="1875" b="0">
                <a:solidFill>
                  <a:srgbClr val="2E4F66"/>
                </a:solidFill>
                <a:latin typeface="Poppins"/>
                <a:ea typeface="Poppins"/>
                <a:cs typeface="Poppins"/>
              </a:defRPr>
            </a:lvl5pPr>
            <a:lvl6pPr>
              <a:defRPr sz="1875" b="0">
                <a:solidFill>
                  <a:srgbClr val="2E4F66"/>
                </a:solidFill>
                <a:latin typeface="Poppins"/>
                <a:ea typeface="Poppins"/>
                <a:cs typeface="Poppins"/>
              </a:defRPr>
            </a:lvl6pPr>
            <a:lvl7pPr>
              <a:defRPr sz="1875" b="0">
                <a:solidFill>
                  <a:srgbClr val="2E4F66"/>
                </a:solidFill>
                <a:latin typeface="Poppins"/>
                <a:ea typeface="Poppins"/>
                <a:cs typeface="Poppins"/>
              </a:defRPr>
            </a:lvl7pPr>
            <a:lvl8pPr>
              <a:defRPr sz="1875" b="0">
                <a:solidFill>
                  <a:srgbClr val="2E4F66"/>
                </a:solidFill>
                <a:latin typeface="Poppins"/>
                <a:ea typeface="Poppins"/>
                <a:cs typeface="Poppins"/>
              </a:defRPr>
            </a:lvl8pPr>
            <a:lvl9pPr>
              <a:defRPr sz="1875" b="0">
                <a:solidFill>
                  <a:srgbClr val="2E4F66"/>
                </a:solidFill>
                <a:latin typeface="Poppins"/>
                <a:ea typeface="Poppins"/>
                <a:cs typeface="Poppins"/>
              </a:defRPr>
            </a:lvl9pPr>
          </a:lstStyle>
          <a:p xmlns:a="http://schemas.openxmlformats.org/drawingml/2006/main">
            <a:pPr>
              <a:defRPr sz="1875" b="0">
                <a:solidFill>
                  <a:srgbClr val="2E4F66"/>
                </a:solidFill>
                <a:latin typeface="Poppins"/>
                <a:ea typeface="Poppins"/>
                <a:cs typeface="Poppins"/>
              </a:defRPr>
            </a:pPr>
            <a:r>
              <a:rPr sz="1875" b="0">
                <a:solidFill>
                  <a:srgbClr val="2E4F66"/>
                </a:solidFill>
                <a:latin typeface="Poppins"/>
                <a:ea typeface="Poppins"/>
                <a:cs typeface="Poppins"/>
              </a:rPr>
              <a:t>The same job with the useful details included</a:t>
            </a:r>
          </a:p>
        </p:txBody>
      </p:sp>
      <p:pic>
        <p:nvPicPr>
          <p:cNvPr id="5" name="">
            <a:extLst xmlns:a="http://schemas.openxmlformats.org/drawingml/2006/main">
              <a:ext uri="{FF2B5EF4-FFF2-40B4-BE49-F238E27FC236}">
                <a16:creationId xmlns:a16="http://schemas.microsoft.com/office/drawing/2014/main" id="{8840767B-1FB3-4721-B5DE-14F1DC62A44A}"/>
              </a:ext>
            </a:extLst>
          </p:cNvPr>
          <p:cNvPicPr>
            <a:picLocks xmlns:a="http://schemas.openxmlformats.org/drawingml/2006/main" noChangeAspect="1"/>
          </p:cNvPicPr>
          <p:nvPr/>
        </p:nvPicPr>
        <p:blipFill>
          <a:blip xmlns:r="http://schemas.openxmlformats.org/officeDocument/2006/relationships" xmlns:a="http://schemas.openxmlformats.org/drawingml/2006/main" r:embed="R4f27d321f2524fcf"/>
          <a:stretch xmlns:a="http://schemas.openxmlformats.org/drawingml/2006/main"/>
        </p:blipFill>
        <p:spPr>
          <a:xfrm xmlns:a="http://schemas.openxmlformats.org/drawingml/2006/main">
            <a:off x="2524125" y="2047875"/>
            <a:ext cx="7143750" cy="2857500"/>
          </a:xfrm>
          <a:prstGeom xmlns:a="http://schemas.openxmlformats.org/drawingml/2006/main" prst="rect">
            <a:avLst/>
          </a:prstGeom>
        </p:spPr>
      </p:pic>
      <p:sp>
        <p:nvSpPr>
          <p:cNvPr id="6" name="Infographic heading">
            <a:extLst xmlns:a="http://schemas.openxmlformats.org/drawingml/2006/main">
              <a:ext uri="{FF2B5EF4-FFF2-40B4-BE49-F238E27FC236}">
                <a16:creationId xmlns:a16="http://schemas.microsoft.com/office/drawing/2014/main" id="{9DF47118-3BC0-4551-B46B-55BE908864BF}"/>
              </a:ext>
            </a:extLst>
          </p:cNvPr>
          <p:cNvSpPr>
            <a:spLocks xmlns:a="http://schemas.openxmlformats.org/drawingml/2006/main" noGrp="1"/>
          </p:cNvSpPr>
          <p:nvPr/>
        </p:nvSpPr>
        <p:spPr>
          <a:xfrm xmlns:a="http://schemas.openxmlformats.org/drawingml/2006/main">
            <a:off x="7620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Job and audience</a:t>
            </a:r>
          </a:p>
        </p:txBody>
      </p:sp>
      <p:sp>
        <p:nvSpPr>
          <p:cNvPr id="7" name="Infographic explanation">
            <a:extLst xmlns:a="http://schemas.openxmlformats.org/drawingml/2006/main">
              <a:ext uri="{FF2B5EF4-FFF2-40B4-BE49-F238E27FC236}">
                <a16:creationId xmlns:a16="http://schemas.microsoft.com/office/drawing/2014/main" id="{EDEA155B-7B60-4628-A5DE-3263E0A3921C}"/>
              </a:ext>
            </a:extLst>
          </p:cNvPr>
          <p:cNvSpPr>
            <a:spLocks xmlns:a="http://schemas.openxmlformats.org/drawingml/2006/main" noGrp="1"/>
          </p:cNvSpPr>
          <p:nvPr/>
        </p:nvSpPr>
        <p:spPr>
          <a:xfrm xmlns:a="http://schemas.openxmlformats.org/drawingml/2006/main">
            <a:off x="7620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Write a friendly reminder for scholarship applicants.</a:t>
            </a:r>
          </a:p>
        </p:txBody>
      </p:sp>
      <p:sp>
        <p:nvSpPr>
          <p:cNvPr id="8" name="Infographic heading">
            <a:extLst xmlns:a="http://schemas.openxmlformats.org/drawingml/2006/main">
              <a:ext uri="{FF2B5EF4-FFF2-40B4-BE49-F238E27FC236}">
                <a16:creationId xmlns:a16="http://schemas.microsoft.com/office/drawing/2014/main" id="{D84C0F2D-B28B-4344-8D7B-3AE7C215C17B}"/>
              </a:ext>
            </a:extLst>
          </p:cNvPr>
          <p:cNvSpPr>
            <a:spLocks xmlns:a="http://schemas.openxmlformats.org/drawingml/2006/main" noGrp="1"/>
          </p:cNvSpPr>
          <p:nvPr/>
        </p:nvSpPr>
        <p:spPr>
          <a:xfrm xmlns:a="http://schemas.openxmlformats.org/drawingml/2006/main">
            <a:off x="43942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Facts to use</a:t>
            </a:r>
          </a:p>
        </p:txBody>
      </p:sp>
      <p:sp>
        <p:nvSpPr>
          <p:cNvPr id="9" name="Infographic explanation">
            <a:extLst xmlns:a="http://schemas.openxmlformats.org/drawingml/2006/main">
              <a:ext uri="{FF2B5EF4-FFF2-40B4-BE49-F238E27FC236}">
                <a16:creationId xmlns:a16="http://schemas.microsoft.com/office/drawing/2014/main" id="{3E8BD7B6-8CE5-4869-B01C-D8B02CA5A5E0}"/>
              </a:ext>
            </a:extLst>
          </p:cNvPr>
          <p:cNvSpPr>
            <a:spLocks xmlns:a="http://schemas.openxmlformats.org/drawingml/2006/main" noGrp="1"/>
          </p:cNvSpPr>
          <p:nvPr/>
        </p:nvSpPr>
        <p:spPr>
          <a:xfrm xmlns:a="http://schemas.openxmlformats.org/drawingml/2006/main">
            <a:off x="43942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Use only: “Applications close October 1.”</a:t>
            </a:r>
          </a:p>
        </p:txBody>
      </p:sp>
      <p:sp>
        <p:nvSpPr>
          <p:cNvPr id="10" name="Infographic heading">
            <a:extLst xmlns:a="http://schemas.openxmlformats.org/drawingml/2006/main">
              <a:ext uri="{FF2B5EF4-FFF2-40B4-BE49-F238E27FC236}">
                <a16:creationId xmlns:a16="http://schemas.microsoft.com/office/drawing/2014/main" id="{ED8548E0-CCCE-45AE-9507-4DB8F49A100F}"/>
              </a:ext>
            </a:extLst>
          </p:cNvPr>
          <p:cNvSpPr>
            <a:spLocks xmlns:a="http://schemas.openxmlformats.org/drawingml/2006/main" noGrp="1"/>
          </p:cNvSpPr>
          <p:nvPr/>
        </p:nvSpPr>
        <p:spPr>
          <a:xfrm xmlns:a="http://schemas.openxmlformats.org/drawingml/2006/main">
            <a:off x="80264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Format and limits</a:t>
            </a:r>
          </a:p>
        </p:txBody>
      </p:sp>
      <p:sp>
        <p:nvSpPr>
          <p:cNvPr id="11" name="Infographic explanation">
            <a:extLst xmlns:a="http://schemas.openxmlformats.org/drawingml/2006/main">
              <a:ext uri="{FF2B5EF4-FFF2-40B4-BE49-F238E27FC236}">
                <a16:creationId xmlns:a16="http://schemas.microsoft.com/office/drawing/2014/main" id="{1A6A0060-A919-478F-9B57-B8C93EABD65E}"/>
              </a:ext>
            </a:extLst>
          </p:cNvPr>
          <p:cNvSpPr>
            <a:spLocks xmlns:a="http://schemas.openxmlformats.org/drawingml/2006/main" noGrp="1"/>
          </p:cNvSpPr>
          <p:nvPr/>
        </p:nvSpPr>
        <p:spPr>
          <a:xfrm xmlns:a="http://schemas.openxmlformats.org/drawingml/2006/main">
            <a:off x="80264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One sentence. No extra links or promises.</a:t>
            </a:r>
          </a:p>
        </p:txBody>
      </p:sp>
      <p:sp>
        <p:nvSpPr>
          <p:cNvPr id="12" name="Footer">
            <a:extLst xmlns:a="http://schemas.openxmlformats.org/drawingml/2006/main">
              <a:ext uri="{FF2B5EF4-FFF2-40B4-BE49-F238E27FC236}">
                <a16:creationId xmlns:a16="http://schemas.microsoft.com/office/drawing/2014/main" id="{379C65C0-2C83-431D-9A59-60192527A653}"/>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07 / 31</a:t>
            </a:r>
          </a:p>
        </p:txBody>
      </p:sp>
    </p:spTree>
    <p:extLst>
      <p:ext uri="{BB962C8B-B14F-4D97-AF65-F5344CB8AC3E}">
        <p14:creationId xmlns:p14="http://schemas.microsoft.com/office/powerpoint/2010/main" val="205887287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598D2D62-36C7-4883-A495-FE532B9C0D02}"/>
              </a:ext>
            </a:extLst>
          </p:cNvPr>
          <p:cNvPicPr>
            <a:picLocks xmlns:a="http://schemas.openxmlformats.org/drawingml/2006/main" noChangeAspect="1"/>
          </p:cNvPicPr>
          <p:nvPr/>
        </p:nvPicPr>
        <p:blipFill>
          <a:blip xmlns:r="http://schemas.openxmlformats.org/officeDocument/2006/relationships" xmlns:a="http://schemas.openxmlformats.org/drawingml/2006/main" r:embed="Rec62881156994c2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CFE11F9B-ADD0-4E9D-882A-1BF61CDDAEDB}"/>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96BA0078-A7C9-48C1-85FF-1963A3CC4F53}"/>
              </a:ext>
            </a:extLst>
          </p:cNvPr>
          <p:cNvSpPr>
            <a:spLocks xmlns:a="http://schemas.openxmlformats.org/drawingml/2006/main" noGrp="1"/>
          </p:cNvSpPr>
          <p:nvPr/>
        </p:nvSpPr>
        <p:spPr>
          <a:xfrm xmlns:a="http://schemas.openxmlformats.org/drawingml/2006/main">
            <a:off x="609600" y="8572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What a good answer looks like</a:t>
            </a:r>
          </a:p>
        </p:txBody>
      </p:sp>
      <p:sp>
        <p:nvSpPr>
          <p:cNvPr id="4" name="Text">
            <a:extLst xmlns:a="http://schemas.openxmlformats.org/drawingml/2006/main">
              <a:ext uri="{FF2B5EF4-FFF2-40B4-BE49-F238E27FC236}">
                <a16:creationId xmlns:a16="http://schemas.microsoft.com/office/drawing/2014/main" id="{0F697D00-9B0F-4307-86FD-9FE21776238B}"/>
              </a:ext>
            </a:extLst>
          </p:cNvPr>
          <p:cNvSpPr>
            <a:spLocks xmlns:a="http://schemas.openxmlformats.org/drawingml/2006/main" noGrp="1"/>
          </p:cNvSpPr>
          <p:nvPr/>
        </p:nvSpPr>
        <p:spPr>
          <a:xfrm xmlns:a="http://schemas.openxmlformats.org/drawingml/2006/main">
            <a:off x="609600" y="15811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E4F66"/>
                </a:solidFill>
                <a:latin typeface="Poppins"/>
                <a:ea typeface="Poppins"/>
                <a:cs typeface="Poppins"/>
              </a:defRPr>
            </a:defPPr>
            <a:lvl1pPr>
              <a:defRPr sz="1875" b="0">
                <a:solidFill>
                  <a:srgbClr val="2E4F66"/>
                </a:solidFill>
                <a:latin typeface="Poppins"/>
                <a:ea typeface="Poppins"/>
                <a:cs typeface="Poppins"/>
              </a:defRPr>
            </a:lvl1pPr>
            <a:lvl2pPr>
              <a:defRPr sz="1875" b="0">
                <a:solidFill>
                  <a:srgbClr val="2E4F66"/>
                </a:solidFill>
                <a:latin typeface="Poppins"/>
                <a:ea typeface="Poppins"/>
                <a:cs typeface="Poppins"/>
              </a:defRPr>
            </a:lvl2pPr>
            <a:lvl3pPr>
              <a:defRPr sz="1875" b="0">
                <a:solidFill>
                  <a:srgbClr val="2E4F66"/>
                </a:solidFill>
                <a:latin typeface="Poppins"/>
                <a:ea typeface="Poppins"/>
                <a:cs typeface="Poppins"/>
              </a:defRPr>
            </a:lvl3pPr>
            <a:lvl4pPr>
              <a:defRPr sz="1875" b="0">
                <a:solidFill>
                  <a:srgbClr val="2E4F66"/>
                </a:solidFill>
                <a:latin typeface="Poppins"/>
                <a:ea typeface="Poppins"/>
                <a:cs typeface="Poppins"/>
              </a:defRPr>
            </a:lvl4pPr>
            <a:lvl5pPr>
              <a:defRPr sz="1875" b="0">
                <a:solidFill>
                  <a:srgbClr val="2E4F66"/>
                </a:solidFill>
                <a:latin typeface="Poppins"/>
                <a:ea typeface="Poppins"/>
                <a:cs typeface="Poppins"/>
              </a:defRPr>
            </a:lvl5pPr>
            <a:lvl6pPr>
              <a:defRPr sz="1875" b="0">
                <a:solidFill>
                  <a:srgbClr val="2E4F66"/>
                </a:solidFill>
                <a:latin typeface="Poppins"/>
                <a:ea typeface="Poppins"/>
                <a:cs typeface="Poppins"/>
              </a:defRPr>
            </a:lvl6pPr>
            <a:lvl7pPr>
              <a:defRPr sz="1875" b="0">
                <a:solidFill>
                  <a:srgbClr val="2E4F66"/>
                </a:solidFill>
                <a:latin typeface="Poppins"/>
                <a:ea typeface="Poppins"/>
                <a:cs typeface="Poppins"/>
              </a:defRPr>
            </a:lvl7pPr>
            <a:lvl8pPr>
              <a:defRPr sz="1875" b="0">
                <a:solidFill>
                  <a:srgbClr val="2E4F66"/>
                </a:solidFill>
                <a:latin typeface="Poppins"/>
                <a:ea typeface="Poppins"/>
                <a:cs typeface="Poppins"/>
              </a:defRPr>
            </a:lvl8pPr>
            <a:lvl9pPr>
              <a:defRPr sz="1875" b="0">
                <a:solidFill>
                  <a:srgbClr val="2E4F66"/>
                </a:solidFill>
                <a:latin typeface="Poppins"/>
                <a:ea typeface="Poppins"/>
                <a:cs typeface="Poppins"/>
              </a:defRPr>
            </a:lvl9pPr>
          </a:lstStyle>
          <a:p xmlns:a="http://schemas.openxmlformats.org/drawingml/2006/main">
            <a:pPr>
              <a:defRPr sz="1875" b="0">
                <a:solidFill>
                  <a:srgbClr val="2E4F66"/>
                </a:solidFill>
                <a:latin typeface="Poppins"/>
                <a:ea typeface="Poppins"/>
                <a:cs typeface="Poppins"/>
              </a:defRPr>
            </a:pPr>
            <a:r>
              <a:rPr sz="1875" b="0">
                <a:solidFill>
                  <a:srgbClr val="2E4F66"/>
                </a:solidFill>
                <a:latin typeface="Poppins"/>
                <a:ea typeface="Poppins"/>
                <a:cs typeface="Poppins"/>
              </a:rPr>
              <a:t>Evaluation criteria are the checks we choose in advance.</a:t>
            </a:r>
          </a:p>
        </p:txBody>
      </p:sp>
      <p:pic>
        <p:nvPicPr>
          <p:cNvPr id="5" name="">
            <a:extLst xmlns:a="http://schemas.openxmlformats.org/drawingml/2006/main">
              <a:ext uri="{FF2B5EF4-FFF2-40B4-BE49-F238E27FC236}">
                <a16:creationId xmlns:a16="http://schemas.microsoft.com/office/drawing/2014/main" id="{6C438135-81C2-42BA-8338-589EFDE209F9}"/>
              </a:ext>
            </a:extLst>
          </p:cNvPr>
          <p:cNvPicPr>
            <a:picLocks xmlns:a="http://schemas.openxmlformats.org/drawingml/2006/main" noChangeAspect="1"/>
          </p:cNvPicPr>
          <p:nvPr/>
        </p:nvPicPr>
        <p:blipFill>
          <a:blip xmlns:r="http://schemas.openxmlformats.org/officeDocument/2006/relationships" xmlns:a="http://schemas.openxmlformats.org/drawingml/2006/main" r:embed="Rbeca440ae6c34dd4"/>
          <a:stretch xmlns:a="http://schemas.openxmlformats.org/drawingml/2006/main"/>
        </p:blipFill>
        <p:spPr>
          <a:xfrm xmlns:a="http://schemas.openxmlformats.org/drawingml/2006/main">
            <a:off x="1809750" y="2047875"/>
            <a:ext cx="8572500" cy="2857500"/>
          </a:xfrm>
          <a:prstGeom xmlns:a="http://schemas.openxmlformats.org/drawingml/2006/main" prst="rect">
            <a:avLst/>
          </a:prstGeom>
        </p:spPr>
      </p:pic>
      <p:sp>
        <p:nvSpPr>
          <p:cNvPr id="6" name="Infographic heading">
            <a:extLst xmlns:a="http://schemas.openxmlformats.org/drawingml/2006/main">
              <a:ext uri="{FF2B5EF4-FFF2-40B4-BE49-F238E27FC236}">
                <a16:creationId xmlns:a16="http://schemas.microsoft.com/office/drawing/2014/main" id="{BE5E3519-6C15-4BB0-BF59-21D927DA34E0}"/>
              </a:ext>
            </a:extLst>
          </p:cNvPr>
          <p:cNvSpPr>
            <a:spLocks xmlns:a="http://schemas.openxmlformats.org/drawingml/2006/main" noGrp="1"/>
          </p:cNvSpPr>
          <p:nvPr/>
        </p:nvSpPr>
        <p:spPr>
          <a:xfrm xmlns:a="http://schemas.openxmlformats.org/drawingml/2006/main">
            <a:off x="7620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Correct date</a:t>
            </a:r>
          </a:p>
        </p:txBody>
      </p:sp>
      <p:sp>
        <p:nvSpPr>
          <p:cNvPr id="7" name="Infographic explanation">
            <a:extLst xmlns:a="http://schemas.openxmlformats.org/drawingml/2006/main">
              <a:ext uri="{FF2B5EF4-FFF2-40B4-BE49-F238E27FC236}">
                <a16:creationId xmlns:a16="http://schemas.microsoft.com/office/drawing/2014/main" id="{7E126335-9C45-422A-8362-9DCC02A5C7E2}"/>
              </a:ext>
            </a:extLst>
          </p:cNvPr>
          <p:cNvSpPr>
            <a:spLocks xmlns:a="http://schemas.openxmlformats.org/drawingml/2006/main" noGrp="1"/>
          </p:cNvSpPr>
          <p:nvPr/>
        </p:nvSpPr>
        <p:spPr>
          <a:xfrm xmlns:a="http://schemas.openxmlformats.org/drawingml/2006/main">
            <a:off x="7620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October 1 stays unchanged.</a:t>
            </a:r>
          </a:p>
        </p:txBody>
      </p:sp>
      <p:sp>
        <p:nvSpPr>
          <p:cNvPr id="8" name="Infographic heading">
            <a:extLst xmlns:a="http://schemas.openxmlformats.org/drawingml/2006/main">
              <a:ext uri="{FF2B5EF4-FFF2-40B4-BE49-F238E27FC236}">
                <a16:creationId xmlns:a16="http://schemas.microsoft.com/office/drawing/2014/main" id="{D6D485A3-4617-4A29-9450-27302091D970}"/>
              </a:ext>
            </a:extLst>
          </p:cNvPr>
          <p:cNvSpPr>
            <a:spLocks xmlns:a="http://schemas.openxmlformats.org/drawingml/2006/main" noGrp="1"/>
          </p:cNvSpPr>
          <p:nvPr/>
        </p:nvSpPr>
        <p:spPr>
          <a:xfrm xmlns:a="http://schemas.openxmlformats.org/drawingml/2006/main">
            <a:off x="43942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Right format</a:t>
            </a:r>
          </a:p>
        </p:txBody>
      </p:sp>
      <p:sp>
        <p:nvSpPr>
          <p:cNvPr id="9" name="Infographic explanation">
            <a:extLst xmlns:a="http://schemas.openxmlformats.org/drawingml/2006/main">
              <a:ext uri="{FF2B5EF4-FFF2-40B4-BE49-F238E27FC236}">
                <a16:creationId xmlns:a16="http://schemas.microsoft.com/office/drawing/2014/main" id="{DAFD7785-7F49-4DB2-95E6-146349A99A93}"/>
              </a:ext>
            </a:extLst>
          </p:cNvPr>
          <p:cNvSpPr>
            <a:spLocks xmlns:a="http://schemas.openxmlformats.org/drawingml/2006/main" noGrp="1"/>
          </p:cNvSpPr>
          <p:nvPr/>
        </p:nvSpPr>
        <p:spPr>
          <a:xfrm xmlns:a="http://schemas.openxmlformats.org/drawingml/2006/main">
            <a:off x="43942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The answer is one sentence.</a:t>
            </a:r>
          </a:p>
        </p:txBody>
      </p:sp>
      <p:sp>
        <p:nvSpPr>
          <p:cNvPr id="10" name="Infographic heading">
            <a:extLst xmlns:a="http://schemas.openxmlformats.org/drawingml/2006/main">
              <a:ext uri="{FF2B5EF4-FFF2-40B4-BE49-F238E27FC236}">
                <a16:creationId xmlns:a16="http://schemas.microsoft.com/office/drawing/2014/main" id="{01CF1DA6-4115-49B1-A7B0-84C1BCC0C795}"/>
              </a:ext>
            </a:extLst>
          </p:cNvPr>
          <p:cNvSpPr>
            <a:spLocks xmlns:a="http://schemas.openxmlformats.org/drawingml/2006/main" noGrp="1"/>
          </p:cNvSpPr>
          <p:nvPr/>
        </p:nvSpPr>
        <p:spPr>
          <a:xfrm xmlns:a="http://schemas.openxmlformats.org/drawingml/2006/main">
            <a:off x="80264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No added facts</a:t>
            </a:r>
          </a:p>
        </p:txBody>
      </p:sp>
      <p:sp>
        <p:nvSpPr>
          <p:cNvPr id="11" name="Infographic explanation">
            <a:extLst xmlns:a="http://schemas.openxmlformats.org/drawingml/2006/main">
              <a:ext uri="{FF2B5EF4-FFF2-40B4-BE49-F238E27FC236}">
                <a16:creationId xmlns:a16="http://schemas.microsoft.com/office/drawing/2014/main" id="{8F15CC04-C407-4E72-AF47-4A72689F5742}"/>
              </a:ext>
            </a:extLst>
          </p:cNvPr>
          <p:cNvSpPr>
            <a:spLocks xmlns:a="http://schemas.openxmlformats.org/drawingml/2006/main" noGrp="1"/>
          </p:cNvSpPr>
          <p:nvPr/>
        </p:nvSpPr>
        <p:spPr>
          <a:xfrm xmlns:a="http://schemas.openxmlformats.org/drawingml/2006/main">
            <a:off x="80264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No extra rules, links, or promises.</a:t>
            </a:r>
          </a:p>
        </p:txBody>
      </p:sp>
      <p:sp>
        <p:nvSpPr>
          <p:cNvPr id="12" name="Footer">
            <a:extLst xmlns:a="http://schemas.openxmlformats.org/drawingml/2006/main">
              <a:ext uri="{FF2B5EF4-FFF2-40B4-BE49-F238E27FC236}">
                <a16:creationId xmlns:a16="http://schemas.microsoft.com/office/drawing/2014/main" id="{A155CEC6-2E7F-4DD1-93BD-5CD0FAB22A69}"/>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08 / 31</a:t>
            </a:r>
          </a:p>
        </p:txBody>
      </p:sp>
    </p:spTree>
    <p:extLst>
      <p:ext uri="{BB962C8B-B14F-4D97-AF65-F5344CB8AC3E}">
        <p14:creationId xmlns:p14="http://schemas.microsoft.com/office/powerpoint/2010/main" val="20219801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2552804B-DEA8-45B2-9DCB-91E632059C19}"/>
              </a:ext>
            </a:extLst>
          </p:cNvPr>
          <p:cNvPicPr>
            <a:picLocks xmlns:a="http://schemas.openxmlformats.org/drawingml/2006/main" noChangeAspect="1"/>
          </p:cNvPicPr>
          <p:nvPr/>
        </p:nvPicPr>
        <p:blipFill>
          <a:blip xmlns:r="http://schemas.openxmlformats.org/officeDocument/2006/relationships" xmlns:a="http://schemas.openxmlformats.org/drawingml/2006/main" r:embed="Rbed5689fa6d447d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889FF204-F98F-46E5-A4C7-2097D6945A34}"/>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8966F1EA-8114-40D4-B582-2A1AF195E7AD}"/>
              </a:ext>
            </a:extLst>
          </p:cNvPr>
          <p:cNvSpPr>
            <a:spLocks xmlns:a="http://schemas.openxmlformats.org/drawingml/2006/main" noGrp="1"/>
          </p:cNvSpPr>
          <p:nvPr/>
        </p:nvSpPr>
        <p:spPr>
          <a:xfrm xmlns:a="http://schemas.openxmlformats.org/drawingml/2006/main">
            <a:off x="609600" y="85725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Improving a request</a:t>
            </a:r>
          </a:p>
        </p:txBody>
      </p:sp>
      <p:sp>
        <p:nvSpPr>
          <p:cNvPr id="4" name="Text">
            <a:extLst xmlns:a="http://schemas.openxmlformats.org/drawingml/2006/main">
              <a:ext uri="{FF2B5EF4-FFF2-40B4-BE49-F238E27FC236}">
                <a16:creationId xmlns:a16="http://schemas.microsoft.com/office/drawing/2014/main" id="{C5601BB7-3BFD-4B44-960D-A8F22D01645B}"/>
              </a:ext>
            </a:extLst>
          </p:cNvPr>
          <p:cNvSpPr>
            <a:spLocks xmlns:a="http://schemas.openxmlformats.org/drawingml/2006/main" noGrp="1"/>
          </p:cNvSpPr>
          <p:nvPr/>
        </p:nvSpPr>
        <p:spPr>
          <a:xfrm xmlns:a="http://schemas.openxmlformats.org/drawingml/2006/main">
            <a:off x="609600" y="1809750"/>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E4F66"/>
                </a:solidFill>
                <a:latin typeface="Poppins"/>
                <a:ea typeface="Poppins"/>
                <a:cs typeface="Poppins"/>
              </a:defRPr>
            </a:defPPr>
            <a:lvl1pPr>
              <a:defRPr sz="2025" b="0">
                <a:solidFill>
                  <a:srgbClr val="2E4F66"/>
                </a:solidFill>
                <a:latin typeface="Poppins"/>
                <a:ea typeface="Poppins"/>
                <a:cs typeface="Poppins"/>
              </a:defRPr>
            </a:lvl1pPr>
            <a:lvl2pPr>
              <a:defRPr sz="2025" b="0">
                <a:solidFill>
                  <a:srgbClr val="2E4F66"/>
                </a:solidFill>
                <a:latin typeface="Poppins"/>
                <a:ea typeface="Poppins"/>
                <a:cs typeface="Poppins"/>
              </a:defRPr>
            </a:lvl2pPr>
            <a:lvl3pPr>
              <a:defRPr sz="2025" b="0">
                <a:solidFill>
                  <a:srgbClr val="2E4F66"/>
                </a:solidFill>
                <a:latin typeface="Poppins"/>
                <a:ea typeface="Poppins"/>
                <a:cs typeface="Poppins"/>
              </a:defRPr>
            </a:lvl3pPr>
            <a:lvl4pPr>
              <a:defRPr sz="2025" b="0">
                <a:solidFill>
                  <a:srgbClr val="2E4F66"/>
                </a:solidFill>
                <a:latin typeface="Poppins"/>
                <a:ea typeface="Poppins"/>
                <a:cs typeface="Poppins"/>
              </a:defRPr>
            </a:lvl4pPr>
            <a:lvl5pPr>
              <a:defRPr sz="2025" b="0">
                <a:solidFill>
                  <a:srgbClr val="2E4F66"/>
                </a:solidFill>
                <a:latin typeface="Poppins"/>
                <a:ea typeface="Poppins"/>
                <a:cs typeface="Poppins"/>
              </a:defRPr>
            </a:lvl5pPr>
            <a:lvl6pPr>
              <a:defRPr sz="2025" b="0">
                <a:solidFill>
                  <a:srgbClr val="2E4F66"/>
                </a:solidFill>
                <a:latin typeface="Poppins"/>
                <a:ea typeface="Poppins"/>
                <a:cs typeface="Poppins"/>
              </a:defRPr>
            </a:lvl6pPr>
            <a:lvl7pPr>
              <a:defRPr sz="2025" b="0">
                <a:solidFill>
                  <a:srgbClr val="2E4F66"/>
                </a:solidFill>
                <a:latin typeface="Poppins"/>
                <a:ea typeface="Poppins"/>
                <a:cs typeface="Poppins"/>
              </a:defRPr>
            </a:lvl7pPr>
            <a:lvl8pPr>
              <a:defRPr sz="2025" b="0">
                <a:solidFill>
                  <a:srgbClr val="2E4F66"/>
                </a:solidFill>
                <a:latin typeface="Poppins"/>
                <a:ea typeface="Poppins"/>
                <a:cs typeface="Poppins"/>
              </a:defRPr>
            </a:lvl8pPr>
            <a:lvl9pPr>
              <a:defRPr sz="2025" b="0">
                <a:solidFill>
                  <a:srgbClr val="2E4F66"/>
                </a:solidFill>
                <a:latin typeface="Poppins"/>
                <a:ea typeface="Poppins"/>
                <a:cs typeface="Poppins"/>
              </a:defRPr>
            </a:lvl9pPr>
          </a:lstStyle>
          <a:p xmlns:a="http://schemas.openxmlformats.org/drawingml/2006/main">
            <a:pPr>
              <a:defRPr sz="2025" b="0">
                <a:solidFill>
                  <a:srgbClr val="2E4F66"/>
                </a:solidFill>
                <a:latin typeface="Poppins"/>
                <a:ea typeface="Poppins"/>
                <a:cs typeface="Poppins"/>
              </a:defRPr>
            </a:pPr>
            <a:r>
              <a:rPr sz="2025" b="0">
                <a:solidFill>
                  <a:srgbClr val="2E4F66"/>
                </a:solidFill>
                <a:latin typeface="Poppins"/>
                <a:ea typeface="Poppins"/>
                <a:cs typeface="Poppins"/>
              </a:rPr>
              <a:t>A short practice cycle</a:t>
            </a:r>
          </a:p>
        </p:txBody>
      </p:sp>
      <p:graphicFrame>
        <p:nvGraphicFramePr>
          <p:cNvPr id="5" name="">
            <a:extLst xmlns:a="http://schemas.openxmlformats.org/drawingml/2006/main">
              <a:ext uri="{FF2B5EF4-FFF2-40B4-BE49-F238E27FC236}">
                <a16:creationId xmlns:a16="http://schemas.microsoft.com/office/drawing/2014/main" id="{B9025BB2-C7C2-4A7D-9655-7E8AA3471FAC}"/>
              </a:ext>
            </a:extLst>
          </p:cNvPr>
          <p:cNvGraphicFramePr/>
          <p:nvPr/>
        </p:nvGraphicFramePr>
        <p:xfrm>
          <a:off xmlns:a="http://schemas.openxmlformats.org/drawingml/2006/main" x="609600" y="2428875"/>
          <a:ext xmlns:a="http://schemas.openxmlformats.org/drawingml/2006/main" cx="10972800" cy="3143250"/>
        </p:xfrm>
        <a:graphic xmlns:a="http://schemas.openxmlformats.org/drawingml/2006/main">
          <a:graphicData uri="http://schemas.openxmlformats.org/drawingml/2006/table">
            <a:tbl>
              <a:tblPr firstRow="1" bandRow="0"/>
              <a:tblGrid>
                <a:gridCol w="2571750"/>
                <a:gridCol w="8401050"/>
              </a:tblGrid>
              <a:tr h="628650">
                <a:tc>
                  <a:txBody>
                    <a:bodyPr/>
                    <a:lstStyle/>
                    <a:p>
                      <a:r>
                        <a:rPr sz="1800" b="1">
                          <a:solidFill>
                            <a:srgbClr val="FFFFFF"/>
                          </a:solidFill>
                          <a:latin typeface="Poppins"/>
                          <a:ea typeface="Poppins"/>
                          <a:cs typeface="Poppins"/>
                        </a:rPr>
                        <a:t>Step</a:t>
                      </a:r>
                    </a:p>
                  </a:txBody>
                  <a:tcPr marL="133350" marR="133350" marT="85725" marB="85725" anchor="t">
                    <a:lnL w="9525">
                      <a:solidFill>
                        <a:srgbClr val="B6D4D6"/>
                      </a:solidFill>
                      <a:prstDash val="solid"/>
                    </a:lnL>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c>
                  <a:txBody>
                    <a:bodyPr/>
                    <a:lstStyle/>
                    <a:p>
                      <a:r>
                        <a:rPr sz="1800" b="1">
                          <a:solidFill>
                            <a:srgbClr val="FFFFFF"/>
                          </a:solidFill>
                          <a:latin typeface="Poppins"/>
                          <a:ea typeface="Poppins"/>
                          <a:cs typeface="Poppins"/>
                        </a:rPr>
                        <a:t>What I do</a:t>
                      </a:r>
                    </a:p>
                  </a:txBody>
                  <a:tcPr marL="133350" marR="133350" marT="85725" marB="85725" anchor="t">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r>
              <a:tr h="628650">
                <a:tc>
                  <a:txBody>
                    <a:bodyPr/>
                    <a:lstStyle/>
                    <a:p>
                      <a:r>
                        <a:rPr sz="1800" b="0">
                          <a:solidFill>
                            <a:srgbClr val="2E4F66"/>
                          </a:solidFill>
                          <a:latin typeface="Poppins"/>
                          <a:ea typeface="Poppins"/>
                          <a:cs typeface="Poppins"/>
                        </a:rPr>
                        <a:t>1. Choose the task</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Name one result I need</a:t>
                      </a:r>
                    </a:p>
                  </a:txBody>
                  <a:tcPr marL="133350" marR="133350" marT="85725" marB="85725" anchor="t">
                    <a:lnR w="9525">
                      <a:solidFill>
                        <a:srgbClr val="B6D4D6"/>
                      </a:solidFill>
                      <a:prstDash val="solid"/>
                    </a:lnR>
                    <a:lnB w="9525">
                      <a:solidFill>
                        <a:srgbClr val="B6D4D6"/>
                      </a:solidFill>
                      <a:prstDash val="solid"/>
                    </a:lnB>
                    <a:solidFill>
                      <a:srgbClr val="F0F8F8"/>
                    </a:solidFill>
                  </a:tcPr>
                </a:tc>
              </a:tr>
              <a:tr h="628650">
                <a:tc>
                  <a:txBody>
                    <a:bodyPr/>
                    <a:lstStyle/>
                    <a:p>
                      <a:r>
                        <a:rPr sz="1800" b="0">
                          <a:solidFill>
                            <a:srgbClr val="2E4F66"/>
                          </a:solidFill>
                          <a:latin typeface="Poppins"/>
                          <a:ea typeface="Poppins"/>
                          <a:cs typeface="Poppins"/>
                        </a:rPr>
                        <a:t>2. Write a request</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FFFFF"/>
                    </a:solidFill>
                  </a:tcPr>
                </a:tc>
                <a:tc>
                  <a:txBody>
                    <a:bodyPr/>
                    <a:lstStyle/>
                    <a:p>
                      <a:r>
                        <a:rPr sz="1800" b="0">
                          <a:solidFill>
                            <a:srgbClr val="2E4F66"/>
                          </a:solidFill>
                          <a:latin typeface="Poppins"/>
                          <a:ea typeface="Poppins"/>
                          <a:cs typeface="Poppins"/>
                        </a:rPr>
                        <a:t>Add the facts and limits that matter</a:t>
                      </a:r>
                    </a:p>
                  </a:txBody>
                  <a:tcPr marL="133350" marR="133350" marT="85725" marB="85725" anchor="t">
                    <a:lnR w="9525">
                      <a:solidFill>
                        <a:srgbClr val="B6D4D6"/>
                      </a:solidFill>
                      <a:prstDash val="solid"/>
                    </a:lnR>
                    <a:lnB w="9525">
                      <a:solidFill>
                        <a:srgbClr val="B6D4D6"/>
                      </a:solidFill>
                      <a:prstDash val="solid"/>
                    </a:lnB>
                    <a:solidFill>
                      <a:srgbClr val="FFFFFF"/>
                    </a:solidFill>
                  </a:tcPr>
                </a:tc>
              </a:tr>
              <a:tr h="628650">
                <a:tc>
                  <a:txBody>
                    <a:bodyPr/>
                    <a:lstStyle/>
                    <a:p>
                      <a:r>
                        <a:rPr sz="1800" b="0">
                          <a:solidFill>
                            <a:srgbClr val="2E4F66"/>
                          </a:solidFill>
                          <a:latin typeface="Poppins"/>
                          <a:ea typeface="Poppins"/>
                          <a:cs typeface="Poppins"/>
                        </a:rPr>
                        <a:t>3. Try and check</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Compare the answer with my checks</a:t>
                      </a:r>
                    </a:p>
                  </a:txBody>
                  <a:tcPr marL="133350" marR="133350" marT="85725" marB="85725" anchor="t">
                    <a:lnR w="9525">
                      <a:solidFill>
                        <a:srgbClr val="B6D4D6"/>
                      </a:solidFill>
                      <a:prstDash val="solid"/>
                    </a:lnR>
                    <a:lnB w="9525">
                      <a:solidFill>
                        <a:srgbClr val="B6D4D6"/>
                      </a:solidFill>
                      <a:prstDash val="solid"/>
                    </a:lnB>
                    <a:solidFill>
                      <a:srgbClr val="F0F8F8"/>
                    </a:solidFill>
                  </a:tcPr>
                </a:tc>
              </a:tr>
              <a:tr h="628650">
                <a:tc>
                  <a:txBody>
                    <a:bodyPr/>
                    <a:lstStyle/>
                    <a:p>
                      <a:r>
                        <a:rPr sz="1800" b="0">
                          <a:solidFill>
                            <a:srgbClr val="2E4F66"/>
                          </a:solidFill>
                          <a:latin typeface="Poppins"/>
                          <a:ea typeface="Poppins"/>
                          <a:cs typeface="Poppins"/>
                        </a:rPr>
                        <a:t>4. Improve and save</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FFFFF"/>
                    </a:solidFill>
                  </a:tcPr>
                </a:tc>
                <a:tc>
                  <a:txBody>
                    <a:bodyPr/>
                    <a:lstStyle/>
                    <a:p>
                      <a:r>
                        <a:rPr sz="1800" b="0">
                          <a:solidFill>
                            <a:srgbClr val="2E4F66"/>
                          </a:solidFill>
                          <a:latin typeface="Poppins"/>
                          <a:ea typeface="Poppins"/>
                          <a:cs typeface="Poppins"/>
                        </a:rPr>
                        <a:t>Fix a problem; keep the useful request</a:t>
                      </a:r>
                    </a:p>
                  </a:txBody>
                  <a:tcPr marL="133350" marR="133350" marT="85725" marB="85725" anchor="t">
                    <a:lnR w="9525">
                      <a:solidFill>
                        <a:srgbClr val="B6D4D6"/>
                      </a:solidFill>
                      <a:prstDash val="solid"/>
                    </a:lnR>
                    <a:lnB w="9525">
                      <a:solidFill>
                        <a:srgbClr val="B6D4D6"/>
                      </a:solidFill>
                      <a:prstDash val="solid"/>
                    </a:lnB>
                    <a:solidFill>
                      <a:srgbClr val="FFFFFF"/>
                    </a:solidFill>
                  </a:tcPr>
                </a:tc>
              </a:tr>
            </a:tbl>
          </a:graphicData>
        </a:graphic>
      </p:graphicFrame>
      <p:sp>
        <p:nvSpPr>
          <p:cNvPr id="6" name="Footer">
            <a:extLst xmlns:a="http://schemas.openxmlformats.org/drawingml/2006/main">
              <a:ext uri="{FF2B5EF4-FFF2-40B4-BE49-F238E27FC236}">
                <a16:creationId xmlns:a16="http://schemas.microsoft.com/office/drawing/2014/main" id="{E2C57D0C-AE49-419C-97E5-A137F400E8A5}"/>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09 / 31</a:t>
            </a:r>
          </a:p>
        </p:txBody>
      </p:sp>
    </p:spTree>
    <p:extLst>
      <p:ext uri="{BB962C8B-B14F-4D97-AF65-F5344CB8AC3E}">
        <p14:creationId xmlns:p14="http://schemas.microsoft.com/office/powerpoint/2010/main" val="1437851461"/>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1BDA2554-7D1F-4D04-A599-8ED20A8ECD8D}"/>
              </a:ext>
            </a:extLst>
          </p:cNvPr>
          <p:cNvPicPr>
            <a:picLocks xmlns:a="http://schemas.openxmlformats.org/drawingml/2006/main" noChangeAspect="1"/>
          </p:cNvPicPr>
          <p:nvPr/>
        </p:nvPicPr>
        <p:blipFill>
          <a:blip xmlns:r="http://schemas.openxmlformats.org/officeDocument/2006/relationships" xmlns:a="http://schemas.openxmlformats.org/drawingml/2006/main" r:embed="Rb533359851ef475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4FE64798-D680-4BA3-A24C-AFA4BA3D734E}"/>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91A96367-50BB-4A95-85EB-C99D9C0CF395}"/>
              </a:ext>
            </a:extLst>
          </p:cNvPr>
          <p:cNvSpPr>
            <a:spLocks xmlns:a="http://schemas.openxmlformats.org/drawingml/2006/main" noGrp="1"/>
          </p:cNvSpPr>
          <p:nvPr/>
        </p:nvSpPr>
        <p:spPr>
          <a:xfrm xmlns:a="http://schemas.openxmlformats.org/drawingml/2006/main">
            <a:off x="609600" y="8572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Examples and follow-up requests</a:t>
            </a:r>
          </a:p>
        </p:txBody>
      </p:sp>
      <p:sp>
        <p:nvSpPr>
          <p:cNvPr id="4" name="Text">
            <a:extLst xmlns:a="http://schemas.openxmlformats.org/drawingml/2006/main">
              <a:ext uri="{FF2B5EF4-FFF2-40B4-BE49-F238E27FC236}">
                <a16:creationId xmlns:a16="http://schemas.microsoft.com/office/drawing/2014/main" id="{10ED92FE-8BD3-49DA-B016-1FFFB61A7678}"/>
              </a:ext>
            </a:extLst>
          </p:cNvPr>
          <p:cNvSpPr>
            <a:spLocks xmlns:a="http://schemas.openxmlformats.org/drawingml/2006/main" noGrp="1"/>
          </p:cNvSpPr>
          <p:nvPr/>
        </p:nvSpPr>
        <p:spPr>
          <a:xfrm xmlns:a="http://schemas.openxmlformats.org/drawingml/2006/main">
            <a:off x="609600" y="15811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E4F66"/>
                </a:solidFill>
                <a:latin typeface="Poppins"/>
                <a:ea typeface="Poppins"/>
                <a:cs typeface="Poppins"/>
              </a:defRPr>
            </a:defPPr>
            <a:lvl1pPr>
              <a:defRPr sz="1875" b="0">
                <a:solidFill>
                  <a:srgbClr val="2E4F66"/>
                </a:solidFill>
                <a:latin typeface="Poppins"/>
                <a:ea typeface="Poppins"/>
                <a:cs typeface="Poppins"/>
              </a:defRPr>
            </a:lvl1pPr>
            <a:lvl2pPr>
              <a:defRPr sz="1875" b="0">
                <a:solidFill>
                  <a:srgbClr val="2E4F66"/>
                </a:solidFill>
                <a:latin typeface="Poppins"/>
                <a:ea typeface="Poppins"/>
                <a:cs typeface="Poppins"/>
              </a:defRPr>
            </a:lvl2pPr>
            <a:lvl3pPr>
              <a:defRPr sz="1875" b="0">
                <a:solidFill>
                  <a:srgbClr val="2E4F66"/>
                </a:solidFill>
                <a:latin typeface="Poppins"/>
                <a:ea typeface="Poppins"/>
                <a:cs typeface="Poppins"/>
              </a:defRPr>
            </a:lvl3pPr>
            <a:lvl4pPr>
              <a:defRPr sz="1875" b="0">
                <a:solidFill>
                  <a:srgbClr val="2E4F66"/>
                </a:solidFill>
                <a:latin typeface="Poppins"/>
                <a:ea typeface="Poppins"/>
                <a:cs typeface="Poppins"/>
              </a:defRPr>
            </a:lvl4pPr>
            <a:lvl5pPr>
              <a:defRPr sz="1875" b="0">
                <a:solidFill>
                  <a:srgbClr val="2E4F66"/>
                </a:solidFill>
                <a:latin typeface="Poppins"/>
                <a:ea typeface="Poppins"/>
                <a:cs typeface="Poppins"/>
              </a:defRPr>
            </a:lvl5pPr>
            <a:lvl6pPr>
              <a:defRPr sz="1875" b="0">
                <a:solidFill>
                  <a:srgbClr val="2E4F66"/>
                </a:solidFill>
                <a:latin typeface="Poppins"/>
                <a:ea typeface="Poppins"/>
                <a:cs typeface="Poppins"/>
              </a:defRPr>
            </a:lvl6pPr>
            <a:lvl7pPr>
              <a:defRPr sz="1875" b="0">
                <a:solidFill>
                  <a:srgbClr val="2E4F66"/>
                </a:solidFill>
                <a:latin typeface="Poppins"/>
                <a:ea typeface="Poppins"/>
                <a:cs typeface="Poppins"/>
              </a:defRPr>
            </a:lvl7pPr>
            <a:lvl8pPr>
              <a:defRPr sz="1875" b="0">
                <a:solidFill>
                  <a:srgbClr val="2E4F66"/>
                </a:solidFill>
                <a:latin typeface="Poppins"/>
                <a:ea typeface="Poppins"/>
                <a:cs typeface="Poppins"/>
              </a:defRPr>
            </a:lvl8pPr>
            <a:lvl9pPr>
              <a:defRPr sz="1875" b="0">
                <a:solidFill>
                  <a:srgbClr val="2E4F66"/>
                </a:solidFill>
                <a:latin typeface="Poppins"/>
                <a:ea typeface="Poppins"/>
                <a:cs typeface="Poppins"/>
              </a:defRPr>
            </a:lvl9pPr>
          </a:lstStyle>
          <a:p xmlns:a="http://schemas.openxmlformats.org/drawingml/2006/main">
            <a:pPr>
              <a:defRPr sz="1875" b="0">
                <a:solidFill>
                  <a:srgbClr val="2E4F66"/>
                </a:solidFill>
                <a:latin typeface="Poppins"/>
                <a:ea typeface="Poppins"/>
                <a:cs typeface="Poppins"/>
              </a:defRPr>
            </a:pPr>
            <a:r>
              <a:rPr sz="1875" b="0">
                <a:solidFill>
                  <a:srgbClr val="2E4F66"/>
                </a:solidFill>
                <a:latin typeface="Poppins"/>
                <a:ea typeface="Poppins"/>
                <a:cs typeface="Poppins"/>
              </a:rPr>
              <a:t>You can show the style you want and ask for a change.</a:t>
            </a:r>
          </a:p>
        </p:txBody>
      </p:sp>
      <p:pic>
        <p:nvPicPr>
          <p:cNvPr id="5" name="">
            <a:extLst xmlns:a="http://schemas.openxmlformats.org/drawingml/2006/main">
              <a:ext uri="{FF2B5EF4-FFF2-40B4-BE49-F238E27FC236}">
                <a16:creationId xmlns:a16="http://schemas.microsoft.com/office/drawing/2014/main" id="{66A7C2AC-CD8F-4104-BF74-79CEF16CE3CD}"/>
              </a:ext>
            </a:extLst>
          </p:cNvPr>
          <p:cNvPicPr>
            <a:picLocks xmlns:a="http://schemas.openxmlformats.org/drawingml/2006/main" noChangeAspect="1"/>
          </p:cNvPicPr>
          <p:nvPr/>
        </p:nvPicPr>
        <p:blipFill>
          <a:blip xmlns:r="http://schemas.openxmlformats.org/officeDocument/2006/relationships" xmlns:a="http://schemas.openxmlformats.org/drawingml/2006/main" r:embed="R9838013fdfa144a5"/>
          <a:stretch xmlns:a="http://schemas.openxmlformats.org/drawingml/2006/main"/>
        </p:blipFill>
        <p:spPr>
          <a:xfrm xmlns:a="http://schemas.openxmlformats.org/drawingml/2006/main">
            <a:off x="1809750" y="2047875"/>
            <a:ext cx="8572500" cy="2857500"/>
          </a:xfrm>
          <a:prstGeom xmlns:a="http://schemas.openxmlformats.org/drawingml/2006/main" prst="rect">
            <a:avLst/>
          </a:prstGeom>
        </p:spPr>
      </p:pic>
      <p:sp>
        <p:nvSpPr>
          <p:cNvPr id="6" name="Infographic heading">
            <a:extLst xmlns:a="http://schemas.openxmlformats.org/drawingml/2006/main">
              <a:ext uri="{FF2B5EF4-FFF2-40B4-BE49-F238E27FC236}">
                <a16:creationId xmlns:a16="http://schemas.microsoft.com/office/drawing/2014/main" id="{6ED71EFF-4B7B-4D78-A33D-32750C781DD0}"/>
              </a:ext>
            </a:extLst>
          </p:cNvPr>
          <p:cNvSpPr>
            <a:spLocks xmlns:a="http://schemas.openxmlformats.org/drawingml/2006/main" noGrp="1"/>
          </p:cNvSpPr>
          <p:nvPr/>
        </p:nvSpPr>
        <p:spPr>
          <a:xfrm xmlns:a="http://schemas.openxmlformats.org/drawingml/2006/main">
            <a:off x="7620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Show an example</a:t>
            </a:r>
          </a:p>
        </p:txBody>
      </p:sp>
      <p:sp>
        <p:nvSpPr>
          <p:cNvPr id="7" name="Infographic explanation">
            <a:extLst xmlns:a="http://schemas.openxmlformats.org/drawingml/2006/main">
              <a:ext uri="{FF2B5EF4-FFF2-40B4-BE49-F238E27FC236}">
                <a16:creationId xmlns:a16="http://schemas.microsoft.com/office/drawing/2014/main" id="{98204AF6-28C8-48C4-A5CB-06B57EB5DCBF}"/>
              </a:ext>
            </a:extLst>
          </p:cNvPr>
          <p:cNvSpPr>
            <a:spLocks xmlns:a="http://schemas.openxmlformats.org/drawingml/2006/main" noGrp="1"/>
          </p:cNvSpPr>
          <p:nvPr/>
        </p:nvSpPr>
        <p:spPr>
          <a:xfrm xmlns:a="http://schemas.openxmlformats.org/drawingml/2006/main">
            <a:off x="7620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An example makes the style you want clearer.</a:t>
            </a:r>
          </a:p>
        </p:txBody>
      </p:sp>
      <p:sp>
        <p:nvSpPr>
          <p:cNvPr id="8" name="Infographic heading">
            <a:extLst xmlns:a="http://schemas.openxmlformats.org/drawingml/2006/main">
              <a:ext uri="{FF2B5EF4-FFF2-40B4-BE49-F238E27FC236}">
                <a16:creationId xmlns:a16="http://schemas.microsoft.com/office/drawing/2014/main" id="{DBBAA33A-8203-437A-8CA4-9C38542573E6}"/>
              </a:ext>
            </a:extLst>
          </p:cNvPr>
          <p:cNvSpPr>
            <a:spLocks xmlns:a="http://schemas.openxmlformats.org/drawingml/2006/main" noGrp="1"/>
          </p:cNvSpPr>
          <p:nvPr/>
        </p:nvSpPr>
        <p:spPr>
          <a:xfrm xmlns:a="http://schemas.openxmlformats.org/drawingml/2006/main">
            <a:off x="43942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Ask for a change</a:t>
            </a:r>
          </a:p>
        </p:txBody>
      </p:sp>
      <p:sp>
        <p:nvSpPr>
          <p:cNvPr id="9" name="Infographic explanation">
            <a:extLst xmlns:a="http://schemas.openxmlformats.org/drawingml/2006/main">
              <a:ext uri="{FF2B5EF4-FFF2-40B4-BE49-F238E27FC236}">
                <a16:creationId xmlns:a16="http://schemas.microsoft.com/office/drawing/2014/main" id="{FBEC668D-0C00-48DF-A694-864850841A55}"/>
              </a:ext>
            </a:extLst>
          </p:cNvPr>
          <p:cNvSpPr>
            <a:spLocks xmlns:a="http://schemas.openxmlformats.org/drawingml/2006/main" noGrp="1"/>
          </p:cNvSpPr>
          <p:nvPr/>
        </p:nvSpPr>
        <p:spPr>
          <a:xfrm xmlns:a="http://schemas.openxmlformats.org/drawingml/2006/main">
            <a:off x="43942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“Make it warmer. Keep one sentence.”</a:t>
            </a:r>
          </a:p>
        </p:txBody>
      </p:sp>
      <p:sp>
        <p:nvSpPr>
          <p:cNvPr id="10" name="Infographic heading">
            <a:extLst xmlns:a="http://schemas.openxmlformats.org/drawingml/2006/main">
              <a:ext uri="{FF2B5EF4-FFF2-40B4-BE49-F238E27FC236}">
                <a16:creationId xmlns:a16="http://schemas.microsoft.com/office/drawing/2014/main" id="{7DE70E04-E4EE-489A-B60B-287BD6409AFF}"/>
              </a:ext>
            </a:extLst>
          </p:cNvPr>
          <p:cNvSpPr>
            <a:spLocks xmlns:a="http://schemas.openxmlformats.org/drawingml/2006/main" noGrp="1"/>
          </p:cNvSpPr>
          <p:nvPr/>
        </p:nvSpPr>
        <p:spPr>
          <a:xfrm xmlns:a="http://schemas.openxmlformats.org/drawingml/2006/main">
            <a:off x="80264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Keep the facts</a:t>
            </a:r>
          </a:p>
        </p:txBody>
      </p:sp>
      <p:sp>
        <p:nvSpPr>
          <p:cNvPr id="11" name="Infographic explanation">
            <a:extLst xmlns:a="http://schemas.openxmlformats.org/drawingml/2006/main">
              <a:ext uri="{FF2B5EF4-FFF2-40B4-BE49-F238E27FC236}">
                <a16:creationId xmlns:a16="http://schemas.microsoft.com/office/drawing/2014/main" id="{922795F4-AC96-4C27-B4DD-145DC5C93631}"/>
              </a:ext>
            </a:extLst>
          </p:cNvPr>
          <p:cNvSpPr>
            <a:spLocks xmlns:a="http://schemas.openxmlformats.org/drawingml/2006/main" noGrp="1"/>
          </p:cNvSpPr>
          <p:nvPr/>
        </p:nvSpPr>
        <p:spPr>
          <a:xfrm xmlns:a="http://schemas.openxmlformats.org/drawingml/2006/main">
            <a:off x="80264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“Keep October 1 unchanged.”</a:t>
            </a:r>
          </a:p>
        </p:txBody>
      </p:sp>
      <p:sp>
        <p:nvSpPr>
          <p:cNvPr id="12" name="Footer">
            <a:extLst xmlns:a="http://schemas.openxmlformats.org/drawingml/2006/main">
              <a:ext uri="{FF2B5EF4-FFF2-40B4-BE49-F238E27FC236}">
                <a16:creationId xmlns:a16="http://schemas.microsoft.com/office/drawing/2014/main" id="{7A3F4501-BB6F-42BB-B9D0-219A1D7A96D2}"/>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10 / 31</a:t>
            </a:r>
          </a:p>
        </p:txBody>
      </p:sp>
    </p:spTree>
    <p:extLst>
      <p:ext uri="{BB962C8B-B14F-4D97-AF65-F5344CB8AC3E}">
        <p14:creationId xmlns:p14="http://schemas.microsoft.com/office/powerpoint/2010/main" val="36165852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67661B1A-D269-4D13-83A2-E0FED61A1D46}"/>
              </a:ext>
            </a:extLst>
          </p:cNvPr>
          <p:cNvPicPr>
            <a:picLocks xmlns:a="http://schemas.openxmlformats.org/drawingml/2006/main" noChangeAspect="1"/>
          </p:cNvPicPr>
          <p:nvPr/>
        </p:nvPicPr>
        <p:blipFill>
          <a:blip xmlns:r="http://schemas.openxmlformats.org/officeDocument/2006/relationships" xmlns:a="http://schemas.openxmlformats.org/drawingml/2006/main" r:embed="R40b3f475711f4bb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E55727ED-ABCB-40CF-9588-CDFCD53F0BFC}"/>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FB5BA7CB-21FA-4BEB-B3CA-BEEE62BC69B8}"/>
              </a:ext>
            </a:extLst>
          </p:cNvPr>
          <p:cNvSpPr>
            <a:spLocks xmlns:a="http://schemas.openxmlformats.org/drawingml/2006/main" noGrp="1"/>
          </p:cNvSpPr>
          <p:nvPr/>
        </p:nvSpPr>
        <p:spPr>
          <a:xfrm xmlns:a="http://schemas.openxmlformats.org/drawingml/2006/main">
            <a:off x="609600" y="8572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AI can add a false detail</a:t>
            </a:r>
          </a:p>
        </p:txBody>
      </p:sp>
      <p:sp>
        <p:nvSpPr>
          <p:cNvPr id="4" name="Text">
            <a:extLst xmlns:a="http://schemas.openxmlformats.org/drawingml/2006/main">
              <a:ext uri="{FF2B5EF4-FFF2-40B4-BE49-F238E27FC236}">
                <a16:creationId xmlns:a16="http://schemas.microsoft.com/office/drawing/2014/main" id="{58DA7123-9F5A-45E6-8218-C7FCC17392D4}"/>
              </a:ext>
            </a:extLst>
          </p:cNvPr>
          <p:cNvSpPr>
            <a:spLocks xmlns:a="http://schemas.openxmlformats.org/drawingml/2006/main" noGrp="1"/>
          </p:cNvSpPr>
          <p:nvPr/>
        </p:nvSpPr>
        <p:spPr>
          <a:xfrm xmlns:a="http://schemas.openxmlformats.org/drawingml/2006/main">
            <a:off x="609600" y="15811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E4F66"/>
                </a:solidFill>
                <a:latin typeface="Poppins"/>
                <a:ea typeface="Poppins"/>
                <a:cs typeface="Poppins"/>
              </a:defRPr>
            </a:defPPr>
            <a:lvl1pPr>
              <a:defRPr sz="1875" b="0">
                <a:solidFill>
                  <a:srgbClr val="2E4F66"/>
                </a:solidFill>
                <a:latin typeface="Poppins"/>
                <a:ea typeface="Poppins"/>
                <a:cs typeface="Poppins"/>
              </a:defRPr>
            </a:lvl1pPr>
            <a:lvl2pPr>
              <a:defRPr sz="1875" b="0">
                <a:solidFill>
                  <a:srgbClr val="2E4F66"/>
                </a:solidFill>
                <a:latin typeface="Poppins"/>
                <a:ea typeface="Poppins"/>
                <a:cs typeface="Poppins"/>
              </a:defRPr>
            </a:lvl2pPr>
            <a:lvl3pPr>
              <a:defRPr sz="1875" b="0">
                <a:solidFill>
                  <a:srgbClr val="2E4F66"/>
                </a:solidFill>
                <a:latin typeface="Poppins"/>
                <a:ea typeface="Poppins"/>
                <a:cs typeface="Poppins"/>
              </a:defRPr>
            </a:lvl3pPr>
            <a:lvl4pPr>
              <a:defRPr sz="1875" b="0">
                <a:solidFill>
                  <a:srgbClr val="2E4F66"/>
                </a:solidFill>
                <a:latin typeface="Poppins"/>
                <a:ea typeface="Poppins"/>
                <a:cs typeface="Poppins"/>
              </a:defRPr>
            </a:lvl4pPr>
            <a:lvl5pPr>
              <a:defRPr sz="1875" b="0">
                <a:solidFill>
                  <a:srgbClr val="2E4F66"/>
                </a:solidFill>
                <a:latin typeface="Poppins"/>
                <a:ea typeface="Poppins"/>
                <a:cs typeface="Poppins"/>
              </a:defRPr>
            </a:lvl5pPr>
            <a:lvl6pPr>
              <a:defRPr sz="1875" b="0">
                <a:solidFill>
                  <a:srgbClr val="2E4F66"/>
                </a:solidFill>
                <a:latin typeface="Poppins"/>
                <a:ea typeface="Poppins"/>
                <a:cs typeface="Poppins"/>
              </a:defRPr>
            </a:lvl6pPr>
            <a:lvl7pPr>
              <a:defRPr sz="1875" b="0">
                <a:solidFill>
                  <a:srgbClr val="2E4F66"/>
                </a:solidFill>
                <a:latin typeface="Poppins"/>
                <a:ea typeface="Poppins"/>
                <a:cs typeface="Poppins"/>
              </a:defRPr>
            </a:lvl7pPr>
            <a:lvl8pPr>
              <a:defRPr sz="1875" b="0">
                <a:solidFill>
                  <a:srgbClr val="2E4F66"/>
                </a:solidFill>
                <a:latin typeface="Poppins"/>
                <a:ea typeface="Poppins"/>
                <a:cs typeface="Poppins"/>
              </a:defRPr>
            </a:lvl8pPr>
            <a:lvl9pPr>
              <a:defRPr sz="1875" b="0">
                <a:solidFill>
                  <a:srgbClr val="2E4F66"/>
                </a:solidFill>
                <a:latin typeface="Poppins"/>
                <a:ea typeface="Poppins"/>
                <a:cs typeface="Poppins"/>
              </a:defRPr>
            </a:lvl9pPr>
          </a:lstStyle>
          <a:p xmlns:a="http://schemas.openxmlformats.org/drawingml/2006/main">
            <a:pPr>
              <a:defRPr sz="1875" b="0">
                <a:solidFill>
                  <a:srgbClr val="2E4F66"/>
                </a:solidFill>
                <a:latin typeface="Poppins"/>
                <a:ea typeface="Poppins"/>
                <a:cs typeface="Poppins"/>
              </a:defRPr>
            </a:pPr>
            <a:r>
              <a:rPr sz="1875" b="0">
                <a:solidFill>
                  <a:srgbClr val="2E4F66"/>
                </a:solidFill>
                <a:latin typeface="Poppins"/>
                <a:ea typeface="Poppins"/>
                <a:cs typeface="Poppins"/>
              </a:rPr>
              <a:t>A confident answer still needs a fact check.</a:t>
            </a:r>
          </a:p>
        </p:txBody>
      </p:sp>
      <p:pic>
        <p:nvPicPr>
          <p:cNvPr id="5" name="">
            <a:extLst xmlns:a="http://schemas.openxmlformats.org/drawingml/2006/main">
              <a:ext uri="{FF2B5EF4-FFF2-40B4-BE49-F238E27FC236}">
                <a16:creationId xmlns:a16="http://schemas.microsoft.com/office/drawing/2014/main" id="{E69B536C-392F-4194-B5CE-E54F5FDB8FA9}"/>
              </a:ext>
            </a:extLst>
          </p:cNvPr>
          <p:cNvPicPr>
            <a:picLocks xmlns:a="http://schemas.openxmlformats.org/drawingml/2006/main" noChangeAspect="1"/>
          </p:cNvPicPr>
          <p:nvPr/>
        </p:nvPicPr>
        <p:blipFill>
          <a:blip xmlns:r="http://schemas.openxmlformats.org/officeDocument/2006/relationships" xmlns:a="http://schemas.openxmlformats.org/drawingml/2006/main" r:embed="R32b6380ff5b340ab"/>
          <a:stretch xmlns:a="http://schemas.openxmlformats.org/drawingml/2006/main"/>
        </p:blipFill>
        <p:spPr>
          <a:xfrm xmlns:a="http://schemas.openxmlformats.org/drawingml/2006/main">
            <a:off x="2524125" y="2047875"/>
            <a:ext cx="7143750" cy="2857500"/>
          </a:xfrm>
          <a:prstGeom xmlns:a="http://schemas.openxmlformats.org/drawingml/2006/main" prst="rect">
            <a:avLst/>
          </a:prstGeom>
        </p:spPr>
      </p:pic>
      <p:sp>
        <p:nvSpPr>
          <p:cNvPr id="6" name="Infographic heading">
            <a:extLst xmlns:a="http://schemas.openxmlformats.org/drawingml/2006/main">
              <a:ext uri="{FF2B5EF4-FFF2-40B4-BE49-F238E27FC236}">
                <a16:creationId xmlns:a16="http://schemas.microsoft.com/office/drawing/2014/main" id="{7187CEF6-7BEE-4AA3-B385-1EB37B116349}"/>
              </a:ext>
            </a:extLst>
          </p:cNvPr>
          <p:cNvSpPr>
            <a:spLocks xmlns:a="http://schemas.openxmlformats.org/drawingml/2006/main" noGrp="1"/>
          </p:cNvSpPr>
          <p:nvPr/>
        </p:nvSpPr>
        <p:spPr>
          <a:xfrm xmlns:a="http://schemas.openxmlformats.org/drawingml/2006/main">
            <a:off x="7620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Original statement</a:t>
            </a:r>
          </a:p>
        </p:txBody>
      </p:sp>
      <p:sp>
        <p:nvSpPr>
          <p:cNvPr id="7" name="Infographic explanation">
            <a:extLst xmlns:a="http://schemas.openxmlformats.org/drawingml/2006/main">
              <a:ext uri="{FF2B5EF4-FFF2-40B4-BE49-F238E27FC236}">
                <a16:creationId xmlns:a16="http://schemas.microsoft.com/office/drawing/2014/main" id="{9334CEF9-90B7-438D-B72C-9F617A27AE9B}"/>
              </a:ext>
            </a:extLst>
          </p:cNvPr>
          <p:cNvSpPr>
            <a:spLocks xmlns:a="http://schemas.openxmlformats.org/drawingml/2006/main" noGrp="1"/>
          </p:cNvSpPr>
          <p:nvPr/>
        </p:nvSpPr>
        <p:spPr>
          <a:xfrm xmlns:a="http://schemas.openxmlformats.org/drawingml/2006/main">
            <a:off x="7620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“I ran 12 tutoring sessions.”</a:t>
            </a:r>
          </a:p>
        </p:txBody>
      </p:sp>
      <p:sp>
        <p:nvSpPr>
          <p:cNvPr id="8" name="Infographic heading">
            <a:extLst xmlns:a="http://schemas.openxmlformats.org/drawingml/2006/main">
              <a:ext uri="{FF2B5EF4-FFF2-40B4-BE49-F238E27FC236}">
                <a16:creationId xmlns:a16="http://schemas.microsoft.com/office/drawing/2014/main" id="{90438DCB-283B-4C67-9FB2-290F3ABE28ED}"/>
              </a:ext>
            </a:extLst>
          </p:cNvPr>
          <p:cNvSpPr>
            <a:spLocks xmlns:a="http://schemas.openxmlformats.org/drawingml/2006/main" noGrp="1"/>
          </p:cNvSpPr>
          <p:nvPr/>
        </p:nvSpPr>
        <p:spPr>
          <a:xfrm xmlns:a="http://schemas.openxmlformats.org/drawingml/2006/main">
            <a:off x="43942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AI added a claim</a:t>
            </a:r>
          </a:p>
        </p:txBody>
      </p:sp>
      <p:sp>
        <p:nvSpPr>
          <p:cNvPr id="9" name="Infographic explanation">
            <a:extLst xmlns:a="http://schemas.openxmlformats.org/drawingml/2006/main">
              <a:ext uri="{FF2B5EF4-FFF2-40B4-BE49-F238E27FC236}">
                <a16:creationId xmlns:a16="http://schemas.microsoft.com/office/drawing/2014/main" id="{A091C470-7A12-46CB-979F-B2B56941F8C7}"/>
              </a:ext>
            </a:extLst>
          </p:cNvPr>
          <p:cNvSpPr>
            <a:spLocks xmlns:a="http://schemas.openxmlformats.org/drawingml/2006/main" noGrp="1"/>
          </p:cNvSpPr>
          <p:nvPr/>
        </p:nvSpPr>
        <p:spPr>
          <a:xfrm xmlns:a="http://schemas.openxmlformats.org/drawingml/2006/main">
            <a:off x="43942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“Grades improved by 20%.”</a:t>
            </a:r>
          </a:p>
        </p:txBody>
      </p:sp>
      <p:sp>
        <p:nvSpPr>
          <p:cNvPr id="10" name="Infographic heading">
            <a:extLst xmlns:a="http://schemas.openxmlformats.org/drawingml/2006/main">
              <a:ext uri="{FF2B5EF4-FFF2-40B4-BE49-F238E27FC236}">
                <a16:creationId xmlns:a16="http://schemas.microsoft.com/office/drawing/2014/main" id="{B081D8E2-9BE9-4DF9-9B43-2D4CD65FF294}"/>
              </a:ext>
            </a:extLst>
          </p:cNvPr>
          <p:cNvSpPr>
            <a:spLocks xmlns:a="http://schemas.openxmlformats.org/drawingml/2006/main" noGrp="1"/>
          </p:cNvSpPr>
          <p:nvPr/>
        </p:nvSpPr>
        <p:spPr>
          <a:xfrm xmlns:a="http://schemas.openxmlformats.org/drawingml/2006/main">
            <a:off x="80264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Your correction</a:t>
            </a:r>
          </a:p>
        </p:txBody>
      </p:sp>
      <p:sp>
        <p:nvSpPr>
          <p:cNvPr id="11" name="Infographic explanation">
            <a:extLst xmlns:a="http://schemas.openxmlformats.org/drawingml/2006/main">
              <a:ext uri="{FF2B5EF4-FFF2-40B4-BE49-F238E27FC236}">
                <a16:creationId xmlns:a16="http://schemas.microsoft.com/office/drawing/2014/main" id="{83101C2F-B404-4BD7-9F20-40F159FF2F31}"/>
              </a:ext>
            </a:extLst>
          </p:cNvPr>
          <p:cNvSpPr>
            <a:spLocks xmlns:a="http://schemas.openxmlformats.org/drawingml/2006/main" noGrp="1"/>
          </p:cNvSpPr>
          <p:nvPr/>
        </p:nvSpPr>
        <p:spPr>
          <a:xfrm xmlns:a="http://schemas.openxmlformats.org/drawingml/2006/main">
            <a:off x="80264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Remove the added claim. Check the other details.</a:t>
            </a:r>
          </a:p>
        </p:txBody>
      </p:sp>
      <p:sp>
        <p:nvSpPr>
          <p:cNvPr id="12" name="Footer">
            <a:extLst xmlns:a="http://schemas.openxmlformats.org/drawingml/2006/main">
              <a:ext uri="{FF2B5EF4-FFF2-40B4-BE49-F238E27FC236}">
                <a16:creationId xmlns:a16="http://schemas.microsoft.com/office/drawing/2014/main" id="{78AC5627-5D05-4C8C-9186-F97985C0CA60}"/>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11 / 31</a:t>
            </a:r>
          </a:p>
        </p:txBody>
      </p:sp>
    </p:spTree>
    <p:extLst>
      <p:ext uri="{BB962C8B-B14F-4D97-AF65-F5344CB8AC3E}">
        <p14:creationId xmlns:p14="http://schemas.microsoft.com/office/powerpoint/2010/main" val="1171417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2E9CBEBF-877C-44EF-A33A-270BE9D77182}"/>
              </a:ext>
            </a:extLst>
          </p:cNvPr>
          <p:cNvPicPr>
            <a:picLocks xmlns:a="http://schemas.openxmlformats.org/drawingml/2006/main" noChangeAspect="1"/>
          </p:cNvPicPr>
          <p:nvPr/>
        </p:nvPicPr>
        <p:blipFill>
          <a:blip xmlns:r="http://schemas.openxmlformats.org/officeDocument/2006/relationships" xmlns:a="http://schemas.openxmlformats.org/drawingml/2006/main" r:embed="R2c428660699c46e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6DBD4357-3D09-4EE7-B63C-1FA64E3EC2FD}"/>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227DC4E7-363B-40B8-A915-AE6022851B80}"/>
              </a:ext>
            </a:extLst>
          </p:cNvPr>
          <p:cNvSpPr>
            <a:spLocks xmlns:a="http://schemas.openxmlformats.org/drawingml/2006/main" noGrp="1"/>
          </p:cNvSpPr>
          <p:nvPr/>
        </p:nvSpPr>
        <p:spPr>
          <a:xfrm xmlns:a="http://schemas.openxmlformats.org/drawingml/2006/main">
            <a:off x="609600" y="85725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Files in the practice packet</a:t>
            </a:r>
          </a:p>
        </p:txBody>
      </p:sp>
      <p:sp>
        <p:nvSpPr>
          <p:cNvPr id="4" name="Text">
            <a:extLst xmlns:a="http://schemas.openxmlformats.org/drawingml/2006/main">
              <a:ext uri="{FF2B5EF4-FFF2-40B4-BE49-F238E27FC236}">
                <a16:creationId xmlns:a16="http://schemas.microsoft.com/office/drawing/2014/main" id="{42181BC2-CB39-4C10-A160-2429475095B4}"/>
              </a:ext>
            </a:extLst>
          </p:cNvPr>
          <p:cNvSpPr>
            <a:spLocks xmlns:a="http://schemas.openxmlformats.org/drawingml/2006/main" noGrp="1"/>
          </p:cNvSpPr>
          <p:nvPr/>
        </p:nvSpPr>
        <p:spPr>
          <a:xfrm xmlns:a="http://schemas.openxmlformats.org/drawingml/2006/main">
            <a:off x="609600" y="1809750"/>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E4F66"/>
                </a:solidFill>
                <a:latin typeface="Poppins"/>
                <a:ea typeface="Poppins"/>
                <a:cs typeface="Poppins"/>
              </a:defRPr>
            </a:defPPr>
            <a:lvl1pPr>
              <a:defRPr sz="2025" b="0">
                <a:solidFill>
                  <a:srgbClr val="2E4F66"/>
                </a:solidFill>
                <a:latin typeface="Poppins"/>
                <a:ea typeface="Poppins"/>
                <a:cs typeface="Poppins"/>
              </a:defRPr>
            </a:lvl1pPr>
            <a:lvl2pPr>
              <a:defRPr sz="2025" b="0">
                <a:solidFill>
                  <a:srgbClr val="2E4F66"/>
                </a:solidFill>
                <a:latin typeface="Poppins"/>
                <a:ea typeface="Poppins"/>
                <a:cs typeface="Poppins"/>
              </a:defRPr>
            </a:lvl2pPr>
            <a:lvl3pPr>
              <a:defRPr sz="2025" b="0">
                <a:solidFill>
                  <a:srgbClr val="2E4F66"/>
                </a:solidFill>
                <a:latin typeface="Poppins"/>
                <a:ea typeface="Poppins"/>
                <a:cs typeface="Poppins"/>
              </a:defRPr>
            </a:lvl3pPr>
            <a:lvl4pPr>
              <a:defRPr sz="2025" b="0">
                <a:solidFill>
                  <a:srgbClr val="2E4F66"/>
                </a:solidFill>
                <a:latin typeface="Poppins"/>
                <a:ea typeface="Poppins"/>
                <a:cs typeface="Poppins"/>
              </a:defRPr>
            </a:lvl4pPr>
            <a:lvl5pPr>
              <a:defRPr sz="2025" b="0">
                <a:solidFill>
                  <a:srgbClr val="2E4F66"/>
                </a:solidFill>
                <a:latin typeface="Poppins"/>
                <a:ea typeface="Poppins"/>
                <a:cs typeface="Poppins"/>
              </a:defRPr>
            </a:lvl5pPr>
            <a:lvl6pPr>
              <a:defRPr sz="2025" b="0">
                <a:solidFill>
                  <a:srgbClr val="2E4F66"/>
                </a:solidFill>
                <a:latin typeface="Poppins"/>
                <a:ea typeface="Poppins"/>
                <a:cs typeface="Poppins"/>
              </a:defRPr>
            </a:lvl6pPr>
            <a:lvl7pPr>
              <a:defRPr sz="2025" b="0">
                <a:solidFill>
                  <a:srgbClr val="2E4F66"/>
                </a:solidFill>
                <a:latin typeface="Poppins"/>
                <a:ea typeface="Poppins"/>
                <a:cs typeface="Poppins"/>
              </a:defRPr>
            </a:lvl7pPr>
            <a:lvl8pPr>
              <a:defRPr sz="2025" b="0">
                <a:solidFill>
                  <a:srgbClr val="2E4F66"/>
                </a:solidFill>
                <a:latin typeface="Poppins"/>
                <a:ea typeface="Poppins"/>
                <a:cs typeface="Poppins"/>
              </a:defRPr>
            </a:lvl8pPr>
            <a:lvl9pPr>
              <a:defRPr sz="2025" b="0">
                <a:solidFill>
                  <a:srgbClr val="2E4F66"/>
                </a:solidFill>
                <a:latin typeface="Poppins"/>
                <a:ea typeface="Poppins"/>
                <a:cs typeface="Poppins"/>
              </a:defRPr>
            </a:lvl9pPr>
          </a:lstStyle>
          <a:p xmlns:a="http://schemas.openxmlformats.org/drawingml/2006/main">
            <a:pPr>
              <a:defRPr sz="2025" b="0">
                <a:solidFill>
                  <a:srgbClr val="2E4F66"/>
                </a:solidFill>
                <a:latin typeface="Poppins"/>
                <a:ea typeface="Poppins"/>
                <a:cs typeface="Poppins"/>
              </a:defRPr>
            </a:pPr>
            <a:r>
              <a:rPr sz="2025" b="0">
                <a:solidFill>
                  <a:srgbClr val="2E4F66"/>
                </a:solidFill>
                <a:latin typeface="Poppins"/>
                <a:ea typeface="Poppins"/>
                <a:cs typeface="Poppins"/>
              </a:rPr>
              <a:t>File endings tell us what kind of file we are opening.</a:t>
            </a:r>
          </a:p>
        </p:txBody>
      </p:sp>
      <p:graphicFrame>
        <p:nvGraphicFramePr>
          <p:cNvPr id="5" name="">
            <a:extLst xmlns:a="http://schemas.openxmlformats.org/drawingml/2006/main">
              <a:ext uri="{FF2B5EF4-FFF2-40B4-BE49-F238E27FC236}">
                <a16:creationId xmlns:a16="http://schemas.microsoft.com/office/drawing/2014/main" id="{655A66BA-0FE9-4966-A450-13E700DF7770}"/>
              </a:ext>
            </a:extLst>
          </p:cNvPr>
          <p:cNvGraphicFramePr/>
          <p:nvPr/>
        </p:nvGraphicFramePr>
        <p:xfrm>
          <a:off xmlns:a="http://schemas.openxmlformats.org/drawingml/2006/main" x="609600" y="2428875"/>
          <a:ext xmlns:a="http://schemas.openxmlformats.org/drawingml/2006/main" cx="10972800" cy="3143250"/>
        </p:xfrm>
        <a:graphic xmlns:a="http://schemas.openxmlformats.org/drawingml/2006/main">
          <a:graphicData uri="http://schemas.openxmlformats.org/drawingml/2006/table">
            <a:tbl>
              <a:tblPr firstRow="1" bandRow="0"/>
              <a:tblGrid>
                <a:gridCol w="2571750"/>
                <a:gridCol w="8401050"/>
              </a:tblGrid>
              <a:tr h="628650">
                <a:tc>
                  <a:txBody>
                    <a:bodyPr/>
                    <a:lstStyle/>
                    <a:p>
                      <a:r>
                        <a:rPr sz="1800" b="1">
                          <a:solidFill>
                            <a:srgbClr val="FFFFFF"/>
                          </a:solidFill>
                          <a:latin typeface="Poppins"/>
                          <a:ea typeface="Poppins"/>
                          <a:cs typeface="Poppins"/>
                        </a:rPr>
                        <a:t>Ending</a:t>
                      </a:r>
                    </a:p>
                  </a:txBody>
                  <a:tcPr marL="133350" marR="133350" marT="85725" marB="85725" anchor="t">
                    <a:lnL w="9525">
                      <a:solidFill>
                        <a:srgbClr val="B6D4D6"/>
                      </a:solidFill>
                      <a:prstDash val="solid"/>
                    </a:lnL>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c>
                  <a:txBody>
                    <a:bodyPr/>
                    <a:lstStyle/>
                    <a:p>
                      <a:r>
                        <a:rPr sz="1800" b="1">
                          <a:solidFill>
                            <a:srgbClr val="FFFFFF"/>
                          </a:solidFill>
                          <a:latin typeface="Poppins"/>
                          <a:ea typeface="Poppins"/>
                          <a:cs typeface="Poppins"/>
                        </a:rPr>
                        <a:t>What it means here</a:t>
                      </a:r>
                    </a:p>
                  </a:txBody>
                  <a:tcPr marL="133350" marR="133350" marT="85725" marB="85725" anchor="t">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r>
              <a:tr h="628650">
                <a:tc>
                  <a:txBody>
                    <a:bodyPr/>
                    <a:lstStyle/>
                    <a:p>
                      <a:r>
                        <a:rPr sz="1800" b="0">
                          <a:solidFill>
                            <a:srgbClr val="2E4F66"/>
                          </a:solidFill>
                          <a:latin typeface="Poppins"/>
                          <a:ea typeface="Poppins"/>
                          <a:cs typeface="Poppins"/>
                        </a:rPr>
                        <a:t>.csv</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A simple table, such as the application records</a:t>
                      </a:r>
                    </a:p>
                  </a:txBody>
                  <a:tcPr marL="133350" marR="133350" marT="85725" marB="85725" anchor="t">
                    <a:lnR w="9525">
                      <a:solidFill>
                        <a:srgbClr val="B6D4D6"/>
                      </a:solidFill>
                      <a:prstDash val="solid"/>
                    </a:lnR>
                    <a:lnB w="9525">
                      <a:solidFill>
                        <a:srgbClr val="B6D4D6"/>
                      </a:solidFill>
                      <a:prstDash val="solid"/>
                    </a:lnB>
                    <a:solidFill>
                      <a:srgbClr val="F0F8F8"/>
                    </a:solidFill>
                  </a:tcPr>
                </a:tc>
              </a:tr>
              <a:tr h="628650">
                <a:tc>
                  <a:txBody>
                    <a:bodyPr/>
                    <a:lstStyle/>
                    <a:p>
                      <a:r>
                        <a:rPr sz="1800" b="0">
                          <a:solidFill>
                            <a:srgbClr val="2E4F66"/>
                          </a:solidFill>
                          <a:latin typeface="Poppins"/>
                          <a:ea typeface="Poppins"/>
                          <a:cs typeface="Poppins"/>
                        </a:rPr>
                        <a:t>.md</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FFFFF"/>
                    </a:solidFill>
                  </a:tcPr>
                </a:tc>
                <a:tc>
                  <a:txBody>
                    <a:bodyPr/>
                    <a:lstStyle/>
                    <a:p>
                      <a:r>
                        <a:rPr sz="1800" b="0">
                          <a:solidFill>
                            <a:srgbClr val="2E4F66"/>
                          </a:solidFill>
                          <a:latin typeface="Poppins"/>
                          <a:ea typeface="Poppins"/>
                          <a:cs typeface="Poppins"/>
                        </a:rPr>
                        <a:t>Plain text with simple headings; called Markdown</a:t>
                      </a:r>
                    </a:p>
                  </a:txBody>
                  <a:tcPr marL="133350" marR="133350" marT="85725" marB="85725" anchor="t">
                    <a:lnR w="9525">
                      <a:solidFill>
                        <a:srgbClr val="B6D4D6"/>
                      </a:solidFill>
                      <a:prstDash val="solid"/>
                    </a:lnR>
                    <a:lnB w="9525">
                      <a:solidFill>
                        <a:srgbClr val="B6D4D6"/>
                      </a:solidFill>
                      <a:prstDash val="solid"/>
                    </a:lnB>
                    <a:solidFill>
                      <a:srgbClr val="FFFFFF"/>
                    </a:solidFill>
                  </a:tcPr>
                </a:tc>
              </a:tr>
              <a:tr h="628650">
                <a:tc>
                  <a:txBody>
                    <a:bodyPr/>
                    <a:lstStyle/>
                    <a:p>
                      <a:r>
                        <a:rPr sz="1800" b="0">
                          <a:solidFill>
                            <a:srgbClr val="2E4F66"/>
                          </a:solidFill>
                          <a:latin typeface="Poppins"/>
                          <a:ea typeface="Poppins"/>
                          <a:cs typeface="Poppins"/>
                        </a:rPr>
                        <a:t>.txt</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Plain text, such as a saved prompt</a:t>
                      </a:r>
                    </a:p>
                  </a:txBody>
                  <a:tcPr marL="133350" marR="133350" marT="85725" marB="85725" anchor="t">
                    <a:lnR w="9525">
                      <a:solidFill>
                        <a:srgbClr val="B6D4D6"/>
                      </a:solidFill>
                      <a:prstDash val="solid"/>
                    </a:lnR>
                    <a:lnB w="9525">
                      <a:solidFill>
                        <a:srgbClr val="B6D4D6"/>
                      </a:solidFill>
                      <a:prstDash val="solid"/>
                    </a:lnB>
                    <a:solidFill>
                      <a:srgbClr val="F0F8F8"/>
                    </a:solidFill>
                  </a:tcPr>
                </a:tc>
              </a:tr>
              <a:tr h="628650">
                <a:tc>
                  <a:txBody>
                    <a:bodyPr/>
                    <a:lstStyle/>
                    <a:p>
                      <a:r>
                        <a:rPr sz="1800" b="0">
                          <a:solidFill>
                            <a:srgbClr val="2E4F66"/>
                          </a:solidFill>
                          <a:latin typeface="Poppins"/>
                          <a:ea typeface="Poppins"/>
                          <a:cs typeface="Poppins"/>
                        </a:rPr>
                        <a:t>.pdf</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FFFFF"/>
                    </a:solidFill>
                  </a:tcPr>
                </a:tc>
                <a:tc>
                  <a:txBody>
                    <a:bodyPr/>
                    <a:lstStyle/>
                    <a:p>
                      <a:r>
                        <a:rPr sz="1800" b="0">
                          <a:solidFill>
                            <a:srgbClr val="2E4F66"/>
                          </a:solidFill>
                          <a:latin typeface="Poppins"/>
                          <a:ea typeface="Poppins"/>
                          <a:cs typeface="Poppins"/>
                        </a:rPr>
                        <a:t>A document with a fixed page layout</a:t>
                      </a:r>
                    </a:p>
                  </a:txBody>
                  <a:tcPr marL="133350" marR="133350" marT="85725" marB="85725" anchor="t">
                    <a:lnR w="9525">
                      <a:solidFill>
                        <a:srgbClr val="B6D4D6"/>
                      </a:solidFill>
                      <a:prstDash val="solid"/>
                    </a:lnR>
                    <a:lnB w="9525">
                      <a:solidFill>
                        <a:srgbClr val="B6D4D6"/>
                      </a:solidFill>
                      <a:prstDash val="solid"/>
                    </a:lnB>
                    <a:solidFill>
                      <a:srgbClr val="FFFFFF"/>
                    </a:solidFill>
                  </a:tcPr>
                </a:tc>
              </a:tr>
            </a:tbl>
          </a:graphicData>
        </a:graphic>
      </p:graphicFrame>
      <p:sp>
        <p:nvSpPr>
          <p:cNvPr id="6" name="Footer">
            <a:extLst xmlns:a="http://schemas.openxmlformats.org/drawingml/2006/main">
              <a:ext uri="{FF2B5EF4-FFF2-40B4-BE49-F238E27FC236}">
                <a16:creationId xmlns:a16="http://schemas.microsoft.com/office/drawing/2014/main" id="{BE9B8F9E-F662-4F5A-8711-BE5CBE963596}"/>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12 / 31</a:t>
            </a:r>
          </a:p>
        </p:txBody>
      </p:sp>
    </p:spTree>
    <p:extLst>
      <p:ext uri="{BB962C8B-B14F-4D97-AF65-F5344CB8AC3E}">
        <p14:creationId xmlns:p14="http://schemas.microsoft.com/office/powerpoint/2010/main" val="26490552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6EC6AE45-C0DA-44EE-9972-BAD5FA1BD92A}"/>
              </a:ext>
            </a:extLst>
          </p:cNvPr>
          <p:cNvPicPr>
            <a:picLocks xmlns:a="http://schemas.openxmlformats.org/drawingml/2006/main" noChangeAspect="1"/>
          </p:cNvPicPr>
          <p:nvPr/>
        </p:nvPicPr>
        <p:blipFill>
          <a:blip xmlns:r="http://schemas.openxmlformats.org/officeDocument/2006/relationships" xmlns:a="http://schemas.openxmlformats.org/drawingml/2006/main" r:embed="Raad1d1a68b5b46e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956AB14E-7BCE-480C-99E8-BB0564C28F6C}"/>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A61CE7FD-B0C5-4817-A9B1-153CDE4FC982}"/>
              </a:ext>
            </a:extLst>
          </p:cNvPr>
          <p:cNvSpPr>
            <a:spLocks xmlns:a="http://schemas.openxmlformats.org/drawingml/2006/main" noGrp="1"/>
          </p:cNvSpPr>
          <p:nvPr/>
        </p:nvSpPr>
        <p:spPr>
          <a:xfrm xmlns:a="http://schemas.openxmlformats.org/drawingml/2006/main">
            <a:off x="609600" y="8572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A person owns the decision</a:t>
            </a:r>
          </a:p>
        </p:txBody>
      </p:sp>
      <p:sp>
        <p:nvSpPr>
          <p:cNvPr id="4" name="Text">
            <a:extLst xmlns:a="http://schemas.openxmlformats.org/drawingml/2006/main">
              <a:ext uri="{FF2B5EF4-FFF2-40B4-BE49-F238E27FC236}">
                <a16:creationId xmlns:a16="http://schemas.microsoft.com/office/drawing/2014/main" id="{70CCFB1B-F504-4CC7-BF39-05255E87B420}"/>
              </a:ext>
            </a:extLst>
          </p:cNvPr>
          <p:cNvSpPr>
            <a:spLocks xmlns:a="http://schemas.openxmlformats.org/drawingml/2006/main" noGrp="1"/>
          </p:cNvSpPr>
          <p:nvPr/>
        </p:nvSpPr>
        <p:spPr>
          <a:xfrm xmlns:a="http://schemas.openxmlformats.org/drawingml/2006/main">
            <a:off x="609600" y="15811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E4F66"/>
                </a:solidFill>
                <a:latin typeface="Poppins"/>
                <a:ea typeface="Poppins"/>
                <a:cs typeface="Poppins"/>
              </a:defRPr>
            </a:defPPr>
            <a:lvl1pPr>
              <a:defRPr sz="1875" b="0">
                <a:solidFill>
                  <a:srgbClr val="2E4F66"/>
                </a:solidFill>
                <a:latin typeface="Poppins"/>
                <a:ea typeface="Poppins"/>
                <a:cs typeface="Poppins"/>
              </a:defRPr>
            </a:lvl1pPr>
            <a:lvl2pPr>
              <a:defRPr sz="1875" b="0">
                <a:solidFill>
                  <a:srgbClr val="2E4F66"/>
                </a:solidFill>
                <a:latin typeface="Poppins"/>
                <a:ea typeface="Poppins"/>
                <a:cs typeface="Poppins"/>
              </a:defRPr>
            </a:lvl2pPr>
            <a:lvl3pPr>
              <a:defRPr sz="1875" b="0">
                <a:solidFill>
                  <a:srgbClr val="2E4F66"/>
                </a:solidFill>
                <a:latin typeface="Poppins"/>
                <a:ea typeface="Poppins"/>
                <a:cs typeface="Poppins"/>
              </a:defRPr>
            </a:lvl3pPr>
            <a:lvl4pPr>
              <a:defRPr sz="1875" b="0">
                <a:solidFill>
                  <a:srgbClr val="2E4F66"/>
                </a:solidFill>
                <a:latin typeface="Poppins"/>
                <a:ea typeface="Poppins"/>
                <a:cs typeface="Poppins"/>
              </a:defRPr>
            </a:lvl4pPr>
            <a:lvl5pPr>
              <a:defRPr sz="1875" b="0">
                <a:solidFill>
                  <a:srgbClr val="2E4F66"/>
                </a:solidFill>
                <a:latin typeface="Poppins"/>
                <a:ea typeface="Poppins"/>
                <a:cs typeface="Poppins"/>
              </a:defRPr>
            </a:lvl5pPr>
            <a:lvl6pPr>
              <a:defRPr sz="1875" b="0">
                <a:solidFill>
                  <a:srgbClr val="2E4F66"/>
                </a:solidFill>
                <a:latin typeface="Poppins"/>
                <a:ea typeface="Poppins"/>
                <a:cs typeface="Poppins"/>
              </a:defRPr>
            </a:lvl6pPr>
            <a:lvl7pPr>
              <a:defRPr sz="1875" b="0">
                <a:solidFill>
                  <a:srgbClr val="2E4F66"/>
                </a:solidFill>
                <a:latin typeface="Poppins"/>
                <a:ea typeface="Poppins"/>
                <a:cs typeface="Poppins"/>
              </a:defRPr>
            </a:lvl7pPr>
            <a:lvl8pPr>
              <a:defRPr sz="1875" b="0">
                <a:solidFill>
                  <a:srgbClr val="2E4F66"/>
                </a:solidFill>
                <a:latin typeface="Poppins"/>
                <a:ea typeface="Poppins"/>
                <a:cs typeface="Poppins"/>
              </a:defRPr>
            </a:lvl8pPr>
            <a:lvl9pPr>
              <a:defRPr sz="1875" b="0">
                <a:solidFill>
                  <a:srgbClr val="2E4F66"/>
                </a:solidFill>
                <a:latin typeface="Poppins"/>
                <a:ea typeface="Poppins"/>
                <a:cs typeface="Poppins"/>
              </a:defRPr>
            </a:lvl9pPr>
          </a:lstStyle>
          <a:p xmlns:a="http://schemas.openxmlformats.org/drawingml/2006/main">
            <a:pPr>
              <a:defRPr sz="1875" b="0">
                <a:solidFill>
                  <a:srgbClr val="2E4F66"/>
                </a:solidFill>
                <a:latin typeface="Poppins"/>
                <a:ea typeface="Poppins"/>
                <a:cs typeface="Poppins"/>
              </a:defRPr>
            </a:pPr>
            <a:r>
              <a:rPr sz="1875" b="0">
                <a:solidFill>
                  <a:srgbClr val="2E4F66"/>
                </a:solidFill>
                <a:latin typeface="Poppins"/>
                <a:ea typeface="Poppins"/>
                <a:cs typeface="Poppins"/>
              </a:rPr>
              <a:t>AI can prepare a checklist. Staff check it and decide.</a:t>
            </a:r>
          </a:p>
        </p:txBody>
      </p:sp>
      <p:pic>
        <p:nvPicPr>
          <p:cNvPr id="5" name="">
            <a:extLst xmlns:a="http://schemas.openxmlformats.org/drawingml/2006/main">
              <a:ext uri="{FF2B5EF4-FFF2-40B4-BE49-F238E27FC236}">
                <a16:creationId xmlns:a16="http://schemas.microsoft.com/office/drawing/2014/main" id="{7612B531-FB88-470B-B94E-62E78D2C945B}"/>
              </a:ext>
            </a:extLst>
          </p:cNvPr>
          <p:cNvPicPr>
            <a:picLocks xmlns:a="http://schemas.openxmlformats.org/drawingml/2006/main" noChangeAspect="1"/>
          </p:cNvPicPr>
          <p:nvPr/>
        </p:nvPicPr>
        <p:blipFill>
          <a:blip xmlns:r="http://schemas.openxmlformats.org/officeDocument/2006/relationships" xmlns:a="http://schemas.openxmlformats.org/drawingml/2006/main" r:embed="Ree103675ad1544f9"/>
          <a:stretch xmlns:a="http://schemas.openxmlformats.org/drawingml/2006/main"/>
        </p:blipFill>
        <p:spPr>
          <a:xfrm xmlns:a="http://schemas.openxmlformats.org/drawingml/2006/main">
            <a:off x="1809750" y="2047875"/>
            <a:ext cx="8572500" cy="2857500"/>
          </a:xfrm>
          <a:prstGeom xmlns:a="http://schemas.openxmlformats.org/drawingml/2006/main" prst="rect">
            <a:avLst/>
          </a:prstGeom>
        </p:spPr>
      </p:pic>
      <p:sp>
        <p:nvSpPr>
          <p:cNvPr id="6" name="Infographic heading">
            <a:extLst xmlns:a="http://schemas.openxmlformats.org/drawingml/2006/main">
              <a:ext uri="{FF2B5EF4-FFF2-40B4-BE49-F238E27FC236}">
                <a16:creationId xmlns:a16="http://schemas.microsoft.com/office/drawing/2014/main" id="{D518ACE8-D1B8-437F-BB83-2F78E108983E}"/>
              </a:ext>
            </a:extLst>
          </p:cNvPr>
          <p:cNvSpPr>
            <a:spLocks xmlns:a="http://schemas.openxmlformats.org/drawingml/2006/main" noGrp="1"/>
          </p:cNvSpPr>
          <p:nvPr/>
        </p:nvSpPr>
        <p:spPr>
          <a:xfrm xmlns:a="http://schemas.openxmlformats.org/drawingml/2006/main">
            <a:off x="7620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Check permission</a:t>
            </a:r>
          </a:p>
        </p:txBody>
      </p:sp>
      <p:sp>
        <p:nvSpPr>
          <p:cNvPr id="7" name="Infographic explanation">
            <a:extLst xmlns:a="http://schemas.openxmlformats.org/drawingml/2006/main">
              <a:ext uri="{FF2B5EF4-FFF2-40B4-BE49-F238E27FC236}">
                <a16:creationId xmlns:a16="http://schemas.microsoft.com/office/drawing/2014/main" id="{6EC18391-0087-4409-B59D-F1F2211DDAF4}"/>
              </a:ext>
            </a:extLst>
          </p:cNvPr>
          <p:cNvSpPr>
            <a:spLocks xmlns:a="http://schemas.openxmlformats.org/drawingml/2006/main" noGrp="1"/>
          </p:cNvSpPr>
          <p:nvPr/>
        </p:nvSpPr>
        <p:spPr>
          <a:xfrm xmlns:a="http://schemas.openxmlformats.org/drawingml/2006/main">
            <a:off x="7620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Use the account and information your organization allows.</a:t>
            </a:r>
          </a:p>
        </p:txBody>
      </p:sp>
      <p:sp>
        <p:nvSpPr>
          <p:cNvPr id="8" name="Infographic heading">
            <a:extLst xmlns:a="http://schemas.openxmlformats.org/drawingml/2006/main">
              <a:ext uri="{FF2B5EF4-FFF2-40B4-BE49-F238E27FC236}">
                <a16:creationId xmlns:a16="http://schemas.microsoft.com/office/drawing/2014/main" id="{FDB84247-66CE-4776-8E94-07748D200D7A}"/>
              </a:ext>
            </a:extLst>
          </p:cNvPr>
          <p:cNvSpPr>
            <a:spLocks xmlns:a="http://schemas.openxmlformats.org/drawingml/2006/main" noGrp="1"/>
          </p:cNvSpPr>
          <p:nvPr/>
        </p:nvSpPr>
        <p:spPr>
          <a:xfrm xmlns:a="http://schemas.openxmlformats.org/drawingml/2006/main">
            <a:off x="43942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Share less information</a:t>
            </a:r>
          </a:p>
        </p:txBody>
      </p:sp>
      <p:sp>
        <p:nvSpPr>
          <p:cNvPr id="9" name="Infographic explanation">
            <a:extLst xmlns:a="http://schemas.openxmlformats.org/drawingml/2006/main">
              <a:ext uri="{FF2B5EF4-FFF2-40B4-BE49-F238E27FC236}">
                <a16:creationId xmlns:a16="http://schemas.microsoft.com/office/drawing/2014/main" id="{FDA5D652-1F70-4E77-8BCB-B21279A65522}"/>
              </a:ext>
            </a:extLst>
          </p:cNvPr>
          <p:cNvSpPr>
            <a:spLocks xmlns:a="http://schemas.openxmlformats.org/drawingml/2006/main" noGrp="1"/>
          </p:cNvSpPr>
          <p:nvPr/>
        </p:nvSpPr>
        <p:spPr>
          <a:xfrm xmlns:a="http://schemas.openxmlformats.org/drawingml/2006/main">
            <a:off x="43942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Removing names may leave identifying details.</a:t>
            </a:r>
          </a:p>
        </p:txBody>
      </p:sp>
      <p:sp>
        <p:nvSpPr>
          <p:cNvPr id="10" name="Infographic heading">
            <a:extLst xmlns:a="http://schemas.openxmlformats.org/drawingml/2006/main">
              <a:ext uri="{FF2B5EF4-FFF2-40B4-BE49-F238E27FC236}">
                <a16:creationId xmlns:a16="http://schemas.microsoft.com/office/drawing/2014/main" id="{76FA8B69-45C8-4863-AD93-B9E89303A48D}"/>
              </a:ext>
            </a:extLst>
          </p:cNvPr>
          <p:cNvSpPr>
            <a:spLocks xmlns:a="http://schemas.openxmlformats.org/drawingml/2006/main" noGrp="1"/>
          </p:cNvSpPr>
          <p:nvPr/>
        </p:nvSpPr>
        <p:spPr>
          <a:xfrm xmlns:a="http://schemas.openxmlformats.org/drawingml/2006/main">
            <a:off x="80264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Staff decide</a:t>
            </a:r>
          </a:p>
        </p:txBody>
      </p:sp>
      <p:sp>
        <p:nvSpPr>
          <p:cNvPr id="11" name="Infographic explanation">
            <a:extLst xmlns:a="http://schemas.openxmlformats.org/drawingml/2006/main">
              <a:ext uri="{FF2B5EF4-FFF2-40B4-BE49-F238E27FC236}">
                <a16:creationId xmlns:a16="http://schemas.microsoft.com/office/drawing/2014/main" id="{1D09A6BF-C234-4C05-B283-C68031B7D216}"/>
              </a:ext>
            </a:extLst>
          </p:cNvPr>
          <p:cNvSpPr>
            <a:spLocks xmlns:a="http://schemas.openxmlformats.org/drawingml/2006/main" noGrp="1"/>
          </p:cNvSpPr>
          <p:nvPr/>
        </p:nvSpPr>
        <p:spPr>
          <a:xfrm xmlns:a="http://schemas.openxmlformats.org/drawingml/2006/main">
            <a:off x="80264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Staff check the records, scores, and final decisions.</a:t>
            </a:r>
          </a:p>
        </p:txBody>
      </p:sp>
      <p:sp>
        <p:nvSpPr>
          <p:cNvPr id="12" name="Footer">
            <a:extLst xmlns:a="http://schemas.openxmlformats.org/drawingml/2006/main">
              <a:ext uri="{FF2B5EF4-FFF2-40B4-BE49-F238E27FC236}">
                <a16:creationId xmlns:a16="http://schemas.microsoft.com/office/drawing/2014/main" id="{3107C908-79B0-4BA7-990E-44A2CA784CD0}"/>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13 / 31</a:t>
            </a:r>
          </a:p>
        </p:txBody>
      </p:sp>
    </p:spTree>
    <p:extLst>
      <p:ext uri="{BB962C8B-B14F-4D97-AF65-F5344CB8AC3E}">
        <p14:creationId xmlns:p14="http://schemas.microsoft.com/office/powerpoint/2010/main" val="722381384"/>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3510F6F7-FBCB-41BE-97FF-F703D3717790}"/>
              </a:ext>
            </a:extLst>
          </p:cNvPr>
          <p:cNvPicPr>
            <a:picLocks xmlns:a="http://schemas.openxmlformats.org/drawingml/2006/main" noChangeAspect="1"/>
          </p:cNvPicPr>
          <p:nvPr/>
        </p:nvPicPr>
        <p:blipFill>
          <a:blip xmlns:r="http://schemas.openxmlformats.org/officeDocument/2006/relationships" xmlns:a="http://schemas.openxmlformats.org/drawingml/2006/main" r:embed="R808eb00709334ba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42A6A7DD-979E-470D-8FA2-4470CE2196CF}"/>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B5786D79-5C54-40BA-B8B0-45964A1FD4EE}"/>
              </a:ext>
            </a:extLst>
          </p:cNvPr>
          <p:cNvSpPr>
            <a:spLocks xmlns:a="http://schemas.openxmlformats.org/drawingml/2006/main" noGrp="1"/>
          </p:cNvSpPr>
          <p:nvPr/>
        </p:nvSpPr>
        <p:spPr>
          <a:xfrm xmlns:a="http://schemas.openxmlformats.org/drawingml/2006/main">
            <a:off x="609600" y="8572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Applicant codes in our examples</a:t>
            </a:r>
          </a:p>
        </p:txBody>
      </p:sp>
      <p:sp>
        <p:nvSpPr>
          <p:cNvPr id="4" name="Text">
            <a:extLst xmlns:a="http://schemas.openxmlformats.org/drawingml/2006/main">
              <a:ext uri="{FF2B5EF4-FFF2-40B4-BE49-F238E27FC236}">
                <a16:creationId xmlns:a16="http://schemas.microsoft.com/office/drawing/2014/main" id="{C61ED190-BA49-49F3-9312-D6BB01CCD91F}"/>
              </a:ext>
            </a:extLst>
          </p:cNvPr>
          <p:cNvSpPr>
            <a:spLocks xmlns:a="http://schemas.openxmlformats.org/drawingml/2006/main" noGrp="1"/>
          </p:cNvSpPr>
          <p:nvPr/>
        </p:nvSpPr>
        <p:spPr>
          <a:xfrm xmlns:a="http://schemas.openxmlformats.org/drawingml/2006/main">
            <a:off x="609600" y="15811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E4F66"/>
                </a:solidFill>
                <a:latin typeface="Poppins"/>
                <a:ea typeface="Poppins"/>
                <a:cs typeface="Poppins"/>
              </a:defRPr>
            </a:defPPr>
            <a:lvl1pPr>
              <a:defRPr sz="1875" b="0">
                <a:solidFill>
                  <a:srgbClr val="2E4F66"/>
                </a:solidFill>
                <a:latin typeface="Poppins"/>
                <a:ea typeface="Poppins"/>
                <a:cs typeface="Poppins"/>
              </a:defRPr>
            </a:lvl1pPr>
            <a:lvl2pPr>
              <a:defRPr sz="1875" b="0">
                <a:solidFill>
                  <a:srgbClr val="2E4F66"/>
                </a:solidFill>
                <a:latin typeface="Poppins"/>
                <a:ea typeface="Poppins"/>
                <a:cs typeface="Poppins"/>
              </a:defRPr>
            </a:lvl2pPr>
            <a:lvl3pPr>
              <a:defRPr sz="1875" b="0">
                <a:solidFill>
                  <a:srgbClr val="2E4F66"/>
                </a:solidFill>
                <a:latin typeface="Poppins"/>
                <a:ea typeface="Poppins"/>
                <a:cs typeface="Poppins"/>
              </a:defRPr>
            </a:lvl3pPr>
            <a:lvl4pPr>
              <a:defRPr sz="1875" b="0">
                <a:solidFill>
                  <a:srgbClr val="2E4F66"/>
                </a:solidFill>
                <a:latin typeface="Poppins"/>
                <a:ea typeface="Poppins"/>
                <a:cs typeface="Poppins"/>
              </a:defRPr>
            </a:lvl4pPr>
            <a:lvl5pPr>
              <a:defRPr sz="1875" b="0">
                <a:solidFill>
                  <a:srgbClr val="2E4F66"/>
                </a:solidFill>
                <a:latin typeface="Poppins"/>
                <a:ea typeface="Poppins"/>
                <a:cs typeface="Poppins"/>
              </a:defRPr>
            </a:lvl5pPr>
            <a:lvl6pPr>
              <a:defRPr sz="1875" b="0">
                <a:solidFill>
                  <a:srgbClr val="2E4F66"/>
                </a:solidFill>
                <a:latin typeface="Poppins"/>
                <a:ea typeface="Poppins"/>
                <a:cs typeface="Poppins"/>
              </a:defRPr>
            </a:lvl6pPr>
            <a:lvl7pPr>
              <a:defRPr sz="1875" b="0">
                <a:solidFill>
                  <a:srgbClr val="2E4F66"/>
                </a:solidFill>
                <a:latin typeface="Poppins"/>
                <a:ea typeface="Poppins"/>
                <a:cs typeface="Poppins"/>
              </a:defRPr>
            </a:lvl7pPr>
            <a:lvl8pPr>
              <a:defRPr sz="1875" b="0">
                <a:solidFill>
                  <a:srgbClr val="2E4F66"/>
                </a:solidFill>
                <a:latin typeface="Poppins"/>
                <a:ea typeface="Poppins"/>
                <a:cs typeface="Poppins"/>
              </a:defRPr>
            </a:lvl8pPr>
            <a:lvl9pPr>
              <a:defRPr sz="1875" b="0">
                <a:solidFill>
                  <a:srgbClr val="2E4F66"/>
                </a:solidFill>
                <a:latin typeface="Poppins"/>
                <a:ea typeface="Poppins"/>
                <a:cs typeface="Poppins"/>
              </a:defRPr>
            </a:lvl9pPr>
          </a:lstStyle>
          <a:p xmlns:a="http://schemas.openxmlformats.org/drawingml/2006/main">
            <a:pPr>
              <a:defRPr sz="1875" b="0">
                <a:solidFill>
                  <a:srgbClr val="2E4F66"/>
                </a:solidFill>
                <a:latin typeface="Poppins"/>
                <a:ea typeface="Poppins"/>
                <a:cs typeface="Poppins"/>
              </a:defRPr>
            </a:pPr>
            <a:r>
              <a:rPr sz="1875" b="0">
                <a:solidFill>
                  <a:srgbClr val="2E4F66"/>
                </a:solidFill>
                <a:latin typeface="Poppins"/>
                <a:ea typeface="Poppins"/>
                <a:cs typeface="Poppins"/>
              </a:rPr>
              <a:t>A17, A18, and A19 are made-up labels used instead of names.</a:t>
            </a:r>
          </a:p>
        </p:txBody>
      </p:sp>
      <p:pic>
        <p:nvPicPr>
          <p:cNvPr id="5" name="">
            <a:extLst xmlns:a="http://schemas.openxmlformats.org/drawingml/2006/main">
              <a:ext uri="{FF2B5EF4-FFF2-40B4-BE49-F238E27FC236}">
                <a16:creationId xmlns:a16="http://schemas.microsoft.com/office/drawing/2014/main" id="{35E2B77C-7392-4C1B-9D4B-116971C6B4FA}"/>
              </a:ext>
            </a:extLst>
          </p:cNvPr>
          <p:cNvPicPr>
            <a:picLocks xmlns:a="http://schemas.openxmlformats.org/drawingml/2006/main" noChangeAspect="1"/>
          </p:cNvPicPr>
          <p:nvPr/>
        </p:nvPicPr>
        <p:blipFill>
          <a:blip xmlns:r="http://schemas.openxmlformats.org/officeDocument/2006/relationships" xmlns:a="http://schemas.openxmlformats.org/drawingml/2006/main" r:embed="R1def131bccc948e9"/>
          <a:stretch xmlns:a="http://schemas.openxmlformats.org/drawingml/2006/main"/>
        </p:blipFill>
        <p:spPr>
          <a:xfrm xmlns:a="http://schemas.openxmlformats.org/drawingml/2006/main">
            <a:off x="2524125" y="2047875"/>
            <a:ext cx="7143750" cy="2857500"/>
          </a:xfrm>
          <a:prstGeom xmlns:a="http://schemas.openxmlformats.org/drawingml/2006/main" prst="rect">
            <a:avLst/>
          </a:prstGeom>
        </p:spPr>
      </p:pic>
      <p:sp>
        <p:nvSpPr>
          <p:cNvPr id="6" name="Infographic heading">
            <a:extLst xmlns:a="http://schemas.openxmlformats.org/drawingml/2006/main">
              <a:ext uri="{FF2B5EF4-FFF2-40B4-BE49-F238E27FC236}">
                <a16:creationId xmlns:a16="http://schemas.microsoft.com/office/drawing/2014/main" id="{9A3B922C-9FC8-4CCD-8846-9AEF7F6297AC}"/>
              </a:ext>
            </a:extLst>
          </p:cNvPr>
          <p:cNvSpPr>
            <a:spLocks xmlns:a="http://schemas.openxmlformats.org/drawingml/2006/main" noGrp="1"/>
          </p:cNvSpPr>
          <p:nvPr/>
        </p:nvSpPr>
        <p:spPr>
          <a:xfrm xmlns:a="http://schemas.openxmlformats.org/drawingml/2006/main">
            <a:off x="7620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A code replaces a name</a:t>
            </a:r>
          </a:p>
        </p:txBody>
      </p:sp>
      <p:sp>
        <p:nvSpPr>
          <p:cNvPr id="7" name="Infographic explanation">
            <a:extLst xmlns:a="http://schemas.openxmlformats.org/drawingml/2006/main">
              <a:ext uri="{FF2B5EF4-FFF2-40B4-BE49-F238E27FC236}">
                <a16:creationId xmlns:a16="http://schemas.microsoft.com/office/drawing/2014/main" id="{246E5B1A-8364-45DC-8B6A-4DF80C779997}"/>
              </a:ext>
            </a:extLst>
          </p:cNvPr>
          <p:cNvSpPr>
            <a:spLocks xmlns:a="http://schemas.openxmlformats.org/drawingml/2006/main" noGrp="1"/>
          </p:cNvSpPr>
          <p:nvPr/>
        </p:nvSpPr>
        <p:spPr>
          <a:xfrm xmlns:a="http://schemas.openxmlformats.org/drawingml/2006/main">
            <a:off x="7620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A17, A18, and A19 are made-up applicant labels.</a:t>
            </a:r>
          </a:p>
        </p:txBody>
      </p:sp>
      <p:sp>
        <p:nvSpPr>
          <p:cNvPr id="8" name="Infographic heading">
            <a:extLst xmlns:a="http://schemas.openxmlformats.org/drawingml/2006/main">
              <a:ext uri="{FF2B5EF4-FFF2-40B4-BE49-F238E27FC236}">
                <a16:creationId xmlns:a16="http://schemas.microsoft.com/office/drawing/2014/main" id="{3F0A7A82-DC5D-4B20-9229-7BF7BE35F266}"/>
              </a:ext>
            </a:extLst>
          </p:cNvPr>
          <p:cNvSpPr>
            <a:spLocks xmlns:a="http://schemas.openxmlformats.org/drawingml/2006/main" noGrp="1"/>
          </p:cNvSpPr>
          <p:nvPr/>
        </p:nvSpPr>
        <p:spPr>
          <a:xfrm xmlns:a="http://schemas.openxmlformats.org/drawingml/2006/main">
            <a:off x="43942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The code connects files</a:t>
            </a:r>
          </a:p>
        </p:txBody>
      </p:sp>
      <p:sp>
        <p:nvSpPr>
          <p:cNvPr id="9" name="Infographic explanation">
            <a:extLst xmlns:a="http://schemas.openxmlformats.org/drawingml/2006/main">
              <a:ext uri="{FF2B5EF4-FFF2-40B4-BE49-F238E27FC236}">
                <a16:creationId xmlns:a16="http://schemas.microsoft.com/office/drawing/2014/main" id="{D5FD2DC6-9F73-4096-A179-8C3E5FFCC729}"/>
              </a:ext>
            </a:extLst>
          </p:cNvPr>
          <p:cNvSpPr>
            <a:spLocks xmlns:a="http://schemas.openxmlformats.org/drawingml/2006/main" noGrp="1"/>
          </p:cNvSpPr>
          <p:nvPr/>
        </p:nvSpPr>
        <p:spPr>
          <a:xfrm xmlns:a="http://schemas.openxmlformats.org/drawingml/2006/main">
            <a:off x="43942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A17-transcript.pdf belongs to applicant A17.</a:t>
            </a:r>
          </a:p>
        </p:txBody>
      </p:sp>
      <p:sp>
        <p:nvSpPr>
          <p:cNvPr id="10" name="Infographic heading">
            <a:extLst xmlns:a="http://schemas.openxmlformats.org/drawingml/2006/main">
              <a:ext uri="{FF2B5EF4-FFF2-40B4-BE49-F238E27FC236}">
                <a16:creationId xmlns:a16="http://schemas.microsoft.com/office/drawing/2014/main" id="{F26D053D-10F9-4B6D-8FF0-38AF1E714F4E}"/>
              </a:ext>
            </a:extLst>
          </p:cNvPr>
          <p:cNvSpPr>
            <a:spLocks xmlns:a="http://schemas.openxmlformats.org/drawingml/2006/main" noGrp="1"/>
          </p:cNvSpPr>
          <p:nvPr/>
        </p:nvSpPr>
        <p:spPr>
          <a:xfrm xmlns:a="http://schemas.openxmlformats.org/drawingml/2006/main">
            <a:off x="80264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Protect other details</a:t>
            </a:r>
          </a:p>
        </p:txBody>
      </p:sp>
      <p:sp>
        <p:nvSpPr>
          <p:cNvPr id="11" name="Infographic explanation">
            <a:extLst xmlns:a="http://schemas.openxmlformats.org/drawingml/2006/main">
              <a:ext uri="{FF2B5EF4-FFF2-40B4-BE49-F238E27FC236}">
                <a16:creationId xmlns:a16="http://schemas.microsoft.com/office/drawing/2014/main" id="{881F6922-44A7-447E-924F-62F26CD58233}"/>
              </a:ext>
            </a:extLst>
          </p:cNvPr>
          <p:cNvSpPr>
            <a:spLocks xmlns:a="http://schemas.openxmlformats.org/drawingml/2006/main" noGrp="1"/>
          </p:cNvSpPr>
          <p:nvPr/>
        </p:nvSpPr>
        <p:spPr>
          <a:xfrm xmlns:a="http://schemas.openxmlformats.org/drawingml/2006/main">
            <a:off x="80264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A code alone does not make real data anonymous.</a:t>
            </a:r>
          </a:p>
        </p:txBody>
      </p:sp>
      <p:sp>
        <p:nvSpPr>
          <p:cNvPr id="12" name="Footer">
            <a:extLst xmlns:a="http://schemas.openxmlformats.org/drawingml/2006/main">
              <a:ext uri="{FF2B5EF4-FFF2-40B4-BE49-F238E27FC236}">
                <a16:creationId xmlns:a16="http://schemas.microsoft.com/office/drawing/2014/main" id="{B1102B59-8889-4690-AE2E-955E5D4F1423}"/>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14 / 31</a:t>
            </a:r>
          </a:p>
        </p:txBody>
      </p:sp>
    </p:spTree>
    <p:extLst>
      <p:ext uri="{BB962C8B-B14F-4D97-AF65-F5344CB8AC3E}">
        <p14:creationId xmlns:p14="http://schemas.microsoft.com/office/powerpoint/2010/main" val="1609620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9DBC0105-BE3A-4C4E-A6D1-930F1D391229}"/>
              </a:ext>
            </a:extLst>
          </p:cNvPr>
          <p:cNvPicPr>
            <a:picLocks xmlns:a="http://schemas.openxmlformats.org/drawingml/2006/main" noChangeAspect="1"/>
          </p:cNvPicPr>
          <p:nvPr/>
        </p:nvPicPr>
        <p:blipFill>
          <a:blip xmlns:r="http://schemas.openxmlformats.org/officeDocument/2006/relationships" xmlns:a="http://schemas.openxmlformats.org/drawingml/2006/main" r:embed="Rfa84af43df224db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C257EA24-984F-41CC-A006-D19CC9D80B2F}"/>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DB0CD62E-EC29-475F-9887-18E78FADCC5E}"/>
              </a:ext>
            </a:extLst>
          </p:cNvPr>
          <p:cNvSpPr>
            <a:spLocks xmlns:a="http://schemas.openxmlformats.org/drawingml/2006/main" noGrp="1"/>
          </p:cNvSpPr>
          <p:nvPr/>
        </p:nvSpPr>
        <p:spPr>
          <a:xfrm xmlns:a="http://schemas.openxmlformats.org/drawingml/2006/main">
            <a:off x="609600" y="8572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A manifest is a file list</a:t>
            </a:r>
          </a:p>
        </p:txBody>
      </p:sp>
      <p:sp>
        <p:nvSpPr>
          <p:cNvPr id="4" name="Text">
            <a:extLst xmlns:a="http://schemas.openxmlformats.org/drawingml/2006/main">
              <a:ext uri="{FF2B5EF4-FFF2-40B4-BE49-F238E27FC236}">
                <a16:creationId xmlns:a16="http://schemas.microsoft.com/office/drawing/2014/main" id="{20BF37FE-D22D-4F1A-81FA-5C56087EE9A9}"/>
              </a:ext>
            </a:extLst>
          </p:cNvPr>
          <p:cNvSpPr>
            <a:spLocks xmlns:a="http://schemas.openxmlformats.org/drawingml/2006/main" noGrp="1"/>
          </p:cNvSpPr>
          <p:nvPr/>
        </p:nvSpPr>
        <p:spPr>
          <a:xfrm xmlns:a="http://schemas.openxmlformats.org/drawingml/2006/main">
            <a:off x="609600" y="15811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E4F66"/>
                </a:solidFill>
                <a:latin typeface="Poppins"/>
                <a:ea typeface="Poppins"/>
                <a:cs typeface="Poppins"/>
              </a:defRPr>
            </a:defPPr>
            <a:lvl1pPr>
              <a:defRPr sz="1875" b="0">
                <a:solidFill>
                  <a:srgbClr val="2E4F66"/>
                </a:solidFill>
                <a:latin typeface="Poppins"/>
                <a:ea typeface="Poppins"/>
                <a:cs typeface="Poppins"/>
              </a:defRPr>
            </a:lvl1pPr>
            <a:lvl2pPr>
              <a:defRPr sz="1875" b="0">
                <a:solidFill>
                  <a:srgbClr val="2E4F66"/>
                </a:solidFill>
                <a:latin typeface="Poppins"/>
                <a:ea typeface="Poppins"/>
                <a:cs typeface="Poppins"/>
              </a:defRPr>
            </a:lvl2pPr>
            <a:lvl3pPr>
              <a:defRPr sz="1875" b="0">
                <a:solidFill>
                  <a:srgbClr val="2E4F66"/>
                </a:solidFill>
                <a:latin typeface="Poppins"/>
                <a:ea typeface="Poppins"/>
                <a:cs typeface="Poppins"/>
              </a:defRPr>
            </a:lvl3pPr>
            <a:lvl4pPr>
              <a:defRPr sz="1875" b="0">
                <a:solidFill>
                  <a:srgbClr val="2E4F66"/>
                </a:solidFill>
                <a:latin typeface="Poppins"/>
                <a:ea typeface="Poppins"/>
                <a:cs typeface="Poppins"/>
              </a:defRPr>
            </a:lvl4pPr>
            <a:lvl5pPr>
              <a:defRPr sz="1875" b="0">
                <a:solidFill>
                  <a:srgbClr val="2E4F66"/>
                </a:solidFill>
                <a:latin typeface="Poppins"/>
                <a:ea typeface="Poppins"/>
                <a:cs typeface="Poppins"/>
              </a:defRPr>
            </a:lvl5pPr>
            <a:lvl6pPr>
              <a:defRPr sz="1875" b="0">
                <a:solidFill>
                  <a:srgbClr val="2E4F66"/>
                </a:solidFill>
                <a:latin typeface="Poppins"/>
                <a:ea typeface="Poppins"/>
                <a:cs typeface="Poppins"/>
              </a:defRPr>
            </a:lvl6pPr>
            <a:lvl7pPr>
              <a:defRPr sz="1875" b="0">
                <a:solidFill>
                  <a:srgbClr val="2E4F66"/>
                </a:solidFill>
                <a:latin typeface="Poppins"/>
                <a:ea typeface="Poppins"/>
                <a:cs typeface="Poppins"/>
              </a:defRPr>
            </a:lvl7pPr>
            <a:lvl8pPr>
              <a:defRPr sz="1875" b="0">
                <a:solidFill>
                  <a:srgbClr val="2E4F66"/>
                </a:solidFill>
                <a:latin typeface="Poppins"/>
                <a:ea typeface="Poppins"/>
                <a:cs typeface="Poppins"/>
              </a:defRPr>
            </a:lvl8pPr>
            <a:lvl9pPr>
              <a:defRPr sz="1875" b="0">
                <a:solidFill>
                  <a:srgbClr val="2E4F66"/>
                </a:solidFill>
                <a:latin typeface="Poppins"/>
                <a:ea typeface="Poppins"/>
                <a:cs typeface="Poppins"/>
              </a:defRPr>
            </a:lvl9pPr>
          </a:lstStyle>
          <a:p xmlns:a="http://schemas.openxmlformats.org/drawingml/2006/main">
            <a:pPr>
              <a:defRPr sz="1875" b="0">
                <a:solidFill>
                  <a:srgbClr val="2E4F66"/>
                </a:solidFill>
                <a:latin typeface="Poppins"/>
                <a:ea typeface="Poppins"/>
                <a:cs typeface="Poppins"/>
              </a:defRPr>
            </a:pPr>
            <a:r>
              <a:rPr sz="1875" b="0">
                <a:solidFill>
                  <a:srgbClr val="2E4F66"/>
                </a:solidFill>
                <a:latin typeface="Poppins"/>
                <a:ea typeface="Poppins"/>
                <a:cs typeface="Poppins"/>
              </a:rPr>
              <a:t>A listed file name tells us what to look for.</a:t>
            </a:r>
          </a:p>
        </p:txBody>
      </p:sp>
      <p:pic>
        <p:nvPicPr>
          <p:cNvPr id="5" name="">
            <a:extLst xmlns:a="http://schemas.openxmlformats.org/drawingml/2006/main">
              <a:ext uri="{FF2B5EF4-FFF2-40B4-BE49-F238E27FC236}">
                <a16:creationId xmlns:a16="http://schemas.microsoft.com/office/drawing/2014/main" id="{B8B752FB-ECC9-4B2D-A915-B06AF9C89A36}"/>
              </a:ext>
            </a:extLst>
          </p:cNvPr>
          <p:cNvPicPr>
            <a:picLocks xmlns:a="http://schemas.openxmlformats.org/drawingml/2006/main" noChangeAspect="1"/>
          </p:cNvPicPr>
          <p:nvPr/>
        </p:nvPicPr>
        <p:blipFill>
          <a:blip xmlns:r="http://schemas.openxmlformats.org/officeDocument/2006/relationships" xmlns:a="http://schemas.openxmlformats.org/drawingml/2006/main" r:embed="Rd44cf3aa2ed9422d"/>
          <a:stretch xmlns:a="http://schemas.openxmlformats.org/drawingml/2006/main"/>
        </p:blipFill>
        <p:spPr>
          <a:xfrm xmlns:a="http://schemas.openxmlformats.org/drawingml/2006/main">
            <a:off x="2524125" y="2047875"/>
            <a:ext cx="7143750" cy="2857500"/>
          </a:xfrm>
          <a:prstGeom xmlns:a="http://schemas.openxmlformats.org/drawingml/2006/main" prst="rect">
            <a:avLst/>
          </a:prstGeom>
        </p:spPr>
      </p:pic>
      <p:sp>
        <p:nvSpPr>
          <p:cNvPr id="6" name="Infographic heading">
            <a:extLst xmlns:a="http://schemas.openxmlformats.org/drawingml/2006/main">
              <a:ext uri="{FF2B5EF4-FFF2-40B4-BE49-F238E27FC236}">
                <a16:creationId xmlns:a16="http://schemas.microsoft.com/office/drawing/2014/main" id="{22BB0E30-24E8-4E72-8002-AC4206D348AE}"/>
              </a:ext>
            </a:extLst>
          </p:cNvPr>
          <p:cNvSpPr>
            <a:spLocks xmlns:a="http://schemas.openxmlformats.org/drawingml/2006/main" noGrp="1"/>
          </p:cNvSpPr>
          <p:nvPr/>
        </p:nvSpPr>
        <p:spPr>
          <a:xfrm xmlns:a="http://schemas.openxmlformats.org/drawingml/2006/main">
            <a:off x="7620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The file list</a:t>
            </a:r>
          </a:p>
        </p:txBody>
      </p:sp>
      <p:sp>
        <p:nvSpPr>
          <p:cNvPr id="7" name="Infographic explanation">
            <a:extLst xmlns:a="http://schemas.openxmlformats.org/drawingml/2006/main">
              <a:ext uri="{FF2B5EF4-FFF2-40B4-BE49-F238E27FC236}">
                <a16:creationId xmlns:a16="http://schemas.microsoft.com/office/drawing/2014/main" id="{55E88D0A-51AD-444F-BF3C-81B456C71F99}"/>
              </a:ext>
            </a:extLst>
          </p:cNvPr>
          <p:cNvSpPr>
            <a:spLocks xmlns:a="http://schemas.openxmlformats.org/drawingml/2006/main" noGrp="1"/>
          </p:cNvSpPr>
          <p:nvPr/>
        </p:nvSpPr>
        <p:spPr>
          <a:xfrm xmlns:a="http://schemas.openxmlformats.org/drawingml/2006/main">
            <a:off x="7620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Our list names pretend PDF files.</a:t>
            </a:r>
          </a:p>
        </p:txBody>
      </p:sp>
      <p:sp>
        <p:nvSpPr>
          <p:cNvPr id="8" name="Infographic heading">
            <a:extLst xmlns:a="http://schemas.openxmlformats.org/drawingml/2006/main">
              <a:ext uri="{FF2B5EF4-FFF2-40B4-BE49-F238E27FC236}">
                <a16:creationId xmlns:a16="http://schemas.microsoft.com/office/drawing/2014/main" id="{1E0CF77A-AF5A-47B3-90E9-9C5C379F3BF2}"/>
              </a:ext>
            </a:extLst>
          </p:cNvPr>
          <p:cNvSpPr>
            <a:spLocks xmlns:a="http://schemas.openxmlformats.org/drawingml/2006/main" noGrp="1"/>
          </p:cNvSpPr>
          <p:nvPr/>
        </p:nvSpPr>
        <p:spPr>
          <a:xfrm xmlns:a="http://schemas.openxmlformats.org/drawingml/2006/main">
            <a:off x="43942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The actual document</a:t>
            </a:r>
          </a:p>
        </p:txBody>
      </p:sp>
      <p:sp>
        <p:nvSpPr>
          <p:cNvPr id="9" name="Infographic explanation">
            <a:extLst xmlns:a="http://schemas.openxmlformats.org/drawingml/2006/main">
              <a:ext uri="{FF2B5EF4-FFF2-40B4-BE49-F238E27FC236}">
                <a16:creationId xmlns:a16="http://schemas.microsoft.com/office/drawing/2014/main" id="{C079AFCD-B415-4F5C-983B-F0D6C620F21C}"/>
              </a:ext>
            </a:extLst>
          </p:cNvPr>
          <p:cNvSpPr>
            <a:spLocks xmlns:a="http://schemas.openxmlformats.org/drawingml/2006/main" noGrp="1"/>
          </p:cNvSpPr>
          <p:nvPr/>
        </p:nvSpPr>
        <p:spPr>
          <a:xfrm xmlns:a="http://schemas.openxmlformats.org/drawingml/2006/main">
            <a:off x="43942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Those pretend PDFs are not included.</a:t>
            </a:r>
          </a:p>
        </p:txBody>
      </p:sp>
      <p:sp>
        <p:nvSpPr>
          <p:cNvPr id="10" name="Infographic heading">
            <a:extLst xmlns:a="http://schemas.openxmlformats.org/drawingml/2006/main">
              <a:ext uri="{FF2B5EF4-FFF2-40B4-BE49-F238E27FC236}">
                <a16:creationId xmlns:a16="http://schemas.microsoft.com/office/drawing/2014/main" id="{34B3A26B-0F88-4731-B251-974806B207DF}"/>
              </a:ext>
            </a:extLst>
          </p:cNvPr>
          <p:cNvSpPr>
            <a:spLocks xmlns:a="http://schemas.openxmlformats.org/drawingml/2006/main" noGrp="1"/>
          </p:cNvSpPr>
          <p:nvPr/>
        </p:nvSpPr>
        <p:spPr>
          <a:xfrm xmlns:a="http://schemas.openxmlformats.org/drawingml/2006/main">
            <a:off x="80264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Staff check the file</a:t>
            </a:r>
          </a:p>
        </p:txBody>
      </p:sp>
      <p:sp>
        <p:nvSpPr>
          <p:cNvPr id="11" name="Infographic explanation">
            <a:extLst xmlns:a="http://schemas.openxmlformats.org/drawingml/2006/main">
              <a:ext uri="{FF2B5EF4-FFF2-40B4-BE49-F238E27FC236}">
                <a16:creationId xmlns:a16="http://schemas.microsoft.com/office/drawing/2014/main" id="{C3F25BE1-CB20-49D8-A2FA-532F492E89BB}"/>
              </a:ext>
            </a:extLst>
          </p:cNvPr>
          <p:cNvSpPr>
            <a:spLocks xmlns:a="http://schemas.openxmlformats.org/drawingml/2006/main" noGrp="1"/>
          </p:cNvSpPr>
          <p:nvPr/>
        </p:nvSpPr>
        <p:spPr>
          <a:xfrm xmlns:a="http://schemas.openxmlformats.org/drawingml/2006/main">
            <a:off x="80264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Check the contents before relying on them.</a:t>
            </a:r>
          </a:p>
        </p:txBody>
      </p:sp>
      <p:sp>
        <p:nvSpPr>
          <p:cNvPr id="12" name="Footer">
            <a:extLst xmlns:a="http://schemas.openxmlformats.org/drawingml/2006/main">
              <a:ext uri="{FF2B5EF4-FFF2-40B4-BE49-F238E27FC236}">
                <a16:creationId xmlns:a16="http://schemas.microsoft.com/office/drawing/2014/main" id="{AEA62AFD-B937-40DE-82F5-2280A13813AF}"/>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15 / 31</a:t>
            </a:r>
          </a:p>
        </p:txBody>
      </p:sp>
    </p:spTree>
    <p:extLst>
      <p:ext uri="{BB962C8B-B14F-4D97-AF65-F5344CB8AC3E}">
        <p14:creationId xmlns:p14="http://schemas.microsoft.com/office/powerpoint/2010/main" val="43410836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B48CF1CB-CBA3-4F33-BAD1-91A1E55CF669}"/>
              </a:ext>
            </a:extLst>
          </p:cNvPr>
          <p:cNvPicPr>
            <a:picLocks xmlns:a="http://schemas.openxmlformats.org/drawingml/2006/main" noChangeAspect="1"/>
          </p:cNvPicPr>
          <p:nvPr/>
        </p:nvPicPr>
        <p:blipFill>
          <a:blip xmlns:r="http://schemas.openxmlformats.org/officeDocument/2006/relationships" xmlns:a="http://schemas.openxmlformats.org/drawingml/2006/main" r:embed="R7be90c248cd3435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F016D75B-E2A8-4889-8228-3B36BFA931B8}"/>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5C6A665E-F634-4CCC-A658-FB6B696F258E}"/>
              </a:ext>
            </a:extLst>
          </p:cNvPr>
          <p:cNvSpPr>
            <a:spLocks xmlns:a="http://schemas.openxmlformats.org/drawingml/2006/main" noGrp="1"/>
          </p:cNvSpPr>
          <p:nvPr/>
        </p:nvSpPr>
        <p:spPr>
          <a:xfrm xmlns:a="http://schemas.openxmlformats.org/drawingml/2006/main">
            <a:off x="609600" y="85725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Words in a scoring guide</a:t>
            </a:r>
          </a:p>
        </p:txBody>
      </p:sp>
      <p:sp>
        <p:nvSpPr>
          <p:cNvPr id="4" name="Text">
            <a:extLst xmlns:a="http://schemas.openxmlformats.org/drawingml/2006/main">
              <a:ext uri="{FF2B5EF4-FFF2-40B4-BE49-F238E27FC236}">
                <a16:creationId xmlns:a16="http://schemas.microsoft.com/office/drawing/2014/main" id="{E1824081-E747-40A3-9E38-D311E5D78AAE}"/>
              </a:ext>
            </a:extLst>
          </p:cNvPr>
          <p:cNvSpPr>
            <a:spLocks xmlns:a="http://schemas.openxmlformats.org/drawingml/2006/main" noGrp="1"/>
          </p:cNvSpPr>
          <p:nvPr/>
        </p:nvSpPr>
        <p:spPr>
          <a:xfrm xmlns:a="http://schemas.openxmlformats.org/drawingml/2006/main">
            <a:off x="609600" y="1809750"/>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E4F66"/>
                </a:solidFill>
                <a:latin typeface="Poppins"/>
                <a:ea typeface="Poppins"/>
                <a:cs typeface="Poppins"/>
              </a:defRPr>
            </a:defPPr>
            <a:lvl1pPr>
              <a:defRPr sz="2025" b="0">
                <a:solidFill>
                  <a:srgbClr val="2E4F66"/>
                </a:solidFill>
                <a:latin typeface="Poppins"/>
                <a:ea typeface="Poppins"/>
                <a:cs typeface="Poppins"/>
              </a:defRPr>
            </a:lvl1pPr>
            <a:lvl2pPr>
              <a:defRPr sz="2025" b="0">
                <a:solidFill>
                  <a:srgbClr val="2E4F66"/>
                </a:solidFill>
                <a:latin typeface="Poppins"/>
                <a:ea typeface="Poppins"/>
                <a:cs typeface="Poppins"/>
              </a:defRPr>
            </a:lvl2pPr>
            <a:lvl3pPr>
              <a:defRPr sz="2025" b="0">
                <a:solidFill>
                  <a:srgbClr val="2E4F66"/>
                </a:solidFill>
                <a:latin typeface="Poppins"/>
                <a:ea typeface="Poppins"/>
                <a:cs typeface="Poppins"/>
              </a:defRPr>
            </a:lvl3pPr>
            <a:lvl4pPr>
              <a:defRPr sz="2025" b="0">
                <a:solidFill>
                  <a:srgbClr val="2E4F66"/>
                </a:solidFill>
                <a:latin typeface="Poppins"/>
                <a:ea typeface="Poppins"/>
                <a:cs typeface="Poppins"/>
              </a:defRPr>
            </a:lvl4pPr>
            <a:lvl5pPr>
              <a:defRPr sz="2025" b="0">
                <a:solidFill>
                  <a:srgbClr val="2E4F66"/>
                </a:solidFill>
                <a:latin typeface="Poppins"/>
                <a:ea typeface="Poppins"/>
                <a:cs typeface="Poppins"/>
              </a:defRPr>
            </a:lvl5pPr>
            <a:lvl6pPr>
              <a:defRPr sz="2025" b="0">
                <a:solidFill>
                  <a:srgbClr val="2E4F66"/>
                </a:solidFill>
                <a:latin typeface="Poppins"/>
                <a:ea typeface="Poppins"/>
                <a:cs typeface="Poppins"/>
              </a:defRPr>
            </a:lvl6pPr>
            <a:lvl7pPr>
              <a:defRPr sz="2025" b="0">
                <a:solidFill>
                  <a:srgbClr val="2E4F66"/>
                </a:solidFill>
                <a:latin typeface="Poppins"/>
                <a:ea typeface="Poppins"/>
                <a:cs typeface="Poppins"/>
              </a:defRPr>
            </a:lvl7pPr>
            <a:lvl8pPr>
              <a:defRPr sz="2025" b="0">
                <a:solidFill>
                  <a:srgbClr val="2E4F66"/>
                </a:solidFill>
                <a:latin typeface="Poppins"/>
                <a:ea typeface="Poppins"/>
                <a:cs typeface="Poppins"/>
              </a:defRPr>
            </a:lvl8pPr>
            <a:lvl9pPr>
              <a:defRPr sz="2025" b="0">
                <a:solidFill>
                  <a:srgbClr val="2E4F66"/>
                </a:solidFill>
                <a:latin typeface="Poppins"/>
                <a:ea typeface="Poppins"/>
                <a:cs typeface="Poppins"/>
              </a:defRPr>
            </a:lvl9pPr>
          </a:lstStyle>
          <a:p xmlns:a="http://schemas.openxmlformats.org/drawingml/2006/main">
            <a:pPr>
              <a:defRPr sz="2025" b="0">
                <a:solidFill>
                  <a:srgbClr val="2E4F66"/>
                </a:solidFill>
                <a:latin typeface="Poppins"/>
                <a:ea typeface="Poppins"/>
                <a:cs typeface="Poppins"/>
              </a:defRPr>
            </a:pPr>
            <a:r>
              <a:rPr sz="2025" b="0">
                <a:solidFill>
                  <a:srgbClr val="2E4F66"/>
                </a:solidFill>
                <a:latin typeface="Poppins"/>
                <a:ea typeface="Poppins"/>
                <a:cs typeface="Poppins"/>
              </a:rPr>
              <a:t>A rubric describes how to award points.</a:t>
            </a:r>
          </a:p>
        </p:txBody>
      </p:sp>
      <p:graphicFrame>
        <p:nvGraphicFramePr>
          <p:cNvPr id="5" name="">
            <a:extLst xmlns:a="http://schemas.openxmlformats.org/drawingml/2006/main">
              <a:ext uri="{FF2B5EF4-FFF2-40B4-BE49-F238E27FC236}">
                <a16:creationId xmlns:a16="http://schemas.microsoft.com/office/drawing/2014/main" id="{0B0B9C69-CD57-4839-AB64-2C39BBA1662C}"/>
              </a:ext>
            </a:extLst>
          </p:cNvPr>
          <p:cNvGraphicFramePr/>
          <p:nvPr/>
        </p:nvGraphicFramePr>
        <p:xfrm>
          <a:off xmlns:a="http://schemas.openxmlformats.org/drawingml/2006/main" x="609600" y="2428875"/>
          <a:ext xmlns:a="http://schemas.openxmlformats.org/drawingml/2006/main" cx="10972800" cy="3143250"/>
        </p:xfrm>
        <a:graphic xmlns:a="http://schemas.openxmlformats.org/drawingml/2006/main">
          <a:graphicData uri="http://schemas.openxmlformats.org/drawingml/2006/table">
            <a:tbl>
              <a:tblPr firstRow="1" bandRow="0"/>
              <a:tblGrid>
                <a:gridCol w="2571750"/>
                <a:gridCol w="8401050"/>
              </a:tblGrid>
              <a:tr h="628650">
                <a:tc>
                  <a:txBody>
                    <a:bodyPr/>
                    <a:lstStyle/>
                    <a:p>
                      <a:r>
                        <a:rPr sz="1800" b="1">
                          <a:solidFill>
                            <a:srgbClr val="FFFFFF"/>
                          </a:solidFill>
                          <a:latin typeface="Poppins"/>
                          <a:ea typeface="Poppins"/>
                          <a:cs typeface="Poppins"/>
                        </a:rPr>
                        <a:t>Word</a:t>
                      </a:r>
                    </a:p>
                  </a:txBody>
                  <a:tcPr marL="133350" marR="133350" marT="85725" marB="85725" anchor="t">
                    <a:lnL w="9525">
                      <a:solidFill>
                        <a:srgbClr val="B6D4D6"/>
                      </a:solidFill>
                      <a:prstDash val="solid"/>
                    </a:lnL>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c>
                  <a:txBody>
                    <a:bodyPr/>
                    <a:lstStyle/>
                    <a:p>
                      <a:r>
                        <a:rPr sz="1800" b="1">
                          <a:solidFill>
                            <a:srgbClr val="FFFFFF"/>
                          </a:solidFill>
                          <a:latin typeface="Poppins"/>
                          <a:ea typeface="Poppins"/>
                          <a:cs typeface="Poppins"/>
                        </a:rPr>
                        <a:t>What it means</a:t>
                      </a:r>
                    </a:p>
                  </a:txBody>
                  <a:tcPr marL="133350" marR="133350" marT="85725" marB="85725" anchor="t">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r>
              <a:tr h="628650">
                <a:tc>
                  <a:txBody>
                    <a:bodyPr/>
                    <a:lstStyle/>
                    <a:p>
                      <a:r>
                        <a:rPr sz="1800" b="0">
                          <a:solidFill>
                            <a:srgbClr val="2E4F66"/>
                          </a:solidFill>
                          <a:latin typeface="Poppins"/>
                          <a:ea typeface="Poppins"/>
                          <a:cs typeface="Poppins"/>
                        </a:rPr>
                        <a:t>Criterion</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The part we are judging, such as community contribution</a:t>
                      </a:r>
                    </a:p>
                  </a:txBody>
                  <a:tcPr marL="133350" marR="133350" marT="85725" marB="85725" anchor="t">
                    <a:lnR w="9525">
                      <a:solidFill>
                        <a:srgbClr val="B6D4D6"/>
                      </a:solidFill>
                      <a:prstDash val="solid"/>
                    </a:lnR>
                    <a:lnB w="9525">
                      <a:solidFill>
                        <a:srgbClr val="B6D4D6"/>
                      </a:solidFill>
                      <a:prstDash val="solid"/>
                    </a:lnB>
                    <a:solidFill>
                      <a:srgbClr val="F0F8F8"/>
                    </a:solidFill>
                  </a:tcPr>
                </a:tc>
              </a:tr>
              <a:tr h="628650">
                <a:tc>
                  <a:txBody>
                    <a:bodyPr/>
                    <a:lstStyle/>
                    <a:p>
                      <a:r>
                        <a:rPr sz="1800" b="0">
                          <a:solidFill>
                            <a:srgbClr val="2E4F66"/>
                          </a:solidFill>
                          <a:latin typeface="Poppins"/>
                          <a:ea typeface="Poppins"/>
                          <a:cs typeface="Poppins"/>
                        </a:rPr>
                        <a:t>Anchor</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FFFFF"/>
                    </a:solidFill>
                  </a:tcPr>
                </a:tc>
                <a:tc>
                  <a:txBody>
                    <a:bodyPr/>
                    <a:lstStyle/>
                    <a:p>
                      <a:r>
                        <a:rPr sz="1800" b="0">
                          <a:solidFill>
                            <a:srgbClr val="2E4F66"/>
                          </a:solidFill>
                          <a:latin typeface="Poppins"/>
                          <a:ea typeface="Poppins"/>
                          <a:cs typeface="Poppins"/>
                        </a:rPr>
                        <a:t>The description of what earns a particular score</a:t>
                      </a:r>
                    </a:p>
                  </a:txBody>
                  <a:tcPr marL="133350" marR="133350" marT="85725" marB="85725" anchor="t">
                    <a:lnR w="9525">
                      <a:solidFill>
                        <a:srgbClr val="B6D4D6"/>
                      </a:solidFill>
                      <a:prstDash val="solid"/>
                    </a:lnR>
                    <a:lnB w="9525">
                      <a:solidFill>
                        <a:srgbClr val="B6D4D6"/>
                      </a:solidFill>
                      <a:prstDash val="solid"/>
                    </a:lnB>
                    <a:solidFill>
                      <a:srgbClr val="FFFFFF"/>
                    </a:solidFill>
                  </a:tcPr>
                </a:tc>
              </a:tr>
              <a:tr h="628650">
                <a:tc>
                  <a:txBody>
                    <a:bodyPr/>
                    <a:lstStyle/>
                    <a:p>
                      <a:r>
                        <a:rPr sz="1800" b="0">
                          <a:solidFill>
                            <a:srgbClr val="2E4F66"/>
                          </a:solidFill>
                          <a:latin typeface="Poppins"/>
                          <a:ea typeface="Poppins"/>
                          <a:cs typeface="Poppins"/>
                        </a:rPr>
                        <a:t>Evidence</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The original words or facts supporting a score</a:t>
                      </a:r>
                    </a:p>
                  </a:txBody>
                  <a:tcPr marL="133350" marR="133350" marT="85725" marB="85725" anchor="t">
                    <a:lnR w="9525">
                      <a:solidFill>
                        <a:srgbClr val="B6D4D6"/>
                      </a:solidFill>
                      <a:prstDash val="solid"/>
                    </a:lnR>
                    <a:lnB w="9525">
                      <a:solidFill>
                        <a:srgbClr val="B6D4D6"/>
                      </a:solidFill>
                      <a:prstDash val="solid"/>
                    </a:lnB>
                    <a:solidFill>
                      <a:srgbClr val="F0F8F8"/>
                    </a:solidFill>
                  </a:tcPr>
                </a:tc>
              </a:tr>
              <a:tr h="628650">
                <a:tc>
                  <a:txBody>
                    <a:bodyPr/>
                    <a:lstStyle/>
                    <a:p>
                      <a:r>
                        <a:rPr sz="1800" b="0">
                          <a:solidFill>
                            <a:srgbClr val="2E4F66"/>
                          </a:solidFill>
                          <a:latin typeface="Poppins"/>
                          <a:ea typeface="Poppins"/>
                          <a:cs typeface="Poppins"/>
                        </a:rPr>
                        <a:t>Provisional score</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FFFFF"/>
                    </a:solidFill>
                  </a:tcPr>
                </a:tc>
                <a:tc>
                  <a:txBody>
                    <a:bodyPr/>
                    <a:lstStyle/>
                    <a:p>
                      <a:r>
                        <a:rPr sz="1800" b="0">
                          <a:solidFill>
                            <a:srgbClr val="2E4F66"/>
                          </a:solidFill>
                          <a:latin typeface="Poppins"/>
                          <a:ea typeface="Poppins"/>
                          <a:cs typeface="Poppins"/>
                        </a:rPr>
                        <a:t>A suggested score for a person to check</a:t>
                      </a:r>
                    </a:p>
                  </a:txBody>
                  <a:tcPr marL="133350" marR="133350" marT="85725" marB="85725" anchor="t">
                    <a:lnR w="9525">
                      <a:solidFill>
                        <a:srgbClr val="B6D4D6"/>
                      </a:solidFill>
                      <a:prstDash val="solid"/>
                    </a:lnR>
                    <a:lnB w="9525">
                      <a:solidFill>
                        <a:srgbClr val="B6D4D6"/>
                      </a:solidFill>
                      <a:prstDash val="solid"/>
                    </a:lnB>
                    <a:solidFill>
                      <a:srgbClr val="FFFFFF"/>
                    </a:solidFill>
                  </a:tcPr>
                </a:tc>
              </a:tr>
            </a:tbl>
          </a:graphicData>
        </a:graphic>
      </p:graphicFrame>
      <p:sp>
        <p:nvSpPr>
          <p:cNvPr id="6" name="Footer">
            <a:extLst xmlns:a="http://schemas.openxmlformats.org/drawingml/2006/main">
              <a:ext uri="{FF2B5EF4-FFF2-40B4-BE49-F238E27FC236}">
                <a16:creationId xmlns:a16="http://schemas.microsoft.com/office/drawing/2014/main" id="{1312933C-D51B-4F78-A361-7CDCF5B9223C}"/>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16 / 31</a:t>
            </a:r>
          </a:p>
        </p:txBody>
      </p:sp>
    </p:spTree>
    <p:extLst>
      <p:ext uri="{BB962C8B-B14F-4D97-AF65-F5344CB8AC3E}">
        <p14:creationId xmlns:p14="http://schemas.microsoft.com/office/powerpoint/2010/main" val="937899613"/>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96EE9FB5-E77D-44AA-8904-997247315664}"/>
              </a:ext>
            </a:extLst>
          </p:cNvPr>
          <p:cNvPicPr>
            <a:picLocks xmlns:a="http://schemas.openxmlformats.org/drawingml/2006/main" noChangeAspect="1"/>
          </p:cNvPicPr>
          <p:nvPr/>
        </p:nvPicPr>
        <p:blipFill>
          <a:blip xmlns:r="http://schemas.openxmlformats.org/officeDocument/2006/relationships" xmlns:a="http://schemas.openxmlformats.org/drawingml/2006/main" r:embed="R064f5d7eca464a5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7A29EA71-D5BF-44A5-AD7A-4E056B1B0425}"/>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EE4F2D7B-A0DE-4EFF-A9BD-F7E1CB4610F3}"/>
              </a:ext>
            </a:extLst>
          </p:cNvPr>
          <p:cNvSpPr>
            <a:spLocks xmlns:a="http://schemas.openxmlformats.org/drawingml/2006/main" noGrp="1"/>
          </p:cNvSpPr>
          <p:nvPr/>
        </p:nvSpPr>
        <p:spPr>
          <a:xfrm xmlns:a="http://schemas.openxmlformats.org/drawingml/2006/main">
            <a:off x="609600" y="85725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Our three ChatGPT demonstrations</a:t>
            </a:r>
          </a:p>
        </p:txBody>
      </p:sp>
      <p:sp>
        <p:nvSpPr>
          <p:cNvPr id="4" name="Text">
            <a:extLst xmlns:a="http://schemas.openxmlformats.org/drawingml/2006/main">
              <a:ext uri="{FF2B5EF4-FFF2-40B4-BE49-F238E27FC236}">
                <a16:creationId xmlns:a16="http://schemas.microsoft.com/office/drawing/2014/main" id="{090B51EC-7B6E-43BC-B33E-C6F7A7B5D6FC}"/>
              </a:ext>
            </a:extLst>
          </p:cNvPr>
          <p:cNvSpPr>
            <a:spLocks xmlns:a="http://schemas.openxmlformats.org/drawingml/2006/main" noGrp="1"/>
          </p:cNvSpPr>
          <p:nvPr/>
        </p:nvSpPr>
        <p:spPr>
          <a:xfrm xmlns:a="http://schemas.openxmlformats.org/drawingml/2006/main">
            <a:off x="609600" y="1809750"/>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E4F66"/>
                </a:solidFill>
                <a:latin typeface="Poppins"/>
                <a:ea typeface="Poppins"/>
                <a:cs typeface="Poppins"/>
              </a:defRPr>
            </a:defPPr>
            <a:lvl1pPr>
              <a:defRPr sz="2025" b="0">
                <a:solidFill>
                  <a:srgbClr val="2E4F66"/>
                </a:solidFill>
                <a:latin typeface="Poppins"/>
                <a:ea typeface="Poppins"/>
                <a:cs typeface="Poppins"/>
              </a:defRPr>
            </a:lvl1pPr>
            <a:lvl2pPr>
              <a:defRPr sz="2025" b="0">
                <a:solidFill>
                  <a:srgbClr val="2E4F66"/>
                </a:solidFill>
                <a:latin typeface="Poppins"/>
                <a:ea typeface="Poppins"/>
                <a:cs typeface="Poppins"/>
              </a:defRPr>
            </a:lvl2pPr>
            <a:lvl3pPr>
              <a:defRPr sz="2025" b="0">
                <a:solidFill>
                  <a:srgbClr val="2E4F66"/>
                </a:solidFill>
                <a:latin typeface="Poppins"/>
                <a:ea typeface="Poppins"/>
                <a:cs typeface="Poppins"/>
              </a:defRPr>
            </a:lvl3pPr>
            <a:lvl4pPr>
              <a:defRPr sz="2025" b="0">
                <a:solidFill>
                  <a:srgbClr val="2E4F66"/>
                </a:solidFill>
                <a:latin typeface="Poppins"/>
                <a:ea typeface="Poppins"/>
                <a:cs typeface="Poppins"/>
              </a:defRPr>
            </a:lvl4pPr>
            <a:lvl5pPr>
              <a:defRPr sz="2025" b="0">
                <a:solidFill>
                  <a:srgbClr val="2E4F66"/>
                </a:solidFill>
                <a:latin typeface="Poppins"/>
                <a:ea typeface="Poppins"/>
                <a:cs typeface="Poppins"/>
              </a:defRPr>
            </a:lvl5pPr>
            <a:lvl6pPr>
              <a:defRPr sz="2025" b="0">
                <a:solidFill>
                  <a:srgbClr val="2E4F66"/>
                </a:solidFill>
                <a:latin typeface="Poppins"/>
                <a:ea typeface="Poppins"/>
                <a:cs typeface="Poppins"/>
              </a:defRPr>
            </a:lvl6pPr>
            <a:lvl7pPr>
              <a:defRPr sz="2025" b="0">
                <a:solidFill>
                  <a:srgbClr val="2E4F66"/>
                </a:solidFill>
                <a:latin typeface="Poppins"/>
                <a:ea typeface="Poppins"/>
                <a:cs typeface="Poppins"/>
              </a:defRPr>
            </a:lvl7pPr>
            <a:lvl8pPr>
              <a:defRPr sz="2025" b="0">
                <a:solidFill>
                  <a:srgbClr val="2E4F66"/>
                </a:solidFill>
                <a:latin typeface="Poppins"/>
                <a:ea typeface="Poppins"/>
                <a:cs typeface="Poppins"/>
              </a:defRPr>
            </a:lvl8pPr>
            <a:lvl9pPr>
              <a:defRPr sz="2025" b="0">
                <a:solidFill>
                  <a:srgbClr val="2E4F66"/>
                </a:solidFill>
                <a:latin typeface="Poppins"/>
                <a:ea typeface="Poppins"/>
                <a:cs typeface="Poppins"/>
              </a:defRPr>
            </a:lvl9pPr>
          </a:lstStyle>
          <a:p xmlns:a="http://schemas.openxmlformats.org/drawingml/2006/main">
            <a:pPr>
              <a:defRPr sz="2025" b="0">
                <a:solidFill>
                  <a:srgbClr val="2E4F66"/>
                </a:solidFill>
                <a:latin typeface="Poppins"/>
                <a:ea typeface="Poppins"/>
                <a:cs typeface="Poppins"/>
              </a:defRPr>
            </a:pPr>
            <a:r>
              <a:rPr sz="2025" b="0">
                <a:solidFill>
                  <a:srgbClr val="2E4F66"/>
                </a:solidFill>
                <a:latin typeface="Poppins"/>
                <a:ea typeface="Poppins"/>
                <a:cs typeface="Poppins"/>
              </a:rPr>
              <a:t>One task at a time, with a person checking the answer</a:t>
            </a:r>
          </a:p>
        </p:txBody>
      </p:sp>
      <p:graphicFrame>
        <p:nvGraphicFramePr>
          <p:cNvPr id="5" name="">
            <a:extLst xmlns:a="http://schemas.openxmlformats.org/drawingml/2006/main">
              <a:ext uri="{FF2B5EF4-FFF2-40B4-BE49-F238E27FC236}">
                <a16:creationId xmlns:a16="http://schemas.microsoft.com/office/drawing/2014/main" id="{C516F995-6BF6-4DC7-89E8-135B70D84EE2}"/>
              </a:ext>
            </a:extLst>
          </p:cNvPr>
          <p:cNvGraphicFramePr/>
          <p:nvPr/>
        </p:nvGraphicFramePr>
        <p:xfrm>
          <a:off xmlns:a="http://schemas.openxmlformats.org/drawingml/2006/main" x="609600" y="2428875"/>
          <a:ext xmlns:a="http://schemas.openxmlformats.org/drawingml/2006/main" cx="10972800" cy="3124200"/>
        </p:xfrm>
        <a:graphic xmlns:a="http://schemas.openxmlformats.org/drawingml/2006/main">
          <a:graphicData uri="http://schemas.openxmlformats.org/drawingml/2006/table">
            <a:tbl>
              <a:tblPr firstRow="1" bandRow="0"/>
              <a:tblGrid>
                <a:gridCol w="2476500"/>
                <a:gridCol w="4286250"/>
                <a:gridCol w="4210050"/>
              </a:tblGrid>
              <a:tr h="781050">
                <a:tc>
                  <a:txBody>
                    <a:bodyPr/>
                    <a:lstStyle/>
                    <a:p>
                      <a:r>
                        <a:rPr sz="1800" b="1">
                          <a:solidFill>
                            <a:srgbClr val="FFFFFF"/>
                          </a:solidFill>
                          <a:latin typeface="Poppins"/>
                          <a:ea typeface="Poppins"/>
                          <a:cs typeface="Poppins"/>
                        </a:rPr>
                        <a:t>Task</a:t>
                      </a:r>
                    </a:p>
                  </a:txBody>
                  <a:tcPr marL="133350" marR="133350" marT="85725" marB="85725" anchor="t">
                    <a:lnL w="9525">
                      <a:solidFill>
                        <a:srgbClr val="B6D4D6"/>
                      </a:solidFill>
                      <a:prstDash val="solid"/>
                    </a:lnL>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c>
                  <a:txBody>
                    <a:bodyPr/>
                    <a:lstStyle/>
                    <a:p>
                      <a:r>
                        <a:rPr sz="1800" b="1">
                          <a:solidFill>
                            <a:srgbClr val="FFFFFF"/>
                          </a:solidFill>
                          <a:latin typeface="Poppins"/>
                          <a:ea typeface="Poppins"/>
                          <a:cs typeface="Poppins"/>
                        </a:rPr>
                        <a:t>What AI prepares</a:t>
                      </a:r>
                    </a:p>
                  </a:txBody>
                  <a:tcPr marL="133350" marR="133350" marT="85725" marB="85725" anchor="t">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c>
                  <a:txBody>
                    <a:bodyPr/>
                    <a:lstStyle/>
                    <a:p>
                      <a:r>
                        <a:rPr sz="1800" b="1">
                          <a:solidFill>
                            <a:srgbClr val="FFFFFF"/>
                          </a:solidFill>
                          <a:latin typeface="Poppins"/>
                          <a:ea typeface="Poppins"/>
                          <a:cs typeface="Poppins"/>
                        </a:rPr>
                        <a:t>What staff check</a:t>
                      </a:r>
                    </a:p>
                  </a:txBody>
                  <a:tcPr marL="133350" marR="133350" marT="85725" marB="85725" anchor="t">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r>
              <a:tr h="781050">
                <a:tc>
                  <a:txBody>
                    <a:bodyPr/>
                    <a:lstStyle/>
                    <a:p>
                      <a:r>
                        <a:rPr sz="1800" b="0">
                          <a:solidFill>
                            <a:srgbClr val="2E4F66"/>
                          </a:solidFill>
                          <a:latin typeface="Poppins"/>
                          <a:ea typeface="Poppins"/>
                          <a:cs typeface="Poppins"/>
                        </a:rPr>
                        <a:t>Organize files</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A list for each applicant</a:t>
                      </a:r>
                    </a:p>
                  </a:txBody>
                  <a:tcPr marL="133350" marR="133350" marT="85725" marB="85725" anchor="t">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Every item on the original file list</a:t>
                      </a:r>
                    </a:p>
                  </a:txBody>
                  <a:tcPr marL="133350" marR="133350" marT="85725" marB="85725" anchor="t">
                    <a:lnR w="9525">
                      <a:solidFill>
                        <a:srgbClr val="B6D4D6"/>
                      </a:solidFill>
                      <a:prstDash val="solid"/>
                    </a:lnR>
                    <a:lnB w="9525">
                      <a:solidFill>
                        <a:srgbClr val="B6D4D6"/>
                      </a:solidFill>
                      <a:prstDash val="solid"/>
                    </a:lnB>
                    <a:solidFill>
                      <a:srgbClr val="F0F8F8"/>
                    </a:solidFill>
                  </a:tcPr>
                </a:tc>
              </a:tr>
              <a:tr h="781050">
                <a:tc>
                  <a:txBody>
                    <a:bodyPr/>
                    <a:lstStyle/>
                    <a:p>
                      <a:r>
                        <a:rPr sz="1800" b="0">
                          <a:solidFill>
                            <a:srgbClr val="2E4F66"/>
                          </a:solidFill>
                          <a:latin typeface="Poppins"/>
                          <a:ea typeface="Poppins"/>
                          <a:cs typeface="Poppins"/>
                        </a:rPr>
                        <a:t>Check office records</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FFFFF"/>
                    </a:solidFill>
                  </a:tcPr>
                </a:tc>
                <a:tc>
                  <a:txBody>
                    <a:bodyPr/>
                    <a:lstStyle/>
                    <a:p>
                      <a:r>
                        <a:rPr sz="1800" b="0">
                          <a:solidFill>
                            <a:srgbClr val="2E4F66"/>
                          </a:solidFill>
                          <a:latin typeface="Poppins"/>
                          <a:ea typeface="Poppins"/>
                          <a:cs typeface="Poppins"/>
                        </a:rPr>
                        <a:t>Missing items and late dates</a:t>
                      </a:r>
                    </a:p>
                  </a:txBody>
                  <a:tcPr marL="133350" marR="133350" marT="85725" marB="85725" anchor="t">
                    <a:lnR w="9525">
                      <a:solidFill>
                        <a:srgbClr val="B6D4D6"/>
                      </a:solidFill>
                      <a:prstDash val="solid"/>
                    </a:lnR>
                    <a:lnB w="9525">
                      <a:solidFill>
                        <a:srgbClr val="B6D4D6"/>
                      </a:solidFill>
                      <a:prstDash val="solid"/>
                    </a:lnB>
                    <a:solidFill>
                      <a:srgbClr val="FFFFFF"/>
                    </a:solidFill>
                  </a:tcPr>
                </a:tc>
                <a:tc>
                  <a:txBody>
                    <a:bodyPr/>
                    <a:lstStyle/>
                    <a:p>
                      <a:r>
                        <a:rPr sz="1800" b="0">
                          <a:solidFill>
                            <a:srgbClr val="2E4F66"/>
                          </a:solidFill>
                          <a:latin typeface="Poppins"/>
                          <a:ea typeface="Poppins"/>
                          <a:cs typeface="Poppins"/>
                        </a:rPr>
                        <a:t>Actual records and any exceptions</a:t>
                      </a:r>
                    </a:p>
                  </a:txBody>
                  <a:tcPr marL="133350" marR="133350" marT="85725" marB="85725" anchor="t">
                    <a:lnR w="9525">
                      <a:solidFill>
                        <a:srgbClr val="B6D4D6"/>
                      </a:solidFill>
                      <a:prstDash val="solid"/>
                    </a:lnR>
                    <a:lnB w="9525">
                      <a:solidFill>
                        <a:srgbClr val="B6D4D6"/>
                      </a:solidFill>
                      <a:prstDash val="solid"/>
                    </a:lnB>
                    <a:solidFill>
                      <a:srgbClr val="FFFFFF"/>
                    </a:solidFill>
                  </a:tcPr>
                </a:tc>
              </a:tr>
              <a:tr h="781050">
                <a:tc>
                  <a:txBody>
                    <a:bodyPr/>
                    <a:lstStyle/>
                    <a:p>
                      <a:r>
                        <a:rPr sz="1800" b="0">
                          <a:solidFill>
                            <a:srgbClr val="2E4F66"/>
                          </a:solidFill>
                          <a:latin typeface="Poppins"/>
                          <a:ea typeface="Poppins"/>
                          <a:cs typeface="Poppins"/>
                        </a:rPr>
                        <a:t>Use a scoring guide</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Quotes and a suggested score</a:t>
                      </a:r>
                    </a:p>
                  </a:txBody>
                  <a:tcPr marL="133350" marR="133350" marT="85725" marB="85725" anchor="t">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Original words and the scoring rule</a:t>
                      </a:r>
                    </a:p>
                  </a:txBody>
                  <a:tcPr marL="133350" marR="133350" marT="85725" marB="85725" anchor="t">
                    <a:lnR w="9525">
                      <a:solidFill>
                        <a:srgbClr val="B6D4D6"/>
                      </a:solidFill>
                      <a:prstDash val="solid"/>
                    </a:lnR>
                    <a:lnB w="9525">
                      <a:solidFill>
                        <a:srgbClr val="B6D4D6"/>
                      </a:solidFill>
                      <a:prstDash val="solid"/>
                    </a:lnB>
                    <a:solidFill>
                      <a:srgbClr val="F0F8F8"/>
                    </a:solidFill>
                  </a:tcPr>
                </a:tc>
              </a:tr>
            </a:tbl>
          </a:graphicData>
        </a:graphic>
      </p:graphicFrame>
      <p:sp>
        <p:nvSpPr>
          <p:cNvPr id="6" name="Resource link">
            <a:extLst xmlns:a="http://schemas.openxmlformats.org/drawingml/2006/main">
              <a:ext uri="{FF2B5EF4-FFF2-40B4-BE49-F238E27FC236}">
                <a16:creationId xmlns:a16="http://schemas.microsoft.com/office/drawing/2014/main" id="{6F97BA74-B8FC-4950-8127-268E199EF336}"/>
              </a:ext>
            </a:extLst>
          </p:cNvPr>
          <p:cNvSpPr>
            <a:spLocks xmlns:a="http://schemas.openxmlformats.org/drawingml/2006/main" noGrp="1"/>
          </p:cNvSpPr>
          <p:nvPr/>
        </p:nvSpPr>
        <p:spPr>
          <a:xfrm xmlns:a="http://schemas.openxmlformats.org/drawingml/2006/main">
            <a:off x="609600" y="57150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681"/>
                </a:solidFill>
                <a:latin typeface="Poppins"/>
                <a:ea typeface="Poppins"/>
                <a:cs typeface="Poppins"/>
              </a:defRPr>
            </a:defPPr>
            <a:lvl1pPr>
              <a:defRPr sz="1725" b="1">
                <a:solidFill>
                  <a:srgbClr val="007681"/>
                </a:solidFill>
                <a:latin typeface="Poppins"/>
                <a:ea typeface="Poppins"/>
                <a:cs typeface="Poppins"/>
              </a:defRPr>
            </a:lvl1pPr>
            <a:lvl2pPr>
              <a:defRPr sz="1725" b="1">
                <a:solidFill>
                  <a:srgbClr val="007681"/>
                </a:solidFill>
                <a:latin typeface="Poppins"/>
                <a:ea typeface="Poppins"/>
                <a:cs typeface="Poppins"/>
              </a:defRPr>
            </a:lvl2pPr>
            <a:lvl3pPr>
              <a:defRPr sz="1725" b="1">
                <a:solidFill>
                  <a:srgbClr val="007681"/>
                </a:solidFill>
                <a:latin typeface="Poppins"/>
                <a:ea typeface="Poppins"/>
                <a:cs typeface="Poppins"/>
              </a:defRPr>
            </a:lvl3pPr>
            <a:lvl4pPr>
              <a:defRPr sz="1725" b="1">
                <a:solidFill>
                  <a:srgbClr val="007681"/>
                </a:solidFill>
                <a:latin typeface="Poppins"/>
                <a:ea typeface="Poppins"/>
                <a:cs typeface="Poppins"/>
              </a:defRPr>
            </a:lvl4pPr>
            <a:lvl5pPr>
              <a:defRPr sz="1725" b="1">
                <a:solidFill>
                  <a:srgbClr val="007681"/>
                </a:solidFill>
                <a:latin typeface="Poppins"/>
                <a:ea typeface="Poppins"/>
                <a:cs typeface="Poppins"/>
              </a:defRPr>
            </a:lvl5pPr>
            <a:lvl6pPr>
              <a:defRPr sz="1725" b="1">
                <a:solidFill>
                  <a:srgbClr val="007681"/>
                </a:solidFill>
                <a:latin typeface="Poppins"/>
                <a:ea typeface="Poppins"/>
                <a:cs typeface="Poppins"/>
              </a:defRPr>
            </a:lvl6pPr>
            <a:lvl7pPr>
              <a:defRPr sz="1725" b="1">
                <a:solidFill>
                  <a:srgbClr val="007681"/>
                </a:solidFill>
                <a:latin typeface="Poppins"/>
                <a:ea typeface="Poppins"/>
                <a:cs typeface="Poppins"/>
              </a:defRPr>
            </a:lvl7pPr>
            <a:lvl8pPr>
              <a:defRPr sz="1725" b="1">
                <a:solidFill>
                  <a:srgbClr val="007681"/>
                </a:solidFill>
                <a:latin typeface="Poppins"/>
                <a:ea typeface="Poppins"/>
                <a:cs typeface="Poppins"/>
              </a:defRPr>
            </a:lvl8pPr>
            <a:lvl9pPr>
              <a:defRPr sz="1725" b="1">
                <a:solidFill>
                  <a:srgbClr val="007681"/>
                </a:solidFill>
                <a:latin typeface="Poppins"/>
                <a:ea typeface="Poppins"/>
                <a:cs typeface="Poppins"/>
              </a:defRPr>
            </a:lvl9pPr>
          </a:lstStyle>
          <a:p xmlns:a="http://schemas.openxmlformats.org/drawingml/2006/main">
            <a:pPr>
              <a:defRPr sz="1725" b="1">
                <a:solidFill>
                  <a:srgbClr val="007681"/>
                </a:solidFill>
                <a:latin typeface="Poppins"/>
                <a:ea typeface="Poppins"/>
                <a:cs typeface="Poppins"/>
              </a:defRPr>
            </a:pPr>
            <a:r>
              <a:rPr sz="1725" b="1" u="sng">
                <a:solidFill>
                  <a:srgbClr val="007681"/>
                </a:solidFill>
                <a:latin typeface="Poppins"/>
                <a:ea typeface="Poppins"/>
                <a:cs typeface="Poppins"/>
                <a:hlinkClick xmlns:r="http://schemas.openxmlformats.org/officeDocument/2006/relationships" r:id="Rfebfef59188043ad"/>
              </a:rPr>
              <a:t>Open the three demonstrations</a:t>
            </a:r>
          </a:p>
        </p:txBody>
      </p:sp>
      <p:sp>
        <p:nvSpPr>
          <p:cNvPr id="7" name="Footer">
            <a:extLst xmlns:a="http://schemas.openxmlformats.org/drawingml/2006/main">
              <a:ext uri="{FF2B5EF4-FFF2-40B4-BE49-F238E27FC236}">
                <a16:creationId xmlns:a16="http://schemas.microsoft.com/office/drawing/2014/main" id="{21ACBBFA-9710-42EF-9687-32F382953CE7}"/>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17 / 31</a:t>
            </a:r>
          </a:p>
        </p:txBody>
      </p:sp>
    </p:spTree>
    <p:extLst>
      <p:ext uri="{BB962C8B-B14F-4D97-AF65-F5344CB8AC3E}">
        <p14:creationId xmlns:p14="http://schemas.microsoft.com/office/powerpoint/2010/main" val="1296192198"/>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D1EB7012-5A86-4652-9EC9-129EDDC4F338}"/>
              </a:ext>
            </a:extLst>
          </p:cNvPr>
          <p:cNvPicPr>
            <a:picLocks xmlns:a="http://schemas.openxmlformats.org/drawingml/2006/main" noChangeAspect="1"/>
          </p:cNvPicPr>
          <p:nvPr/>
        </p:nvPicPr>
        <p:blipFill>
          <a:blip xmlns:r="http://schemas.openxmlformats.org/officeDocument/2006/relationships" xmlns:a="http://schemas.openxmlformats.org/drawingml/2006/main" r:embed="Rbe462758f0a14ed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2AB2BC65-4F35-4B69-AF99-C6FB85647FD8}"/>
              </a:ext>
            </a:extLst>
          </p:cNvPr>
          <p:cNvSpPr>
            <a:spLocks xmlns:a="http://schemas.openxmlformats.org/drawingml/2006/main" noGrp="1"/>
          </p:cNvSpPr>
          <p:nvPr/>
        </p:nvSpPr>
        <p:spPr>
          <a:xfrm xmlns:a="http://schemas.openxmlformats.org/drawingml/2006/main">
            <a:off x="609600" y="40957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B7805AC9-9CA8-412E-9F2D-ACF56EB49489}"/>
              </a:ext>
            </a:extLst>
          </p:cNvPr>
          <p:cNvSpPr>
            <a:spLocks xmlns:a="http://schemas.openxmlformats.org/drawingml/2006/main" noGrp="1"/>
          </p:cNvSpPr>
          <p:nvPr/>
        </p:nvSpPr>
        <p:spPr>
          <a:xfrm xmlns:a="http://schemas.openxmlformats.org/drawingml/2006/main">
            <a:off x="609600" y="8572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Starting the practice in ChatGPT</a:t>
            </a:r>
          </a:p>
        </p:txBody>
      </p:sp>
      <p:sp>
        <p:nvSpPr>
          <p:cNvPr id="4" name="Text">
            <a:extLst xmlns:a="http://schemas.openxmlformats.org/drawingml/2006/main">
              <a:ext uri="{FF2B5EF4-FFF2-40B4-BE49-F238E27FC236}">
                <a16:creationId xmlns:a16="http://schemas.microsoft.com/office/drawing/2014/main" id="{98B74312-55CD-4A5F-BE30-BDFFD99709D6}"/>
              </a:ext>
            </a:extLst>
          </p:cNvPr>
          <p:cNvSpPr>
            <a:spLocks xmlns:a="http://schemas.openxmlformats.org/drawingml/2006/main" noGrp="1"/>
          </p:cNvSpPr>
          <p:nvPr/>
        </p:nvSpPr>
        <p:spPr>
          <a:xfrm xmlns:a="http://schemas.openxmlformats.org/drawingml/2006/main">
            <a:off x="609600" y="15811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E4F66"/>
                </a:solidFill>
                <a:latin typeface="Poppins"/>
                <a:ea typeface="Poppins"/>
                <a:cs typeface="Poppins"/>
              </a:defRPr>
            </a:defPPr>
            <a:lvl1pPr>
              <a:defRPr sz="1875" b="0">
                <a:solidFill>
                  <a:srgbClr val="2E4F66"/>
                </a:solidFill>
                <a:latin typeface="Poppins"/>
                <a:ea typeface="Poppins"/>
                <a:cs typeface="Poppins"/>
              </a:defRPr>
            </a:lvl1pPr>
            <a:lvl2pPr>
              <a:defRPr sz="1875" b="0">
                <a:solidFill>
                  <a:srgbClr val="2E4F66"/>
                </a:solidFill>
                <a:latin typeface="Poppins"/>
                <a:ea typeface="Poppins"/>
                <a:cs typeface="Poppins"/>
              </a:defRPr>
            </a:lvl2pPr>
            <a:lvl3pPr>
              <a:defRPr sz="1875" b="0">
                <a:solidFill>
                  <a:srgbClr val="2E4F66"/>
                </a:solidFill>
                <a:latin typeface="Poppins"/>
                <a:ea typeface="Poppins"/>
                <a:cs typeface="Poppins"/>
              </a:defRPr>
            </a:lvl3pPr>
            <a:lvl4pPr>
              <a:defRPr sz="1875" b="0">
                <a:solidFill>
                  <a:srgbClr val="2E4F66"/>
                </a:solidFill>
                <a:latin typeface="Poppins"/>
                <a:ea typeface="Poppins"/>
                <a:cs typeface="Poppins"/>
              </a:defRPr>
            </a:lvl4pPr>
            <a:lvl5pPr>
              <a:defRPr sz="1875" b="0">
                <a:solidFill>
                  <a:srgbClr val="2E4F66"/>
                </a:solidFill>
                <a:latin typeface="Poppins"/>
                <a:ea typeface="Poppins"/>
                <a:cs typeface="Poppins"/>
              </a:defRPr>
            </a:lvl5pPr>
            <a:lvl6pPr>
              <a:defRPr sz="1875" b="0">
                <a:solidFill>
                  <a:srgbClr val="2E4F66"/>
                </a:solidFill>
                <a:latin typeface="Poppins"/>
                <a:ea typeface="Poppins"/>
                <a:cs typeface="Poppins"/>
              </a:defRPr>
            </a:lvl6pPr>
            <a:lvl7pPr>
              <a:defRPr sz="1875" b="0">
                <a:solidFill>
                  <a:srgbClr val="2E4F66"/>
                </a:solidFill>
                <a:latin typeface="Poppins"/>
                <a:ea typeface="Poppins"/>
                <a:cs typeface="Poppins"/>
              </a:defRPr>
            </a:lvl7pPr>
            <a:lvl8pPr>
              <a:defRPr sz="1875" b="0">
                <a:solidFill>
                  <a:srgbClr val="2E4F66"/>
                </a:solidFill>
                <a:latin typeface="Poppins"/>
                <a:ea typeface="Poppins"/>
                <a:cs typeface="Poppins"/>
              </a:defRPr>
            </a:lvl8pPr>
            <a:lvl9pPr>
              <a:defRPr sz="1875" b="0">
                <a:solidFill>
                  <a:srgbClr val="2E4F66"/>
                </a:solidFill>
                <a:latin typeface="Poppins"/>
                <a:ea typeface="Poppins"/>
                <a:cs typeface="Poppins"/>
              </a:defRPr>
            </a:lvl9pPr>
          </a:lstStyle>
          <a:p xmlns:a="http://schemas.openxmlformats.org/drawingml/2006/main">
            <a:pPr>
              <a:defRPr sz="1875" b="0">
                <a:solidFill>
                  <a:srgbClr val="2E4F66"/>
                </a:solidFill>
                <a:latin typeface="Poppins"/>
                <a:ea typeface="Poppins"/>
                <a:cs typeface="Poppins"/>
              </a:defRPr>
            </a:pPr>
            <a:r>
              <a:rPr sz="1875" b="0">
                <a:solidFill>
                  <a:srgbClr val="2E4F66"/>
                </a:solidFill>
                <a:latin typeface="Poppins"/>
                <a:ea typeface="Poppins"/>
                <a:cs typeface="Poppins"/>
              </a:rPr>
              <a:t>A fresh chat is enough for these exercises.</a:t>
            </a:r>
          </a:p>
        </p:txBody>
      </p:sp>
      <p:pic>
        <p:nvPicPr>
          <p:cNvPr id="5" name="">
            <a:extLst xmlns:a="http://schemas.openxmlformats.org/drawingml/2006/main">
              <a:ext uri="{FF2B5EF4-FFF2-40B4-BE49-F238E27FC236}">
                <a16:creationId xmlns:a16="http://schemas.microsoft.com/office/drawing/2014/main" id="{FCAEBA0E-AFD1-4F3D-8073-AB4E5B96119D}"/>
              </a:ext>
            </a:extLst>
          </p:cNvPr>
          <p:cNvPicPr>
            <a:picLocks xmlns:a="http://schemas.openxmlformats.org/drawingml/2006/main" noChangeAspect="1"/>
          </p:cNvPicPr>
          <p:nvPr/>
        </p:nvPicPr>
        <p:blipFill>
          <a:blip xmlns:r="http://schemas.openxmlformats.org/officeDocument/2006/relationships" xmlns:a="http://schemas.openxmlformats.org/drawingml/2006/main" r:embed="R4657b468015249be"/>
          <a:stretch xmlns:a="http://schemas.openxmlformats.org/drawingml/2006/main"/>
        </p:blipFill>
        <p:spPr>
          <a:xfrm xmlns:a="http://schemas.openxmlformats.org/drawingml/2006/main">
            <a:off x="1809750" y="2047875"/>
            <a:ext cx="8572500" cy="2857500"/>
          </a:xfrm>
          <a:prstGeom xmlns:a="http://schemas.openxmlformats.org/drawingml/2006/main" prst="rect">
            <a:avLst/>
          </a:prstGeom>
        </p:spPr>
      </p:pic>
      <p:sp>
        <p:nvSpPr>
          <p:cNvPr id="6" name="Infographic heading">
            <a:extLst xmlns:a="http://schemas.openxmlformats.org/drawingml/2006/main">
              <a:ext uri="{FF2B5EF4-FFF2-40B4-BE49-F238E27FC236}">
                <a16:creationId xmlns:a16="http://schemas.microsoft.com/office/drawing/2014/main" id="{762E8E30-182B-4BF7-906F-29D02BEAD5E2}"/>
              </a:ext>
            </a:extLst>
          </p:cNvPr>
          <p:cNvSpPr>
            <a:spLocks xmlns:a="http://schemas.openxmlformats.org/drawingml/2006/main" noGrp="1"/>
          </p:cNvSpPr>
          <p:nvPr/>
        </p:nvSpPr>
        <p:spPr>
          <a:xfrm xmlns:a="http://schemas.openxmlformats.org/drawingml/2006/main">
            <a:off x="7620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Start a fresh chat</a:t>
            </a:r>
          </a:p>
        </p:txBody>
      </p:sp>
      <p:sp>
        <p:nvSpPr>
          <p:cNvPr id="7" name="Infographic explanation">
            <a:extLst xmlns:a="http://schemas.openxmlformats.org/drawingml/2006/main">
              <a:ext uri="{FF2B5EF4-FFF2-40B4-BE49-F238E27FC236}">
                <a16:creationId xmlns:a16="http://schemas.microsoft.com/office/drawing/2014/main" id="{77E78FCC-D798-425D-9178-5278BC7DF5E9}"/>
              </a:ext>
            </a:extLst>
          </p:cNvPr>
          <p:cNvSpPr>
            <a:spLocks xmlns:a="http://schemas.openxmlformats.org/drawingml/2006/main" noGrp="1"/>
          </p:cNvSpPr>
          <p:nvPr/>
        </p:nvSpPr>
        <p:spPr>
          <a:xfrm xmlns:a="http://schemas.openxmlformats.org/drawingml/2006/main">
            <a:off x="7620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A Project is optional for getting started.</a:t>
            </a:r>
          </a:p>
        </p:txBody>
      </p:sp>
      <p:sp>
        <p:nvSpPr>
          <p:cNvPr id="8" name="Infographic heading">
            <a:extLst xmlns:a="http://schemas.openxmlformats.org/drawingml/2006/main">
              <a:ext uri="{FF2B5EF4-FFF2-40B4-BE49-F238E27FC236}">
                <a16:creationId xmlns:a16="http://schemas.microsoft.com/office/drawing/2014/main" id="{BC2AC6F0-A26A-472F-819D-9A2F1EF10AC4}"/>
              </a:ext>
            </a:extLst>
          </p:cNvPr>
          <p:cNvSpPr>
            <a:spLocks xmlns:a="http://schemas.openxmlformats.org/drawingml/2006/main" noGrp="1"/>
          </p:cNvSpPr>
          <p:nvPr/>
        </p:nvSpPr>
        <p:spPr>
          <a:xfrm xmlns:a="http://schemas.openxmlformats.org/drawingml/2006/main">
            <a:off x="43942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Add the task materials</a:t>
            </a:r>
          </a:p>
        </p:txBody>
      </p:sp>
      <p:sp>
        <p:nvSpPr>
          <p:cNvPr id="9" name="Infographic explanation">
            <a:extLst xmlns:a="http://schemas.openxmlformats.org/drawingml/2006/main">
              <a:ext uri="{FF2B5EF4-FFF2-40B4-BE49-F238E27FC236}">
                <a16:creationId xmlns:a16="http://schemas.microsoft.com/office/drawing/2014/main" id="{32F4A2CD-D863-48B6-B1EB-D664246FD05D}"/>
              </a:ext>
            </a:extLst>
          </p:cNvPr>
          <p:cNvSpPr>
            <a:spLocks xmlns:a="http://schemas.openxmlformats.org/drawingml/2006/main" noGrp="1"/>
          </p:cNvSpPr>
          <p:nvPr/>
        </p:nvSpPr>
        <p:spPr>
          <a:xfrm xmlns:a="http://schemas.openxmlformats.org/drawingml/2006/main">
            <a:off x="43942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Add the instructions and only the named files.</a:t>
            </a:r>
          </a:p>
        </p:txBody>
      </p:sp>
      <p:sp>
        <p:nvSpPr>
          <p:cNvPr id="10" name="Infographic heading">
            <a:extLst xmlns:a="http://schemas.openxmlformats.org/drawingml/2006/main">
              <a:ext uri="{FF2B5EF4-FFF2-40B4-BE49-F238E27FC236}">
                <a16:creationId xmlns:a16="http://schemas.microsoft.com/office/drawing/2014/main" id="{B5648E77-4D47-45D8-9EAC-B08C7E2F5FB1}"/>
              </a:ext>
            </a:extLst>
          </p:cNvPr>
          <p:cNvSpPr>
            <a:spLocks xmlns:a="http://schemas.openxmlformats.org/drawingml/2006/main" noGrp="1"/>
          </p:cNvSpPr>
          <p:nvPr/>
        </p:nvSpPr>
        <p:spPr>
          <a:xfrm xmlns:a="http://schemas.openxmlformats.org/drawingml/2006/main">
            <a:off x="80264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Run and check</a:t>
            </a:r>
          </a:p>
        </p:txBody>
      </p:sp>
      <p:sp>
        <p:nvSpPr>
          <p:cNvPr id="11" name="Infographic explanation">
            <a:extLst xmlns:a="http://schemas.openxmlformats.org/drawingml/2006/main">
              <a:ext uri="{FF2B5EF4-FFF2-40B4-BE49-F238E27FC236}">
                <a16:creationId xmlns:a16="http://schemas.microsoft.com/office/drawing/2014/main" id="{912168D0-A9E4-40AA-A238-B777948F02DE}"/>
              </a:ext>
            </a:extLst>
          </p:cNvPr>
          <p:cNvSpPr>
            <a:spLocks xmlns:a="http://schemas.openxmlformats.org/drawingml/2006/main" noGrp="1"/>
          </p:cNvSpPr>
          <p:nvPr/>
        </p:nvSpPr>
        <p:spPr>
          <a:xfrm xmlns:a="http://schemas.openxmlformats.org/drawingml/2006/main">
            <a:off x="80264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Paste the prompt. Compare the answer with the files.</a:t>
            </a:r>
          </a:p>
        </p:txBody>
      </p:sp>
      <p:sp>
        <p:nvSpPr>
          <p:cNvPr id="12" name="Resource link">
            <a:extLst xmlns:a="http://schemas.openxmlformats.org/drawingml/2006/main">
              <a:ext uri="{FF2B5EF4-FFF2-40B4-BE49-F238E27FC236}">
                <a16:creationId xmlns:a16="http://schemas.microsoft.com/office/drawing/2014/main" id="{B76BEC50-CB27-4304-A55A-2DEA55B1CA08}"/>
              </a:ext>
            </a:extLst>
          </p:cNvPr>
          <p:cNvSpPr>
            <a:spLocks xmlns:a="http://schemas.openxmlformats.org/drawingml/2006/main" noGrp="1"/>
          </p:cNvSpPr>
          <p:nvPr/>
        </p:nvSpPr>
        <p:spPr>
          <a:xfrm xmlns:a="http://schemas.openxmlformats.org/drawingml/2006/main">
            <a:off x="8001000" y="409575"/>
            <a:ext cx="3581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u="sng">
                <a:solidFill>
                  <a:srgbClr val="007681"/>
                </a:solidFill>
                <a:latin typeface="Poppins"/>
                <a:ea typeface="Poppins"/>
                <a:cs typeface="Poppins"/>
                <a:hlinkClick xmlns:r="http://schemas.openxmlformats.org/officeDocument/2006/relationships" r:id="R598d5263eddb4813"/>
              </a:rPr>
              <a:t>Open practice activity</a:t>
            </a:r>
          </a:p>
        </p:txBody>
      </p:sp>
      <p:sp>
        <p:nvSpPr>
          <p:cNvPr id="13" name="Footer">
            <a:extLst xmlns:a="http://schemas.openxmlformats.org/drawingml/2006/main">
              <a:ext uri="{FF2B5EF4-FFF2-40B4-BE49-F238E27FC236}">
                <a16:creationId xmlns:a16="http://schemas.microsoft.com/office/drawing/2014/main" id="{028CC6AE-188A-4DB3-B3E9-29DA5D5676DE}"/>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18 / 31</a:t>
            </a:r>
          </a:p>
        </p:txBody>
      </p:sp>
    </p:spTree>
    <p:extLst>
      <p:ext uri="{BB962C8B-B14F-4D97-AF65-F5344CB8AC3E}">
        <p14:creationId xmlns:p14="http://schemas.microsoft.com/office/powerpoint/2010/main" val="772937641"/>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B8E5EDF8-960C-4E86-BCC6-FB1E1AFE82DE}"/>
              </a:ext>
            </a:extLst>
          </p:cNvPr>
          <p:cNvPicPr>
            <a:picLocks xmlns:a="http://schemas.openxmlformats.org/drawingml/2006/main" noChangeAspect="1"/>
          </p:cNvPicPr>
          <p:nvPr/>
        </p:nvPicPr>
        <p:blipFill>
          <a:blip xmlns:r="http://schemas.openxmlformats.org/officeDocument/2006/relationships" xmlns:a="http://schemas.openxmlformats.org/drawingml/2006/main" r:embed="Rb06cc0703b4a438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1FA5D392-C6FA-41DE-A0FB-9F72CE99EB09}"/>
              </a:ext>
            </a:extLst>
          </p:cNvPr>
          <p:cNvSpPr>
            <a:spLocks xmlns:a="http://schemas.openxmlformats.org/drawingml/2006/main" noGrp="1"/>
          </p:cNvSpPr>
          <p:nvPr/>
        </p:nvSpPr>
        <p:spPr>
          <a:xfrm xmlns:a="http://schemas.openxmlformats.org/drawingml/2006/main">
            <a:off x="609600" y="40957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DE48D35D-5577-4E6E-9FC9-BD98B8F6B785}"/>
              </a:ext>
            </a:extLst>
          </p:cNvPr>
          <p:cNvSpPr>
            <a:spLocks xmlns:a="http://schemas.openxmlformats.org/drawingml/2006/main" noGrp="1"/>
          </p:cNvSpPr>
          <p:nvPr/>
        </p:nvSpPr>
        <p:spPr>
          <a:xfrm xmlns:a="http://schemas.openxmlformats.org/drawingml/2006/main">
            <a:off x="609600" y="8572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Demo 1: organizing application files</a:t>
            </a:r>
          </a:p>
        </p:txBody>
      </p:sp>
      <p:sp>
        <p:nvSpPr>
          <p:cNvPr id="4" name="Text">
            <a:extLst xmlns:a="http://schemas.openxmlformats.org/drawingml/2006/main">
              <a:ext uri="{FF2B5EF4-FFF2-40B4-BE49-F238E27FC236}">
                <a16:creationId xmlns:a16="http://schemas.microsoft.com/office/drawing/2014/main" id="{E4ABF413-3BD3-45CB-8A45-28026A3DF5A4}"/>
              </a:ext>
            </a:extLst>
          </p:cNvPr>
          <p:cNvSpPr>
            <a:spLocks xmlns:a="http://schemas.openxmlformats.org/drawingml/2006/main" noGrp="1"/>
          </p:cNvSpPr>
          <p:nvPr/>
        </p:nvSpPr>
        <p:spPr>
          <a:xfrm xmlns:a="http://schemas.openxmlformats.org/drawingml/2006/main">
            <a:off x="609600" y="15811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E4F66"/>
                </a:solidFill>
                <a:latin typeface="Poppins"/>
                <a:ea typeface="Poppins"/>
                <a:cs typeface="Poppins"/>
              </a:defRPr>
            </a:defPPr>
            <a:lvl1pPr>
              <a:defRPr sz="1875" b="0">
                <a:solidFill>
                  <a:srgbClr val="2E4F66"/>
                </a:solidFill>
                <a:latin typeface="Poppins"/>
                <a:ea typeface="Poppins"/>
                <a:cs typeface="Poppins"/>
              </a:defRPr>
            </a:lvl1pPr>
            <a:lvl2pPr>
              <a:defRPr sz="1875" b="0">
                <a:solidFill>
                  <a:srgbClr val="2E4F66"/>
                </a:solidFill>
                <a:latin typeface="Poppins"/>
                <a:ea typeface="Poppins"/>
                <a:cs typeface="Poppins"/>
              </a:defRPr>
            </a:lvl2pPr>
            <a:lvl3pPr>
              <a:defRPr sz="1875" b="0">
                <a:solidFill>
                  <a:srgbClr val="2E4F66"/>
                </a:solidFill>
                <a:latin typeface="Poppins"/>
                <a:ea typeface="Poppins"/>
                <a:cs typeface="Poppins"/>
              </a:defRPr>
            </a:lvl3pPr>
            <a:lvl4pPr>
              <a:defRPr sz="1875" b="0">
                <a:solidFill>
                  <a:srgbClr val="2E4F66"/>
                </a:solidFill>
                <a:latin typeface="Poppins"/>
                <a:ea typeface="Poppins"/>
                <a:cs typeface="Poppins"/>
              </a:defRPr>
            </a:lvl4pPr>
            <a:lvl5pPr>
              <a:defRPr sz="1875" b="0">
                <a:solidFill>
                  <a:srgbClr val="2E4F66"/>
                </a:solidFill>
                <a:latin typeface="Poppins"/>
                <a:ea typeface="Poppins"/>
                <a:cs typeface="Poppins"/>
              </a:defRPr>
            </a:lvl5pPr>
            <a:lvl6pPr>
              <a:defRPr sz="1875" b="0">
                <a:solidFill>
                  <a:srgbClr val="2E4F66"/>
                </a:solidFill>
                <a:latin typeface="Poppins"/>
                <a:ea typeface="Poppins"/>
                <a:cs typeface="Poppins"/>
              </a:defRPr>
            </a:lvl6pPr>
            <a:lvl7pPr>
              <a:defRPr sz="1875" b="0">
                <a:solidFill>
                  <a:srgbClr val="2E4F66"/>
                </a:solidFill>
                <a:latin typeface="Poppins"/>
                <a:ea typeface="Poppins"/>
                <a:cs typeface="Poppins"/>
              </a:defRPr>
            </a:lvl7pPr>
            <a:lvl8pPr>
              <a:defRPr sz="1875" b="0">
                <a:solidFill>
                  <a:srgbClr val="2E4F66"/>
                </a:solidFill>
                <a:latin typeface="Poppins"/>
                <a:ea typeface="Poppins"/>
                <a:cs typeface="Poppins"/>
              </a:defRPr>
            </a:lvl8pPr>
            <a:lvl9pPr>
              <a:defRPr sz="1875" b="0">
                <a:solidFill>
                  <a:srgbClr val="2E4F66"/>
                </a:solidFill>
                <a:latin typeface="Poppins"/>
                <a:ea typeface="Poppins"/>
                <a:cs typeface="Poppins"/>
              </a:defRPr>
            </a:lvl9pPr>
          </a:lstStyle>
          <a:p xmlns:a="http://schemas.openxmlformats.org/drawingml/2006/main">
            <a:pPr>
              <a:defRPr sz="1875" b="0">
                <a:solidFill>
                  <a:srgbClr val="2E4F66"/>
                </a:solidFill>
                <a:latin typeface="Poppins"/>
                <a:ea typeface="Poppins"/>
                <a:cs typeface="Poppins"/>
              </a:defRPr>
            </a:pPr>
            <a:r>
              <a:rPr sz="1875" b="0">
                <a:solidFill>
                  <a:srgbClr val="2E4F66"/>
                </a:solidFill>
                <a:latin typeface="Poppins"/>
                <a:ea typeface="Poppins"/>
                <a:cs typeface="Poppins"/>
              </a:rPr>
              <a:t>The job is to make the file list easier to inspect.</a:t>
            </a:r>
          </a:p>
        </p:txBody>
      </p:sp>
      <p:pic>
        <p:nvPicPr>
          <p:cNvPr id="5" name="">
            <a:extLst xmlns:a="http://schemas.openxmlformats.org/drawingml/2006/main">
              <a:ext uri="{FF2B5EF4-FFF2-40B4-BE49-F238E27FC236}">
                <a16:creationId xmlns:a16="http://schemas.microsoft.com/office/drawing/2014/main" id="{2EB3BEF8-31CF-4BEF-B7C4-E318EF29BF43}"/>
              </a:ext>
            </a:extLst>
          </p:cNvPr>
          <p:cNvPicPr>
            <a:picLocks xmlns:a="http://schemas.openxmlformats.org/drawingml/2006/main" noChangeAspect="1"/>
          </p:cNvPicPr>
          <p:nvPr/>
        </p:nvPicPr>
        <p:blipFill>
          <a:blip xmlns:r="http://schemas.openxmlformats.org/officeDocument/2006/relationships" xmlns:a="http://schemas.openxmlformats.org/drawingml/2006/main" r:embed="R4e51ad0c2fc14cec"/>
          <a:stretch xmlns:a="http://schemas.openxmlformats.org/drawingml/2006/main"/>
        </p:blipFill>
        <p:spPr>
          <a:xfrm xmlns:a="http://schemas.openxmlformats.org/drawingml/2006/main">
            <a:off x="2524125" y="2047875"/>
            <a:ext cx="7143750" cy="2857500"/>
          </a:xfrm>
          <a:prstGeom xmlns:a="http://schemas.openxmlformats.org/drawingml/2006/main" prst="rect">
            <a:avLst/>
          </a:prstGeom>
        </p:spPr>
      </p:pic>
      <p:sp>
        <p:nvSpPr>
          <p:cNvPr id="6" name="Infographic heading">
            <a:extLst xmlns:a="http://schemas.openxmlformats.org/drawingml/2006/main">
              <a:ext uri="{FF2B5EF4-FFF2-40B4-BE49-F238E27FC236}">
                <a16:creationId xmlns:a16="http://schemas.microsoft.com/office/drawing/2014/main" id="{90867F81-0632-4FD8-9058-6F99FA0BD809}"/>
              </a:ext>
            </a:extLst>
          </p:cNvPr>
          <p:cNvSpPr>
            <a:spLocks xmlns:a="http://schemas.openxmlformats.org/drawingml/2006/main" noGrp="1"/>
          </p:cNvSpPr>
          <p:nvPr/>
        </p:nvSpPr>
        <p:spPr>
          <a:xfrm xmlns:a="http://schemas.openxmlformats.org/drawingml/2006/main">
            <a:off x="7620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Use two source tables</a:t>
            </a:r>
          </a:p>
        </p:txBody>
      </p:sp>
      <p:sp>
        <p:nvSpPr>
          <p:cNvPr id="7" name="Infographic explanation">
            <a:extLst xmlns:a="http://schemas.openxmlformats.org/drawingml/2006/main">
              <a:ext uri="{FF2B5EF4-FFF2-40B4-BE49-F238E27FC236}">
                <a16:creationId xmlns:a16="http://schemas.microsoft.com/office/drawing/2014/main" id="{B63BE8B6-D9A8-44AD-851B-B15CB8E9C05B}"/>
              </a:ext>
            </a:extLst>
          </p:cNvPr>
          <p:cNvSpPr>
            <a:spLocks xmlns:a="http://schemas.openxmlformats.org/drawingml/2006/main" noGrp="1"/>
          </p:cNvSpPr>
          <p:nvPr/>
        </p:nvSpPr>
        <p:spPr>
          <a:xfrm xmlns:a="http://schemas.openxmlformats.org/drawingml/2006/main">
            <a:off x="7620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manifest.csv and applications.csv</a:t>
            </a:r>
          </a:p>
        </p:txBody>
      </p:sp>
      <p:sp>
        <p:nvSpPr>
          <p:cNvPr id="8" name="Infographic heading">
            <a:extLst xmlns:a="http://schemas.openxmlformats.org/drawingml/2006/main">
              <a:ext uri="{FF2B5EF4-FFF2-40B4-BE49-F238E27FC236}">
                <a16:creationId xmlns:a16="http://schemas.microsoft.com/office/drawing/2014/main" id="{53FF821B-3B31-4438-B4DE-8E8A8939859F}"/>
              </a:ext>
            </a:extLst>
          </p:cNvPr>
          <p:cNvSpPr>
            <a:spLocks xmlns:a="http://schemas.openxmlformats.org/drawingml/2006/main" noGrp="1"/>
          </p:cNvSpPr>
          <p:nvPr/>
        </p:nvSpPr>
        <p:spPr>
          <a:xfrm xmlns:a="http://schemas.openxmlformats.org/drawingml/2006/main">
            <a:off x="43942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Group by applicant code</a:t>
            </a:r>
          </a:p>
        </p:txBody>
      </p:sp>
      <p:sp>
        <p:nvSpPr>
          <p:cNvPr id="9" name="Infographic explanation">
            <a:extLst xmlns:a="http://schemas.openxmlformats.org/drawingml/2006/main">
              <a:ext uri="{FF2B5EF4-FFF2-40B4-BE49-F238E27FC236}">
                <a16:creationId xmlns:a16="http://schemas.microsoft.com/office/drawing/2014/main" id="{43856E9A-FC9B-449F-B6AD-07710334A084}"/>
              </a:ext>
            </a:extLst>
          </p:cNvPr>
          <p:cNvSpPr>
            <a:spLocks xmlns:a="http://schemas.openxmlformats.org/drawingml/2006/main" noGrp="1"/>
          </p:cNvSpPr>
          <p:nvPr/>
        </p:nvSpPr>
        <p:spPr>
          <a:xfrm xmlns:a="http://schemas.openxmlformats.org/drawingml/2006/main">
            <a:off x="43942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Keep A17, A18, A19, and all 12 listed entries.</a:t>
            </a:r>
          </a:p>
        </p:txBody>
      </p:sp>
      <p:sp>
        <p:nvSpPr>
          <p:cNvPr id="10" name="Infographic heading">
            <a:extLst xmlns:a="http://schemas.openxmlformats.org/drawingml/2006/main">
              <a:ext uri="{FF2B5EF4-FFF2-40B4-BE49-F238E27FC236}">
                <a16:creationId xmlns:a16="http://schemas.microsoft.com/office/drawing/2014/main" id="{8F2B92E5-0C60-4623-AF62-50BE82AE2FAF}"/>
              </a:ext>
            </a:extLst>
          </p:cNvPr>
          <p:cNvSpPr>
            <a:spLocks xmlns:a="http://schemas.openxmlformats.org/drawingml/2006/main" noGrp="1"/>
          </p:cNvSpPr>
          <p:nvPr/>
        </p:nvSpPr>
        <p:spPr>
          <a:xfrm xmlns:a="http://schemas.openxmlformats.org/drawingml/2006/main">
            <a:off x="80264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Check the inventory</a:t>
            </a:r>
          </a:p>
        </p:txBody>
      </p:sp>
      <p:sp>
        <p:nvSpPr>
          <p:cNvPr id="11" name="Infographic explanation">
            <a:extLst xmlns:a="http://schemas.openxmlformats.org/drawingml/2006/main">
              <a:ext uri="{FF2B5EF4-FFF2-40B4-BE49-F238E27FC236}">
                <a16:creationId xmlns:a16="http://schemas.microsoft.com/office/drawing/2014/main" id="{D4D8B82D-C0C2-4F2F-9AF6-663B97719E7E}"/>
              </a:ext>
            </a:extLst>
          </p:cNvPr>
          <p:cNvSpPr>
            <a:spLocks xmlns:a="http://schemas.openxmlformats.org/drawingml/2006/main" noGrp="1"/>
          </p:cNvSpPr>
          <p:nvPr/>
        </p:nvSpPr>
        <p:spPr>
          <a:xfrm xmlns:a="http://schemas.openxmlformats.org/drawingml/2006/main">
            <a:off x="80264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Staff verify the actual documents and any gaps.</a:t>
            </a:r>
          </a:p>
        </p:txBody>
      </p:sp>
      <p:sp>
        <p:nvSpPr>
          <p:cNvPr id="12" name="Resource link">
            <a:extLst xmlns:a="http://schemas.openxmlformats.org/drawingml/2006/main">
              <a:ext uri="{FF2B5EF4-FFF2-40B4-BE49-F238E27FC236}">
                <a16:creationId xmlns:a16="http://schemas.microsoft.com/office/drawing/2014/main" id="{234CCE75-A318-4B3D-9612-411B599C0DE4}"/>
              </a:ext>
            </a:extLst>
          </p:cNvPr>
          <p:cNvSpPr>
            <a:spLocks xmlns:a="http://schemas.openxmlformats.org/drawingml/2006/main" noGrp="1"/>
          </p:cNvSpPr>
          <p:nvPr/>
        </p:nvSpPr>
        <p:spPr>
          <a:xfrm xmlns:a="http://schemas.openxmlformats.org/drawingml/2006/main">
            <a:off x="8001000" y="409575"/>
            <a:ext cx="3581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u="sng">
                <a:solidFill>
                  <a:srgbClr val="007681"/>
                </a:solidFill>
                <a:latin typeface="Poppins"/>
                <a:ea typeface="Poppins"/>
                <a:cs typeface="Poppins"/>
                <a:hlinkClick xmlns:r="http://schemas.openxmlformats.org/officeDocument/2006/relationships" r:id="R4b99c83d8468492e"/>
              </a:rPr>
              <a:t>Open practice activity</a:t>
            </a:r>
          </a:p>
        </p:txBody>
      </p:sp>
      <p:sp>
        <p:nvSpPr>
          <p:cNvPr id="13" name="Footer">
            <a:extLst xmlns:a="http://schemas.openxmlformats.org/drawingml/2006/main">
              <a:ext uri="{FF2B5EF4-FFF2-40B4-BE49-F238E27FC236}">
                <a16:creationId xmlns:a16="http://schemas.microsoft.com/office/drawing/2014/main" id="{DF1BBC44-1F26-49AC-A891-2CA691A4F4A9}"/>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19 / 31</a:t>
            </a:r>
          </a:p>
        </p:txBody>
      </p:sp>
    </p:spTree>
    <p:extLst>
      <p:ext uri="{BB962C8B-B14F-4D97-AF65-F5344CB8AC3E}">
        <p14:creationId xmlns:p14="http://schemas.microsoft.com/office/powerpoint/2010/main" val="1625493254"/>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83249B10-A383-4D75-A815-88639B615A8F}"/>
              </a:ext>
            </a:extLst>
          </p:cNvPr>
          <p:cNvPicPr>
            <a:picLocks xmlns:a="http://schemas.openxmlformats.org/drawingml/2006/main" noChangeAspect="1"/>
          </p:cNvPicPr>
          <p:nvPr/>
        </p:nvPicPr>
        <p:blipFill>
          <a:blip xmlns:r="http://schemas.openxmlformats.org/officeDocument/2006/relationships" xmlns:a="http://schemas.openxmlformats.org/drawingml/2006/main" r:embed="Rb1925977026a4ce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1DCC0F38-A962-4988-829B-A3B9C8FB6AE3}"/>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06BF015A-ABEC-4174-9DD1-AFD008798581}"/>
              </a:ext>
            </a:extLst>
          </p:cNvPr>
          <p:cNvSpPr>
            <a:spLocks xmlns:a="http://schemas.openxmlformats.org/drawingml/2006/main" noGrp="1"/>
          </p:cNvSpPr>
          <p:nvPr/>
        </p:nvSpPr>
        <p:spPr>
          <a:xfrm xmlns:a="http://schemas.openxmlformats.org/drawingml/2006/main">
            <a:off x="609600" y="85725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Demo 1: checking the file list</a:t>
            </a:r>
          </a:p>
        </p:txBody>
      </p:sp>
      <p:sp>
        <p:nvSpPr>
          <p:cNvPr id="4" name="Text">
            <a:extLst xmlns:a="http://schemas.openxmlformats.org/drawingml/2006/main">
              <a:ext uri="{FF2B5EF4-FFF2-40B4-BE49-F238E27FC236}">
                <a16:creationId xmlns:a16="http://schemas.microsoft.com/office/drawing/2014/main" id="{F173893F-C8DD-4EF9-9BD8-808A3288EF98}"/>
              </a:ext>
            </a:extLst>
          </p:cNvPr>
          <p:cNvSpPr>
            <a:spLocks xmlns:a="http://schemas.openxmlformats.org/drawingml/2006/main" noGrp="1"/>
          </p:cNvSpPr>
          <p:nvPr/>
        </p:nvSpPr>
        <p:spPr>
          <a:xfrm xmlns:a="http://schemas.openxmlformats.org/drawingml/2006/main">
            <a:off x="609600" y="1809750"/>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E4F66"/>
                </a:solidFill>
                <a:latin typeface="Poppins"/>
                <a:ea typeface="Poppins"/>
                <a:cs typeface="Poppins"/>
              </a:defRPr>
            </a:defPPr>
            <a:lvl1pPr>
              <a:defRPr sz="2025" b="0">
                <a:solidFill>
                  <a:srgbClr val="2E4F66"/>
                </a:solidFill>
                <a:latin typeface="Poppins"/>
                <a:ea typeface="Poppins"/>
                <a:cs typeface="Poppins"/>
              </a:defRPr>
            </a:lvl1pPr>
            <a:lvl2pPr>
              <a:defRPr sz="2025" b="0">
                <a:solidFill>
                  <a:srgbClr val="2E4F66"/>
                </a:solidFill>
                <a:latin typeface="Poppins"/>
                <a:ea typeface="Poppins"/>
                <a:cs typeface="Poppins"/>
              </a:defRPr>
            </a:lvl2pPr>
            <a:lvl3pPr>
              <a:defRPr sz="2025" b="0">
                <a:solidFill>
                  <a:srgbClr val="2E4F66"/>
                </a:solidFill>
                <a:latin typeface="Poppins"/>
                <a:ea typeface="Poppins"/>
                <a:cs typeface="Poppins"/>
              </a:defRPr>
            </a:lvl3pPr>
            <a:lvl4pPr>
              <a:defRPr sz="2025" b="0">
                <a:solidFill>
                  <a:srgbClr val="2E4F66"/>
                </a:solidFill>
                <a:latin typeface="Poppins"/>
                <a:ea typeface="Poppins"/>
                <a:cs typeface="Poppins"/>
              </a:defRPr>
            </a:lvl4pPr>
            <a:lvl5pPr>
              <a:defRPr sz="2025" b="0">
                <a:solidFill>
                  <a:srgbClr val="2E4F66"/>
                </a:solidFill>
                <a:latin typeface="Poppins"/>
                <a:ea typeface="Poppins"/>
                <a:cs typeface="Poppins"/>
              </a:defRPr>
            </a:lvl5pPr>
            <a:lvl6pPr>
              <a:defRPr sz="2025" b="0">
                <a:solidFill>
                  <a:srgbClr val="2E4F66"/>
                </a:solidFill>
                <a:latin typeface="Poppins"/>
                <a:ea typeface="Poppins"/>
                <a:cs typeface="Poppins"/>
              </a:defRPr>
            </a:lvl6pPr>
            <a:lvl7pPr>
              <a:defRPr sz="2025" b="0">
                <a:solidFill>
                  <a:srgbClr val="2E4F66"/>
                </a:solidFill>
                <a:latin typeface="Poppins"/>
                <a:ea typeface="Poppins"/>
                <a:cs typeface="Poppins"/>
              </a:defRPr>
            </a:lvl7pPr>
            <a:lvl8pPr>
              <a:defRPr sz="2025" b="0">
                <a:solidFill>
                  <a:srgbClr val="2E4F66"/>
                </a:solidFill>
                <a:latin typeface="Poppins"/>
                <a:ea typeface="Poppins"/>
                <a:cs typeface="Poppins"/>
              </a:defRPr>
            </a:lvl8pPr>
            <a:lvl9pPr>
              <a:defRPr sz="2025" b="0">
                <a:solidFill>
                  <a:srgbClr val="2E4F66"/>
                </a:solidFill>
                <a:latin typeface="Poppins"/>
                <a:ea typeface="Poppins"/>
                <a:cs typeface="Poppins"/>
              </a:defRPr>
            </a:lvl9pPr>
          </a:lstStyle>
          <a:p xmlns:a="http://schemas.openxmlformats.org/drawingml/2006/main">
            <a:pPr>
              <a:defRPr sz="2025" b="0">
                <a:solidFill>
                  <a:srgbClr val="2E4F66"/>
                </a:solidFill>
                <a:latin typeface="Poppins"/>
                <a:ea typeface="Poppins"/>
                <a:cs typeface="Poppins"/>
              </a:defRPr>
            </a:pPr>
            <a:r>
              <a:rPr sz="2025" b="0">
                <a:solidFill>
                  <a:srgbClr val="2E4F66"/>
                </a:solidFill>
                <a:latin typeface="Poppins"/>
                <a:ea typeface="Poppins"/>
                <a:cs typeface="Poppins"/>
              </a:rPr>
              <a:t>Prepared teaching example; compare your actual answer with the files.</a:t>
            </a:r>
          </a:p>
        </p:txBody>
      </p:sp>
      <p:graphicFrame>
        <p:nvGraphicFramePr>
          <p:cNvPr id="5" name="">
            <a:extLst xmlns:a="http://schemas.openxmlformats.org/drawingml/2006/main">
              <a:ext uri="{FF2B5EF4-FFF2-40B4-BE49-F238E27FC236}">
                <a16:creationId xmlns:a16="http://schemas.microsoft.com/office/drawing/2014/main" id="{84367AE6-7B2F-4208-92F0-E9BCA37CEA14}"/>
              </a:ext>
            </a:extLst>
          </p:cNvPr>
          <p:cNvGraphicFramePr/>
          <p:nvPr/>
        </p:nvGraphicFramePr>
        <p:xfrm>
          <a:off xmlns:a="http://schemas.openxmlformats.org/drawingml/2006/main" x="609600" y="2428875"/>
          <a:ext xmlns:a="http://schemas.openxmlformats.org/drawingml/2006/main" cx="10972800" cy="3124200"/>
        </p:xfrm>
        <a:graphic xmlns:a="http://schemas.openxmlformats.org/drawingml/2006/main">
          <a:graphicData uri="http://schemas.openxmlformats.org/drawingml/2006/table">
            <a:tbl>
              <a:tblPr firstRow="1" bandRow="0"/>
              <a:tblGrid>
                <a:gridCol w="1238250"/>
                <a:gridCol w="5429250"/>
                <a:gridCol w="4305300"/>
              </a:tblGrid>
              <a:tr h="781050">
                <a:tc>
                  <a:txBody>
                    <a:bodyPr/>
                    <a:lstStyle/>
                    <a:p>
                      <a:r>
                        <a:rPr sz="1800" b="1">
                          <a:solidFill>
                            <a:srgbClr val="FFFFFF"/>
                          </a:solidFill>
                          <a:latin typeface="Poppins"/>
                          <a:ea typeface="Poppins"/>
                          <a:cs typeface="Poppins"/>
                        </a:rPr>
                        <a:t>Code</a:t>
                      </a:r>
                    </a:p>
                  </a:txBody>
                  <a:tcPr marL="133350" marR="133350" marT="85725" marB="85725" anchor="t">
                    <a:lnL w="9525">
                      <a:solidFill>
                        <a:srgbClr val="B6D4D6"/>
                      </a:solidFill>
                      <a:prstDash val="solid"/>
                    </a:lnL>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c>
                  <a:txBody>
                    <a:bodyPr/>
                    <a:lstStyle/>
                    <a:p>
                      <a:r>
                        <a:rPr sz="1800" b="1">
                          <a:solidFill>
                            <a:srgbClr val="FFFFFF"/>
                          </a:solidFill>
                          <a:latin typeface="Poppins"/>
                          <a:ea typeface="Poppins"/>
                          <a:cs typeface="Poppins"/>
                        </a:rPr>
                        <a:t>What the list shows</a:t>
                      </a:r>
                    </a:p>
                  </a:txBody>
                  <a:tcPr marL="133350" marR="133350" marT="85725" marB="85725" anchor="t">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c>
                  <a:txBody>
                    <a:bodyPr/>
                    <a:lstStyle/>
                    <a:p>
                      <a:r>
                        <a:rPr sz="1800" b="1">
                          <a:solidFill>
                            <a:srgbClr val="FFFFFF"/>
                          </a:solidFill>
                          <a:latin typeface="Poppins"/>
                          <a:ea typeface="Poppins"/>
                          <a:cs typeface="Poppins"/>
                        </a:rPr>
                        <a:t>Staff follow-up</a:t>
                      </a:r>
                    </a:p>
                  </a:txBody>
                  <a:tcPr marL="133350" marR="133350" marT="85725" marB="85725" anchor="t">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r>
              <a:tr h="781050">
                <a:tc>
                  <a:txBody>
                    <a:bodyPr/>
                    <a:lstStyle/>
                    <a:p>
                      <a:r>
                        <a:rPr sz="1800" b="0">
                          <a:solidFill>
                            <a:srgbClr val="2E4F66"/>
                          </a:solidFill>
                          <a:latin typeface="Poppins"/>
                          <a:ea typeface="Poppins"/>
                          <a:cs typeface="Poppins"/>
                        </a:rPr>
                        <a:t>A17</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Statement, transcript, reference</a:t>
                      </a:r>
                    </a:p>
                  </a:txBody>
                  <a:tcPr marL="133350" marR="133350" marT="85725" marB="85725" anchor="t">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Open and check the documents</a:t>
                      </a:r>
                    </a:p>
                  </a:txBody>
                  <a:tcPr marL="133350" marR="133350" marT="85725" marB="85725" anchor="t">
                    <a:lnR w="9525">
                      <a:solidFill>
                        <a:srgbClr val="B6D4D6"/>
                      </a:solidFill>
                      <a:prstDash val="solid"/>
                    </a:lnR>
                    <a:lnB w="9525">
                      <a:solidFill>
                        <a:srgbClr val="B6D4D6"/>
                      </a:solidFill>
                      <a:prstDash val="solid"/>
                    </a:lnB>
                    <a:solidFill>
                      <a:srgbClr val="F0F8F8"/>
                    </a:solidFill>
                  </a:tcPr>
                </a:tc>
              </a:tr>
              <a:tr h="781050">
                <a:tc>
                  <a:txBody>
                    <a:bodyPr/>
                    <a:lstStyle/>
                    <a:p>
                      <a:r>
                        <a:rPr sz="1800" b="0">
                          <a:solidFill>
                            <a:srgbClr val="2E4F66"/>
                          </a:solidFill>
                          <a:latin typeface="Poppins"/>
                          <a:ea typeface="Poppins"/>
                          <a:cs typeface="Poppins"/>
                        </a:rPr>
                        <a:t>A18</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FFFFF"/>
                    </a:solidFill>
                  </a:tcPr>
                </a:tc>
                <a:tc>
                  <a:txBody>
                    <a:bodyPr/>
                    <a:lstStyle/>
                    <a:p>
                      <a:r>
                        <a:rPr sz="1800" b="0">
                          <a:solidFill>
                            <a:srgbClr val="2E4F66"/>
                          </a:solidFill>
                          <a:latin typeface="Poppins"/>
                          <a:ea typeface="Poppins"/>
                          <a:cs typeface="Poppins"/>
                        </a:rPr>
                        <a:t>No reference listed</a:t>
                      </a:r>
                    </a:p>
                  </a:txBody>
                  <a:tcPr marL="133350" marR="133350" marT="85725" marB="85725" anchor="t">
                    <a:lnR w="9525">
                      <a:solidFill>
                        <a:srgbClr val="B6D4D6"/>
                      </a:solidFill>
                      <a:prstDash val="solid"/>
                    </a:lnR>
                    <a:lnB w="9525">
                      <a:solidFill>
                        <a:srgbClr val="B6D4D6"/>
                      </a:solidFill>
                      <a:prstDash val="solid"/>
                    </a:lnB>
                    <a:solidFill>
                      <a:srgbClr val="FFFFFF"/>
                    </a:solidFill>
                  </a:tcPr>
                </a:tc>
                <a:tc>
                  <a:txBody>
                    <a:bodyPr/>
                    <a:lstStyle/>
                    <a:p>
                      <a:r>
                        <a:rPr sz="1800" b="0">
                          <a:solidFill>
                            <a:srgbClr val="2E4F66"/>
                          </a:solidFill>
                          <a:latin typeface="Poppins"/>
                          <a:ea typeface="Poppins"/>
                          <a:cs typeface="Poppins"/>
                        </a:rPr>
                        <a:t>Check the actual records</a:t>
                      </a:r>
                    </a:p>
                  </a:txBody>
                  <a:tcPr marL="133350" marR="133350" marT="85725" marB="85725" anchor="t">
                    <a:lnR w="9525">
                      <a:solidFill>
                        <a:srgbClr val="B6D4D6"/>
                      </a:solidFill>
                      <a:prstDash val="solid"/>
                    </a:lnR>
                    <a:lnB w="9525">
                      <a:solidFill>
                        <a:srgbClr val="B6D4D6"/>
                      </a:solidFill>
                      <a:prstDash val="solid"/>
                    </a:lnB>
                    <a:solidFill>
                      <a:srgbClr val="FFFFFF"/>
                    </a:solidFill>
                  </a:tcPr>
                </a:tc>
              </a:tr>
              <a:tr h="781050">
                <a:tc>
                  <a:txBody>
                    <a:bodyPr/>
                    <a:lstStyle/>
                    <a:p>
                      <a:r>
                        <a:rPr sz="1800" b="0">
                          <a:solidFill>
                            <a:srgbClr val="2E4F66"/>
                          </a:solidFill>
                          <a:latin typeface="Poppins"/>
                          <a:ea typeface="Poppins"/>
                          <a:cs typeface="Poppins"/>
                        </a:rPr>
                        <a:t>A19</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No transcript listed; extra-time request</a:t>
                      </a:r>
                    </a:p>
                  </a:txBody>
                  <a:tcPr marL="133350" marR="133350" marT="85725" marB="85725" anchor="t">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Check records and the request</a:t>
                      </a:r>
                    </a:p>
                  </a:txBody>
                  <a:tcPr marL="133350" marR="133350" marT="85725" marB="85725" anchor="t">
                    <a:lnR w="9525">
                      <a:solidFill>
                        <a:srgbClr val="B6D4D6"/>
                      </a:solidFill>
                      <a:prstDash val="solid"/>
                    </a:lnR>
                    <a:lnB w="9525">
                      <a:solidFill>
                        <a:srgbClr val="B6D4D6"/>
                      </a:solidFill>
                      <a:prstDash val="solid"/>
                    </a:lnB>
                    <a:solidFill>
                      <a:srgbClr val="F0F8F8"/>
                    </a:solidFill>
                  </a:tcPr>
                </a:tc>
              </a:tr>
            </a:tbl>
          </a:graphicData>
        </a:graphic>
      </p:graphicFrame>
      <p:sp>
        <p:nvSpPr>
          <p:cNvPr id="6" name="Footer">
            <a:extLst xmlns:a="http://schemas.openxmlformats.org/drawingml/2006/main">
              <a:ext uri="{FF2B5EF4-FFF2-40B4-BE49-F238E27FC236}">
                <a16:creationId xmlns:a16="http://schemas.microsoft.com/office/drawing/2014/main" id="{4CB0E736-1F6F-4115-A80C-95B4AA9A85E7}"/>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20 / 31</a:t>
            </a:r>
          </a:p>
        </p:txBody>
      </p:sp>
    </p:spTree>
    <p:extLst>
      <p:ext uri="{BB962C8B-B14F-4D97-AF65-F5344CB8AC3E}">
        <p14:creationId xmlns:p14="http://schemas.microsoft.com/office/powerpoint/2010/main" val="1348892732"/>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0B184A55-6AB1-4936-9CF7-4BEF12AE97B8}"/>
              </a:ext>
            </a:extLst>
          </p:cNvPr>
          <p:cNvPicPr>
            <a:picLocks xmlns:a="http://schemas.openxmlformats.org/drawingml/2006/main" noChangeAspect="1"/>
          </p:cNvPicPr>
          <p:nvPr/>
        </p:nvPicPr>
        <p:blipFill>
          <a:blip xmlns:r="http://schemas.openxmlformats.org/officeDocument/2006/relationships" xmlns:a="http://schemas.openxmlformats.org/drawingml/2006/main" r:embed="Rf94e38b17b36478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2A473A6F-2FCB-4540-91B7-E62934AE583D}"/>
              </a:ext>
            </a:extLst>
          </p:cNvPr>
          <p:cNvSpPr>
            <a:spLocks xmlns:a="http://schemas.openxmlformats.org/drawingml/2006/main" noGrp="1"/>
          </p:cNvSpPr>
          <p:nvPr/>
        </p:nvSpPr>
        <p:spPr>
          <a:xfrm xmlns:a="http://schemas.openxmlformats.org/drawingml/2006/main">
            <a:off x="609600" y="40957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166669F8-7CA5-4CF9-B9FC-EA26ACE90554}"/>
              </a:ext>
            </a:extLst>
          </p:cNvPr>
          <p:cNvSpPr>
            <a:spLocks xmlns:a="http://schemas.openxmlformats.org/drawingml/2006/main" noGrp="1"/>
          </p:cNvSpPr>
          <p:nvPr/>
        </p:nvSpPr>
        <p:spPr>
          <a:xfrm xmlns:a="http://schemas.openxmlformats.org/drawingml/2006/main">
            <a:off x="609600" y="8572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Demo 2: checking office records</a:t>
            </a:r>
          </a:p>
        </p:txBody>
      </p:sp>
      <p:sp>
        <p:nvSpPr>
          <p:cNvPr id="4" name="Text">
            <a:extLst xmlns:a="http://schemas.openxmlformats.org/drawingml/2006/main">
              <a:ext uri="{FF2B5EF4-FFF2-40B4-BE49-F238E27FC236}">
                <a16:creationId xmlns:a16="http://schemas.microsoft.com/office/drawing/2014/main" id="{18C4A511-CAF9-4F86-BA92-242E839C9E80}"/>
              </a:ext>
            </a:extLst>
          </p:cNvPr>
          <p:cNvSpPr>
            <a:spLocks xmlns:a="http://schemas.openxmlformats.org/drawingml/2006/main" noGrp="1"/>
          </p:cNvSpPr>
          <p:nvPr/>
        </p:nvSpPr>
        <p:spPr>
          <a:xfrm xmlns:a="http://schemas.openxmlformats.org/drawingml/2006/main">
            <a:off x="609600" y="15811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E4F66"/>
                </a:solidFill>
                <a:latin typeface="Poppins"/>
                <a:ea typeface="Poppins"/>
                <a:cs typeface="Poppins"/>
              </a:defRPr>
            </a:defPPr>
            <a:lvl1pPr>
              <a:defRPr sz="1875" b="0">
                <a:solidFill>
                  <a:srgbClr val="2E4F66"/>
                </a:solidFill>
                <a:latin typeface="Poppins"/>
                <a:ea typeface="Poppins"/>
                <a:cs typeface="Poppins"/>
              </a:defRPr>
            </a:lvl1pPr>
            <a:lvl2pPr>
              <a:defRPr sz="1875" b="0">
                <a:solidFill>
                  <a:srgbClr val="2E4F66"/>
                </a:solidFill>
                <a:latin typeface="Poppins"/>
                <a:ea typeface="Poppins"/>
                <a:cs typeface="Poppins"/>
              </a:defRPr>
            </a:lvl2pPr>
            <a:lvl3pPr>
              <a:defRPr sz="1875" b="0">
                <a:solidFill>
                  <a:srgbClr val="2E4F66"/>
                </a:solidFill>
                <a:latin typeface="Poppins"/>
                <a:ea typeface="Poppins"/>
                <a:cs typeface="Poppins"/>
              </a:defRPr>
            </a:lvl3pPr>
            <a:lvl4pPr>
              <a:defRPr sz="1875" b="0">
                <a:solidFill>
                  <a:srgbClr val="2E4F66"/>
                </a:solidFill>
                <a:latin typeface="Poppins"/>
                <a:ea typeface="Poppins"/>
                <a:cs typeface="Poppins"/>
              </a:defRPr>
            </a:lvl4pPr>
            <a:lvl5pPr>
              <a:defRPr sz="1875" b="0">
                <a:solidFill>
                  <a:srgbClr val="2E4F66"/>
                </a:solidFill>
                <a:latin typeface="Poppins"/>
                <a:ea typeface="Poppins"/>
                <a:cs typeface="Poppins"/>
              </a:defRPr>
            </a:lvl5pPr>
            <a:lvl6pPr>
              <a:defRPr sz="1875" b="0">
                <a:solidFill>
                  <a:srgbClr val="2E4F66"/>
                </a:solidFill>
                <a:latin typeface="Poppins"/>
                <a:ea typeface="Poppins"/>
                <a:cs typeface="Poppins"/>
              </a:defRPr>
            </a:lvl6pPr>
            <a:lvl7pPr>
              <a:defRPr sz="1875" b="0">
                <a:solidFill>
                  <a:srgbClr val="2E4F66"/>
                </a:solidFill>
                <a:latin typeface="Poppins"/>
                <a:ea typeface="Poppins"/>
                <a:cs typeface="Poppins"/>
              </a:defRPr>
            </a:lvl7pPr>
            <a:lvl8pPr>
              <a:defRPr sz="1875" b="0">
                <a:solidFill>
                  <a:srgbClr val="2E4F66"/>
                </a:solidFill>
                <a:latin typeface="Poppins"/>
                <a:ea typeface="Poppins"/>
                <a:cs typeface="Poppins"/>
              </a:defRPr>
            </a:lvl8pPr>
            <a:lvl9pPr>
              <a:defRPr sz="1875" b="0">
                <a:solidFill>
                  <a:srgbClr val="2E4F66"/>
                </a:solidFill>
                <a:latin typeface="Poppins"/>
                <a:ea typeface="Poppins"/>
                <a:cs typeface="Poppins"/>
              </a:defRPr>
            </a:lvl9pPr>
          </a:lstStyle>
          <a:p xmlns:a="http://schemas.openxmlformats.org/drawingml/2006/main">
            <a:pPr>
              <a:defRPr sz="1875" b="0">
                <a:solidFill>
                  <a:srgbClr val="2E4F66"/>
                </a:solidFill>
                <a:latin typeface="Poppins"/>
                <a:ea typeface="Poppins"/>
                <a:cs typeface="Poppins"/>
              </a:defRPr>
            </a:pPr>
            <a:r>
              <a:rPr sz="1875" b="0">
                <a:solidFill>
                  <a:srgbClr val="2E4F66"/>
                </a:solidFill>
                <a:latin typeface="Poppins"/>
                <a:ea typeface="Poppins"/>
                <a:cs typeface="Poppins"/>
              </a:rPr>
              <a:t>AI can flag a missing item or late date for staff.</a:t>
            </a:r>
          </a:p>
        </p:txBody>
      </p:sp>
      <p:pic>
        <p:nvPicPr>
          <p:cNvPr id="5" name="">
            <a:extLst xmlns:a="http://schemas.openxmlformats.org/drawingml/2006/main">
              <a:ext uri="{FF2B5EF4-FFF2-40B4-BE49-F238E27FC236}">
                <a16:creationId xmlns:a16="http://schemas.microsoft.com/office/drawing/2014/main" id="{ADD3F8D7-48D0-4C03-B7A2-0C2FAEE46B87}"/>
              </a:ext>
            </a:extLst>
          </p:cNvPr>
          <p:cNvPicPr>
            <a:picLocks xmlns:a="http://schemas.openxmlformats.org/drawingml/2006/main" noChangeAspect="1"/>
          </p:cNvPicPr>
          <p:nvPr/>
        </p:nvPicPr>
        <p:blipFill>
          <a:blip xmlns:r="http://schemas.openxmlformats.org/officeDocument/2006/relationships" xmlns:a="http://schemas.openxmlformats.org/drawingml/2006/main" r:embed="Re2150e5f43f44947"/>
          <a:stretch xmlns:a="http://schemas.openxmlformats.org/drawingml/2006/main"/>
        </p:blipFill>
        <p:spPr>
          <a:xfrm xmlns:a="http://schemas.openxmlformats.org/drawingml/2006/main">
            <a:off x="2524125" y="2047875"/>
            <a:ext cx="7143750" cy="2857500"/>
          </a:xfrm>
          <a:prstGeom xmlns:a="http://schemas.openxmlformats.org/drawingml/2006/main" prst="rect">
            <a:avLst/>
          </a:prstGeom>
        </p:spPr>
      </p:pic>
      <p:sp>
        <p:nvSpPr>
          <p:cNvPr id="6" name="Infographic heading">
            <a:extLst xmlns:a="http://schemas.openxmlformats.org/drawingml/2006/main">
              <a:ext uri="{FF2B5EF4-FFF2-40B4-BE49-F238E27FC236}">
                <a16:creationId xmlns:a16="http://schemas.microsoft.com/office/drawing/2014/main" id="{813D9AF3-C9B5-43C0-8F77-0F70D4D105BF}"/>
              </a:ext>
            </a:extLst>
          </p:cNvPr>
          <p:cNvSpPr>
            <a:spLocks xmlns:a="http://schemas.openxmlformats.org/drawingml/2006/main" noGrp="1"/>
          </p:cNvSpPr>
          <p:nvPr/>
        </p:nvSpPr>
        <p:spPr>
          <a:xfrm xmlns:a="http://schemas.openxmlformats.org/drawingml/2006/main">
            <a:off x="7620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Read the rules</a:t>
            </a:r>
          </a:p>
        </p:txBody>
      </p:sp>
      <p:sp>
        <p:nvSpPr>
          <p:cNvPr id="7" name="Infographic explanation">
            <a:extLst xmlns:a="http://schemas.openxmlformats.org/drawingml/2006/main">
              <a:ext uri="{FF2B5EF4-FFF2-40B4-BE49-F238E27FC236}">
                <a16:creationId xmlns:a16="http://schemas.microsoft.com/office/drawing/2014/main" id="{42FFB539-FF48-4314-BE16-25C20EE1C1E8}"/>
              </a:ext>
            </a:extLst>
          </p:cNvPr>
          <p:cNvSpPr>
            <a:spLocks xmlns:a="http://schemas.openxmlformats.org/drawingml/2006/main" noGrp="1"/>
          </p:cNvSpPr>
          <p:nvPr/>
        </p:nvSpPr>
        <p:spPr>
          <a:xfrm xmlns:a="http://schemas.openxmlformats.org/drawingml/2006/main">
            <a:off x="7620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Fictional deadline: October 1, 2026.</a:t>
            </a:r>
          </a:p>
        </p:txBody>
      </p:sp>
      <p:sp>
        <p:nvSpPr>
          <p:cNvPr id="8" name="Infographic heading">
            <a:extLst xmlns:a="http://schemas.openxmlformats.org/drawingml/2006/main">
              <a:ext uri="{FF2B5EF4-FFF2-40B4-BE49-F238E27FC236}">
                <a16:creationId xmlns:a16="http://schemas.microsoft.com/office/drawing/2014/main" id="{A66A89E1-A0EB-4DF6-9110-0EA37CBA7661}"/>
              </a:ext>
            </a:extLst>
          </p:cNvPr>
          <p:cNvSpPr>
            <a:spLocks xmlns:a="http://schemas.openxmlformats.org/drawingml/2006/main" noGrp="1"/>
          </p:cNvSpPr>
          <p:nvPr/>
        </p:nvSpPr>
        <p:spPr>
          <a:xfrm xmlns:a="http://schemas.openxmlformats.org/drawingml/2006/main">
            <a:off x="43942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Compare with rules</a:t>
            </a:r>
          </a:p>
        </p:txBody>
      </p:sp>
      <p:sp>
        <p:nvSpPr>
          <p:cNvPr id="9" name="Infographic explanation">
            <a:extLst xmlns:a="http://schemas.openxmlformats.org/drawingml/2006/main">
              <a:ext uri="{FF2B5EF4-FFF2-40B4-BE49-F238E27FC236}">
                <a16:creationId xmlns:a16="http://schemas.microsoft.com/office/drawing/2014/main" id="{A89DD57F-54D7-49B8-A46D-9D6DDC3F1E7D}"/>
              </a:ext>
            </a:extLst>
          </p:cNvPr>
          <p:cNvSpPr>
            <a:spLocks xmlns:a="http://schemas.openxmlformats.org/drawingml/2006/main" noGrp="1"/>
          </p:cNvSpPr>
          <p:nvPr/>
        </p:nvSpPr>
        <p:spPr>
          <a:xfrm xmlns:a="http://schemas.openxmlformats.org/drawingml/2006/main">
            <a:off x="43942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Flag a missing listing or a late recorded date.</a:t>
            </a:r>
          </a:p>
        </p:txBody>
      </p:sp>
      <p:sp>
        <p:nvSpPr>
          <p:cNvPr id="10" name="Infographic heading">
            <a:extLst xmlns:a="http://schemas.openxmlformats.org/drawingml/2006/main">
              <a:ext uri="{FF2B5EF4-FFF2-40B4-BE49-F238E27FC236}">
                <a16:creationId xmlns:a16="http://schemas.microsoft.com/office/drawing/2014/main" id="{2E918990-D93E-4617-9BAA-21B431F085CD}"/>
              </a:ext>
            </a:extLst>
          </p:cNvPr>
          <p:cNvSpPr>
            <a:spLocks xmlns:a="http://schemas.openxmlformats.org/drawingml/2006/main" noGrp="1"/>
          </p:cNvSpPr>
          <p:nvPr/>
        </p:nvSpPr>
        <p:spPr>
          <a:xfrm xmlns:a="http://schemas.openxmlformats.org/drawingml/2006/main">
            <a:off x="80264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Ask staff to review</a:t>
            </a:r>
          </a:p>
        </p:txBody>
      </p:sp>
      <p:sp>
        <p:nvSpPr>
          <p:cNvPr id="11" name="Infographic explanation">
            <a:extLst xmlns:a="http://schemas.openxmlformats.org/drawingml/2006/main">
              <a:ext uri="{FF2B5EF4-FFF2-40B4-BE49-F238E27FC236}">
                <a16:creationId xmlns:a16="http://schemas.microsoft.com/office/drawing/2014/main" id="{A0E42DAB-8CE1-436D-9612-E249217C00F1}"/>
              </a:ext>
            </a:extLst>
          </p:cNvPr>
          <p:cNvSpPr>
            <a:spLocks xmlns:a="http://schemas.openxmlformats.org/drawingml/2006/main" noGrp="1"/>
          </p:cNvSpPr>
          <p:nvPr/>
        </p:nvSpPr>
        <p:spPr>
          <a:xfrm xmlns:a="http://schemas.openxmlformats.org/drawingml/2006/main">
            <a:off x="80264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A person decides exceptions and next steps.</a:t>
            </a:r>
          </a:p>
        </p:txBody>
      </p:sp>
      <p:sp>
        <p:nvSpPr>
          <p:cNvPr id="12" name="Resource link">
            <a:extLst xmlns:a="http://schemas.openxmlformats.org/drawingml/2006/main">
              <a:ext uri="{FF2B5EF4-FFF2-40B4-BE49-F238E27FC236}">
                <a16:creationId xmlns:a16="http://schemas.microsoft.com/office/drawing/2014/main" id="{B8905A2E-FF36-459B-82D5-6914E5F98102}"/>
              </a:ext>
            </a:extLst>
          </p:cNvPr>
          <p:cNvSpPr>
            <a:spLocks xmlns:a="http://schemas.openxmlformats.org/drawingml/2006/main" noGrp="1"/>
          </p:cNvSpPr>
          <p:nvPr/>
        </p:nvSpPr>
        <p:spPr>
          <a:xfrm xmlns:a="http://schemas.openxmlformats.org/drawingml/2006/main">
            <a:off x="8001000" y="409575"/>
            <a:ext cx="3581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u="sng">
                <a:solidFill>
                  <a:srgbClr val="007681"/>
                </a:solidFill>
                <a:latin typeface="Poppins"/>
                <a:ea typeface="Poppins"/>
                <a:cs typeface="Poppins"/>
                <a:hlinkClick xmlns:r="http://schemas.openxmlformats.org/officeDocument/2006/relationships" r:id="Rb43537aaeb54403e"/>
              </a:rPr>
              <a:t>Open practice activity</a:t>
            </a:r>
          </a:p>
        </p:txBody>
      </p:sp>
      <p:sp>
        <p:nvSpPr>
          <p:cNvPr id="13" name="Footer">
            <a:extLst xmlns:a="http://schemas.openxmlformats.org/drawingml/2006/main">
              <a:ext uri="{FF2B5EF4-FFF2-40B4-BE49-F238E27FC236}">
                <a16:creationId xmlns:a16="http://schemas.microsoft.com/office/drawing/2014/main" id="{99BAB621-9422-49C3-97AE-B3200D4AFA38}"/>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21 / 31</a:t>
            </a:r>
          </a:p>
        </p:txBody>
      </p:sp>
    </p:spTree>
    <p:extLst>
      <p:ext uri="{BB962C8B-B14F-4D97-AF65-F5344CB8AC3E}">
        <p14:creationId xmlns:p14="http://schemas.microsoft.com/office/powerpoint/2010/main" val="93292394"/>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EC881429-CC39-4C06-A4F0-C2B97C87C8AC}"/>
              </a:ext>
            </a:extLst>
          </p:cNvPr>
          <p:cNvPicPr>
            <a:picLocks xmlns:a="http://schemas.openxmlformats.org/drawingml/2006/main" noChangeAspect="1"/>
          </p:cNvPicPr>
          <p:nvPr/>
        </p:nvPicPr>
        <p:blipFill>
          <a:blip xmlns:r="http://schemas.openxmlformats.org/officeDocument/2006/relationships" xmlns:a="http://schemas.openxmlformats.org/drawingml/2006/main" r:embed="Rf7d4a078aef24d2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60EE140D-1956-44B0-B7DE-F7A3D138930D}"/>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6E053443-D179-4D5C-9CCE-2CCE541B3224}"/>
              </a:ext>
            </a:extLst>
          </p:cNvPr>
          <p:cNvSpPr>
            <a:spLocks xmlns:a="http://schemas.openxmlformats.org/drawingml/2006/main" noGrp="1"/>
          </p:cNvSpPr>
          <p:nvPr/>
        </p:nvSpPr>
        <p:spPr>
          <a:xfrm xmlns:a="http://schemas.openxmlformats.org/drawingml/2006/main">
            <a:off x="609600" y="85725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Demo 2: the late application</a:t>
            </a:r>
          </a:p>
        </p:txBody>
      </p:sp>
      <p:sp>
        <p:nvSpPr>
          <p:cNvPr id="4" name="Text">
            <a:extLst xmlns:a="http://schemas.openxmlformats.org/drawingml/2006/main">
              <a:ext uri="{FF2B5EF4-FFF2-40B4-BE49-F238E27FC236}">
                <a16:creationId xmlns:a16="http://schemas.microsoft.com/office/drawing/2014/main" id="{EE9CBF20-EF83-42FF-BECB-06BEAB1F987D}"/>
              </a:ext>
            </a:extLst>
          </p:cNvPr>
          <p:cNvSpPr>
            <a:spLocks xmlns:a="http://schemas.openxmlformats.org/drawingml/2006/main" noGrp="1"/>
          </p:cNvSpPr>
          <p:nvPr/>
        </p:nvSpPr>
        <p:spPr>
          <a:xfrm xmlns:a="http://schemas.openxmlformats.org/drawingml/2006/main">
            <a:off x="609600" y="1809750"/>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E4F66"/>
                </a:solidFill>
                <a:latin typeface="Poppins"/>
                <a:ea typeface="Poppins"/>
                <a:cs typeface="Poppins"/>
              </a:defRPr>
            </a:defPPr>
            <a:lvl1pPr>
              <a:defRPr sz="2025" b="0">
                <a:solidFill>
                  <a:srgbClr val="2E4F66"/>
                </a:solidFill>
                <a:latin typeface="Poppins"/>
                <a:ea typeface="Poppins"/>
                <a:cs typeface="Poppins"/>
              </a:defRPr>
            </a:lvl1pPr>
            <a:lvl2pPr>
              <a:defRPr sz="2025" b="0">
                <a:solidFill>
                  <a:srgbClr val="2E4F66"/>
                </a:solidFill>
                <a:latin typeface="Poppins"/>
                <a:ea typeface="Poppins"/>
                <a:cs typeface="Poppins"/>
              </a:defRPr>
            </a:lvl2pPr>
            <a:lvl3pPr>
              <a:defRPr sz="2025" b="0">
                <a:solidFill>
                  <a:srgbClr val="2E4F66"/>
                </a:solidFill>
                <a:latin typeface="Poppins"/>
                <a:ea typeface="Poppins"/>
                <a:cs typeface="Poppins"/>
              </a:defRPr>
            </a:lvl3pPr>
            <a:lvl4pPr>
              <a:defRPr sz="2025" b="0">
                <a:solidFill>
                  <a:srgbClr val="2E4F66"/>
                </a:solidFill>
                <a:latin typeface="Poppins"/>
                <a:ea typeface="Poppins"/>
                <a:cs typeface="Poppins"/>
              </a:defRPr>
            </a:lvl4pPr>
            <a:lvl5pPr>
              <a:defRPr sz="2025" b="0">
                <a:solidFill>
                  <a:srgbClr val="2E4F66"/>
                </a:solidFill>
                <a:latin typeface="Poppins"/>
                <a:ea typeface="Poppins"/>
                <a:cs typeface="Poppins"/>
              </a:defRPr>
            </a:lvl5pPr>
            <a:lvl6pPr>
              <a:defRPr sz="2025" b="0">
                <a:solidFill>
                  <a:srgbClr val="2E4F66"/>
                </a:solidFill>
                <a:latin typeface="Poppins"/>
                <a:ea typeface="Poppins"/>
                <a:cs typeface="Poppins"/>
              </a:defRPr>
            </a:lvl6pPr>
            <a:lvl7pPr>
              <a:defRPr sz="2025" b="0">
                <a:solidFill>
                  <a:srgbClr val="2E4F66"/>
                </a:solidFill>
                <a:latin typeface="Poppins"/>
                <a:ea typeface="Poppins"/>
                <a:cs typeface="Poppins"/>
              </a:defRPr>
            </a:lvl7pPr>
            <a:lvl8pPr>
              <a:defRPr sz="2025" b="0">
                <a:solidFill>
                  <a:srgbClr val="2E4F66"/>
                </a:solidFill>
                <a:latin typeface="Poppins"/>
                <a:ea typeface="Poppins"/>
                <a:cs typeface="Poppins"/>
              </a:defRPr>
            </a:lvl8pPr>
            <a:lvl9pPr>
              <a:defRPr sz="2025" b="0">
                <a:solidFill>
                  <a:srgbClr val="2E4F66"/>
                </a:solidFill>
                <a:latin typeface="Poppins"/>
                <a:ea typeface="Poppins"/>
                <a:cs typeface="Poppins"/>
              </a:defRPr>
            </a:lvl9pPr>
          </a:lstStyle>
          <a:p xmlns:a="http://schemas.openxmlformats.org/drawingml/2006/main">
            <a:pPr>
              <a:defRPr sz="2025" b="0">
                <a:solidFill>
                  <a:srgbClr val="2E4F66"/>
                </a:solidFill>
                <a:latin typeface="Poppins"/>
                <a:ea typeface="Poppins"/>
                <a:cs typeface="Poppins"/>
              </a:defRPr>
            </a:pPr>
            <a:r>
              <a:rPr sz="2025" b="0">
                <a:solidFill>
                  <a:srgbClr val="2E4F66"/>
                </a:solidFill>
                <a:latin typeface="Poppins"/>
                <a:ea typeface="Poppins"/>
                <a:cs typeface="Poppins"/>
              </a:rPr>
              <a:t>A19 is the applicant code for this made-up case.</a:t>
            </a:r>
          </a:p>
        </p:txBody>
      </p:sp>
      <p:graphicFrame>
        <p:nvGraphicFramePr>
          <p:cNvPr id="5" name="">
            <a:extLst xmlns:a="http://schemas.openxmlformats.org/drawingml/2006/main">
              <a:ext uri="{FF2B5EF4-FFF2-40B4-BE49-F238E27FC236}">
                <a16:creationId xmlns:a16="http://schemas.microsoft.com/office/drawing/2014/main" id="{1A558F9A-D645-4268-B926-59E856955CBE}"/>
              </a:ext>
            </a:extLst>
          </p:cNvPr>
          <p:cNvGraphicFramePr/>
          <p:nvPr/>
        </p:nvGraphicFramePr>
        <p:xfrm>
          <a:off xmlns:a="http://schemas.openxmlformats.org/drawingml/2006/main" x="609600" y="2428875"/>
          <a:ext xmlns:a="http://schemas.openxmlformats.org/drawingml/2006/main" cx="10972800" cy="2743200"/>
        </p:xfrm>
        <a:graphic xmlns:a="http://schemas.openxmlformats.org/drawingml/2006/main">
          <a:graphicData uri="http://schemas.openxmlformats.org/drawingml/2006/table">
            <a:tbl>
              <a:tblPr firstRow="1" bandRow="0"/>
              <a:tblGrid>
                <a:gridCol w="2571750"/>
                <a:gridCol w="8401050"/>
              </a:tblGrid>
              <a:tr h="685800">
                <a:tc>
                  <a:txBody>
                    <a:bodyPr/>
                    <a:lstStyle/>
                    <a:p>
                      <a:r>
                        <a:rPr sz="1800" b="1">
                          <a:solidFill>
                            <a:srgbClr val="FFFFFF"/>
                          </a:solidFill>
                          <a:latin typeface="Poppins"/>
                          <a:ea typeface="Poppins"/>
                          <a:cs typeface="Poppins"/>
                        </a:rPr>
                        <a:t>Original record</a:t>
                      </a:r>
                    </a:p>
                  </a:txBody>
                  <a:tcPr marL="133350" marR="133350" marT="85725" marB="85725" anchor="t">
                    <a:lnL w="9525">
                      <a:solidFill>
                        <a:srgbClr val="B6D4D6"/>
                      </a:solidFill>
                      <a:prstDash val="solid"/>
                    </a:lnL>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c>
                  <a:txBody>
                    <a:bodyPr/>
                    <a:lstStyle/>
                    <a:p>
                      <a:r>
                        <a:rPr sz="1800" b="1">
                          <a:solidFill>
                            <a:srgbClr val="FFFFFF"/>
                          </a:solidFill>
                          <a:latin typeface="Poppins"/>
                          <a:ea typeface="Poppins"/>
                          <a:cs typeface="Poppins"/>
                        </a:rPr>
                        <a:t>What it tells us</a:t>
                      </a:r>
                    </a:p>
                  </a:txBody>
                  <a:tcPr marL="133350" marR="133350" marT="85725" marB="85725" anchor="t">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r>
              <a:tr h="685800">
                <a:tc>
                  <a:txBody>
                    <a:bodyPr/>
                    <a:lstStyle/>
                    <a:p>
                      <a:r>
                        <a:rPr sz="1800" b="0">
                          <a:solidFill>
                            <a:srgbClr val="2E4F66"/>
                          </a:solidFill>
                          <a:latin typeface="Poppins"/>
                          <a:ea typeface="Poppins"/>
                          <a:cs typeface="Poppins"/>
                        </a:rPr>
                        <a:t>Recorded date: October 2</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After the October 1 deadline</a:t>
                      </a:r>
                    </a:p>
                  </a:txBody>
                  <a:tcPr marL="133350" marR="133350" marT="85725" marB="85725" anchor="t">
                    <a:lnR w="9525">
                      <a:solidFill>
                        <a:srgbClr val="B6D4D6"/>
                      </a:solidFill>
                      <a:prstDash val="solid"/>
                    </a:lnR>
                    <a:lnB w="9525">
                      <a:solidFill>
                        <a:srgbClr val="B6D4D6"/>
                      </a:solidFill>
                      <a:prstDash val="solid"/>
                    </a:lnB>
                    <a:solidFill>
                      <a:srgbClr val="F0F8F8"/>
                    </a:solidFill>
                  </a:tcPr>
                </a:tc>
              </a:tr>
              <a:tr h="685800">
                <a:tc>
                  <a:txBody>
                    <a:bodyPr/>
                    <a:lstStyle/>
                    <a:p>
                      <a:r>
                        <a:rPr sz="1800" b="0">
                          <a:solidFill>
                            <a:srgbClr val="2E4F66"/>
                          </a:solidFill>
                          <a:latin typeface="Poppins"/>
                          <a:ea typeface="Poppins"/>
                          <a:cs typeface="Poppins"/>
                        </a:rPr>
                        <a:t>Extra time requested</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FFFFF"/>
                    </a:solidFill>
                  </a:tcPr>
                </a:tc>
                <a:tc>
                  <a:txBody>
                    <a:bodyPr/>
                    <a:lstStyle/>
                    <a:p>
                      <a:r>
                        <a:rPr sz="1800" b="0">
                          <a:solidFill>
                            <a:srgbClr val="2E4F66"/>
                          </a:solidFill>
                          <a:latin typeface="Poppins"/>
                          <a:ea typeface="Poppins"/>
                          <a:cs typeface="Poppins"/>
                        </a:rPr>
                        <a:t>Staff need to review the request</a:t>
                      </a:r>
                    </a:p>
                  </a:txBody>
                  <a:tcPr marL="133350" marR="133350" marT="85725" marB="85725" anchor="t">
                    <a:lnR w="9525">
                      <a:solidFill>
                        <a:srgbClr val="B6D4D6"/>
                      </a:solidFill>
                      <a:prstDash val="solid"/>
                    </a:lnR>
                    <a:lnB w="9525">
                      <a:solidFill>
                        <a:srgbClr val="B6D4D6"/>
                      </a:solidFill>
                      <a:prstDash val="solid"/>
                    </a:lnB>
                    <a:solidFill>
                      <a:srgbClr val="FFFFFF"/>
                    </a:solidFill>
                  </a:tcPr>
                </a:tc>
              </a:tr>
              <a:tr h="685800">
                <a:tc>
                  <a:txBody>
                    <a:bodyPr/>
                    <a:lstStyle/>
                    <a:p>
                      <a:r>
                        <a:rPr sz="1800" b="0">
                          <a:solidFill>
                            <a:srgbClr val="2E4F66"/>
                          </a:solidFill>
                          <a:latin typeface="Poppins"/>
                          <a:ea typeface="Poppins"/>
                          <a:cs typeface="Poppins"/>
                        </a:rPr>
                        <a:t>No transcript on the list</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Staff need to check the actual records</a:t>
                      </a:r>
                    </a:p>
                  </a:txBody>
                  <a:tcPr marL="133350" marR="133350" marT="85725" marB="85725" anchor="t">
                    <a:lnR w="9525">
                      <a:solidFill>
                        <a:srgbClr val="B6D4D6"/>
                      </a:solidFill>
                      <a:prstDash val="solid"/>
                    </a:lnR>
                    <a:lnB w="9525">
                      <a:solidFill>
                        <a:srgbClr val="B6D4D6"/>
                      </a:solidFill>
                      <a:prstDash val="solid"/>
                    </a:lnB>
                    <a:solidFill>
                      <a:srgbClr val="F0F8F8"/>
                    </a:solidFill>
                  </a:tcPr>
                </a:tc>
              </a:tr>
            </a:tbl>
          </a:graphicData>
        </a:graphic>
      </p:graphicFrame>
      <p:sp>
        <p:nvSpPr>
          <p:cNvPr id="6" name="Supporting text">
            <a:extLst xmlns:a="http://schemas.openxmlformats.org/drawingml/2006/main">
              <a:ext uri="{FF2B5EF4-FFF2-40B4-BE49-F238E27FC236}">
                <a16:creationId xmlns:a16="http://schemas.microsoft.com/office/drawing/2014/main" id="{BAF03DBF-08DA-4325-85F5-70D07FB0790C}"/>
              </a:ext>
            </a:extLst>
          </p:cNvPr>
          <p:cNvSpPr>
            <a:spLocks xmlns:a="http://schemas.openxmlformats.org/drawingml/2006/main" noGrp="1"/>
          </p:cNvSpPr>
          <p:nvPr/>
        </p:nvSpPr>
        <p:spPr>
          <a:xfrm xmlns:a="http://schemas.openxmlformats.org/drawingml/2006/main">
            <a:off x="609600" y="5343525"/>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E4F66"/>
                </a:solidFill>
                <a:latin typeface="Poppins"/>
                <a:ea typeface="Poppins"/>
                <a:cs typeface="Poppins"/>
              </a:defRPr>
            </a:defPPr>
            <a:lvl1pPr>
              <a:defRPr sz="2025" b="0">
                <a:solidFill>
                  <a:srgbClr val="2E4F66"/>
                </a:solidFill>
                <a:latin typeface="Poppins"/>
                <a:ea typeface="Poppins"/>
                <a:cs typeface="Poppins"/>
              </a:defRPr>
            </a:lvl1pPr>
            <a:lvl2pPr>
              <a:defRPr sz="2025" b="0">
                <a:solidFill>
                  <a:srgbClr val="2E4F66"/>
                </a:solidFill>
                <a:latin typeface="Poppins"/>
                <a:ea typeface="Poppins"/>
                <a:cs typeface="Poppins"/>
              </a:defRPr>
            </a:lvl2pPr>
            <a:lvl3pPr>
              <a:defRPr sz="2025" b="0">
                <a:solidFill>
                  <a:srgbClr val="2E4F66"/>
                </a:solidFill>
                <a:latin typeface="Poppins"/>
                <a:ea typeface="Poppins"/>
                <a:cs typeface="Poppins"/>
              </a:defRPr>
            </a:lvl3pPr>
            <a:lvl4pPr>
              <a:defRPr sz="2025" b="0">
                <a:solidFill>
                  <a:srgbClr val="2E4F66"/>
                </a:solidFill>
                <a:latin typeface="Poppins"/>
                <a:ea typeface="Poppins"/>
                <a:cs typeface="Poppins"/>
              </a:defRPr>
            </a:lvl4pPr>
            <a:lvl5pPr>
              <a:defRPr sz="2025" b="0">
                <a:solidFill>
                  <a:srgbClr val="2E4F66"/>
                </a:solidFill>
                <a:latin typeface="Poppins"/>
                <a:ea typeface="Poppins"/>
                <a:cs typeface="Poppins"/>
              </a:defRPr>
            </a:lvl5pPr>
            <a:lvl6pPr>
              <a:defRPr sz="2025" b="0">
                <a:solidFill>
                  <a:srgbClr val="2E4F66"/>
                </a:solidFill>
                <a:latin typeface="Poppins"/>
                <a:ea typeface="Poppins"/>
                <a:cs typeface="Poppins"/>
              </a:defRPr>
            </a:lvl6pPr>
            <a:lvl7pPr>
              <a:defRPr sz="2025" b="0">
                <a:solidFill>
                  <a:srgbClr val="2E4F66"/>
                </a:solidFill>
                <a:latin typeface="Poppins"/>
                <a:ea typeface="Poppins"/>
                <a:cs typeface="Poppins"/>
              </a:defRPr>
            </a:lvl7pPr>
            <a:lvl8pPr>
              <a:defRPr sz="2025" b="0">
                <a:solidFill>
                  <a:srgbClr val="2E4F66"/>
                </a:solidFill>
                <a:latin typeface="Poppins"/>
                <a:ea typeface="Poppins"/>
                <a:cs typeface="Poppins"/>
              </a:defRPr>
            </a:lvl8pPr>
            <a:lvl9pPr>
              <a:defRPr sz="2025" b="0">
                <a:solidFill>
                  <a:srgbClr val="2E4F66"/>
                </a:solidFill>
                <a:latin typeface="Poppins"/>
                <a:ea typeface="Poppins"/>
                <a:cs typeface="Poppins"/>
              </a:defRPr>
            </a:lvl9pPr>
          </a:lstStyle>
          <a:p xmlns:a="http://schemas.openxmlformats.org/drawingml/2006/main">
            <a:pPr>
              <a:defRPr sz="2025" b="0">
                <a:solidFill>
                  <a:srgbClr val="2E4F66"/>
                </a:solidFill>
                <a:latin typeface="Poppins"/>
                <a:ea typeface="Poppins"/>
                <a:cs typeface="Poppins"/>
              </a:defRPr>
            </a:pPr>
            <a:r>
              <a:rPr sz="2025" b="0">
                <a:solidFill>
                  <a:srgbClr val="2E4F66"/>
                </a:solidFill>
                <a:latin typeface="Poppins"/>
                <a:ea typeface="Poppins"/>
                <a:cs typeface="Poppins"/>
              </a:rPr>
              <a:t>A staff member applies the rules and records the reason.</a:t>
            </a:r>
          </a:p>
        </p:txBody>
      </p:sp>
      <p:sp>
        <p:nvSpPr>
          <p:cNvPr id="7" name="Footer">
            <a:extLst xmlns:a="http://schemas.openxmlformats.org/drawingml/2006/main">
              <a:ext uri="{FF2B5EF4-FFF2-40B4-BE49-F238E27FC236}">
                <a16:creationId xmlns:a16="http://schemas.microsoft.com/office/drawing/2014/main" id="{E732895B-A68B-4D75-8035-ACA0CCE84CB4}"/>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22 / 31</a:t>
            </a:r>
          </a:p>
        </p:txBody>
      </p:sp>
    </p:spTree>
    <p:extLst>
      <p:ext uri="{BB962C8B-B14F-4D97-AF65-F5344CB8AC3E}">
        <p14:creationId xmlns:p14="http://schemas.microsoft.com/office/powerpoint/2010/main" val="1592091157"/>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67D36ACF-6DAE-44AD-B7B5-BE9A0BBEC48C}"/>
              </a:ext>
            </a:extLst>
          </p:cNvPr>
          <p:cNvPicPr>
            <a:picLocks xmlns:a="http://schemas.openxmlformats.org/drawingml/2006/main" noChangeAspect="1"/>
          </p:cNvPicPr>
          <p:nvPr/>
        </p:nvPicPr>
        <p:blipFill>
          <a:blip xmlns:r="http://schemas.openxmlformats.org/officeDocument/2006/relationships" xmlns:a="http://schemas.openxmlformats.org/drawingml/2006/main" r:embed="R2380682953dd4a4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60F89ADD-9614-48A7-8612-7328CEA6FDAC}"/>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9A028F5D-4F34-4558-A276-EE3F6F841FF1}"/>
              </a:ext>
            </a:extLst>
          </p:cNvPr>
          <p:cNvSpPr>
            <a:spLocks xmlns:a="http://schemas.openxmlformats.org/drawingml/2006/main" noGrp="1"/>
          </p:cNvSpPr>
          <p:nvPr/>
        </p:nvSpPr>
        <p:spPr>
          <a:xfrm xmlns:a="http://schemas.openxmlformats.org/drawingml/2006/main">
            <a:off x="609600" y="85725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The community contribution scoring guide</a:t>
            </a:r>
          </a:p>
        </p:txBody>
      </p:sp>
      <p:sp>
        <p:nvSpPr>
          <p:cNvPr id="4" name="Text">
            <a:extLst xmlns:a="http://schemas.openxmlformats.org/drawingml/2006/main">
              <a:ext uri="{FF2B5EF4-FFF2-40B4-BE49-F238E27FC236}">
                <a16:creationId xmlns:a16="http://schemas.microsoft.com/office/drawing/2014/main" id="{64641BB7-8131-4FEB-B01A-751FEEBBE62C}"/>
              </a:ext>
            </a:extLst>
          </p:cNvPr>
          <p:cNvSpPr>
            <a:spLocks xmlns:a="http://schemas.openxmlformats.org/drawingml/2006/main" noGrp="1"/>
          </p:cNvSpPr>
          <p:nvPr/>
        </p:nvSpPr>
        <p:spPr>
          <a:xfrm xmlns:a="http://schemas.openxmlformats.org/drawingml/2006/main">
            <a:off x="609600" y="1809750"/>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E4F66"/>
                </a:solidFill>
                <a:latin typeface="Poppins"/>
                <a:ea typeface="Poppins"/>
                <a:cs typeface="Poppins"/>
              </a:defRPr>
            </a:defPPr>
            <a:lvl1pPr>
              <a:defRPr sz="2025" b="0">
                <a:solidFill>
                  <a:srgbClr val="2E4F66"/>
                </a:solidFill>
                <a:latin typeface="Poppins"/>
                <a:ea typeface="Poppins"/>
                <a:cs typeface="Poppins"/>
              </a:defRPr>
            </a:lvl1pPr>
            <a:lvl2pPr>
              <a:defRPr sz="2025" b="0">
                <a:solidFill>
                  <a:srgbClr val="2E4F66"/>
                </a:solidFill>
                <a:latin typeface="Poppins"/>
                <a:ea typeface="Poppins"/>
                <a:cs typeface="Poppins"/>
              </a:defRPr>
            </a:lvl2pPr>
            <a:lvl3pPr>
              <a:defRPr sz="2025" b="0">
                <a:solidFill>
                  <a:srgbClr val="2E4F66"/>
                </a:solidFill>
                <a:latin typeface="Poppins"/>
                <a:ea typeface="Poppins"/>
                <a:cs typeface="Poppins"/>
              </a:defRPr>
            </a:lvl3pPr>
            <a:lvl4pPr>
              <a:defRPr sz="2025" b="0">
                <a:solidFill>
                  <a:srgbClr val="2E4F66"/>
                </a:solidFill>
                <a:latin typeface="Poppins"/>
                <a:ea typeface="Poppins"/>
                <a:cs typeface="Poppins"/>
              </a:defRPr>
            </a:lvl4pPr>
            <a:lvl5pPr>
              <a:defRPr sz="2025" b="0">
                <a:solidFill>
                  <a:srgbClr val="2E4F66"/>
                </a:solidFill>
                <a:latin typeface="Poppins"/>
                <a:ea typeface="Poppins"/>
                <a:cs typeface="Poppins"/>
              </a:defRPr>
            </a:lvl5pPr>
            <a:lvl6pPr>
              <a:defRPr sz="2025" b="0">
                <a:solidFill>
                  <a:srgbClr val="2E4F66"/>
                </a:solidFill>
                <a:latin typeface="Poppins"/>
                <a:ea typeface="Poppins"/>
                <a:cs typeface="Poppins"/>
              </a:defRPr>
            </a:lvl6pPr>
            <a:lvl7pPr>
              <a:defRPr sz="2025" b="0">
                <a:solidFill>
                  <a:srgbClr val="2E4F66"/>
                </a:solidFill>
                <a:latin typeface="Poppins"/>
                <a:ea typeface="Poppins"/>
                <a:cs typeface="Poppins"/>
              </a:defRPr>
            </a:lvl7pPr>
            <a:lvl8pPr>
              <a:defRPr sz="2025" b="0">
                <a:solidFill>
                  <a:srgbClr val="2E4F66"/>
                </a:solidFill>
                <a:latin typeface="Poppins"/>
                <a:ea typeface="Poppins"/>
                <a:cs typeface="Poppins"/>
              </a:defRPr>
            </a:lvl8pPr>
            <a:lvl9pPr>
              <a:defRPr sz="2025" b="0">
                <a:solidFill>
                  <a:srgbClr val="2E4F66"/>
                </a:solidFill>
                <a:latin typeface="Poppins"/>
                <a:ea typeface="Poppins"/>
                <a:cs typeface="Poppins"/>
              </a:defRPr>
            </a:lvl9pPr>
          </a:lstStyle>
          <a:p xmlns:a="http://schemas.openxmlformats.org/drawingml/2006/main">
            <a:pPr>
              <a:defRPr sz="2025" b="0">
                <a:solidFill>
                  <a:srgbClr val="2E4F66"/>
                </a:solidFill>
                <a:latin typeface="Poppins"/>
                <a:ea typeface="Poppins"/>
                <a:cs typeface="Poppins"/>
              </a:defRPr>
            </a:pPr>
            <a:r>
              <a:rPr sz="2025" b="0">
                <a:solidFill>
                  <a:srgbClr val="2E4F66"/>
                </a:solidFill>
                <a:latin typeface="Poppins"/>
                <a:ea typeface="Poppins"/>
                <a:cs typeface="Poppins"/>
              </a:rPr>
              <a:t>Each anchor describes what earns that score.</a:t>
            </a:r>
          </a:p>
        </p:txBody>
      </p:sp>
      <p:graphicFrame>
        <p:nvGraphicFramePr>
          <p:cNvPr id="5" name="">
            <a:extLst xmlns:a="http://schemas.openxmlformats.org/drawingml/2006/main">
              <a:ext uri="{FF2B5EF4-FFF2-40B4-BE49-F238E27FC236}">
                <a16:creationId xmlns:a16="http://schemas.microsoft.com/office/drawing/2014/main" id="{BA3E2317-1CA7-408F-A826-21306330893D}"/>
              </a:ext>
            </a:extLst>
          </p:cNvPr>
          <p:cNvGraphicFramePr/>
          <p:nvPr/>
        </p:nvGraphicFramePr>
        <p:xfrm>
          <a:off xmlns:a="http://schemas.openxmlformats.org/drawingml/2006/main" x="609600" y="2428875"/>
          <a:ext xmlns:a="http://schemas.openxmlformats.org/drawingml/2006/main" cx="10972800" cy="3143250"/>
        </p:xfrm>
        <a:graphic xmlns:a="http://schemas.openxmlformats.org/drawingml/2006/main">
          <a:graphicData uri="http://schemas.openxmlformats.org/drawingml/2006/table">
            <a:tbl>
              <a:tblPr firstRow="1" bandRow="0"/>
              <a:tblGrid>
                <a:gridCol w="2571750"/>
                <a:gridCol w="8401050"/>
              </a:tblGrid>
              <a:tr h="628650">
                <a:tc>
                  <a:txBody>
                    <a:bodyPr/>
                    <a:lstStyle/>
                    <a:p>
                      <a:r>
                        <a:rPr sz="1800" b="1">
                          <a:solidFill>
                            <a:srgbClr val="FFFFFF"/>
                          </a:solidFill>
                          <a:latin typeface="Poppins"/>
                          <a:ea typeface="Poppins"/>
                          <a:cs typeface="Poppins"/>
                        </a:rPr>
                        <a:t>Anchor</a:t>
                      </a:r>
                    </a:p>
                  </a:txBody>
                  <a:tcPr marL="133350" marR="133350" marT="85725" marB="85725" anchor="t">
                    <a:lnL w="9525">
                      <a:solidFill>
                        <a:srgbClr val="B6D4D6"/>
                      </a:solidFill>
                      <a:prstDash val="solid"/>
                    </a:lnL>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c>
                  <a:txBody>
                    <a:bodyPr/>
                    <a:lstStyle/>
                    <a:p>
                      <a:r>
                        <a:rPr sz="1800" b="1">
                          <a:solidFill>
                            <a:srgbClr val="FFFFFF"/>
                          </a:solidFill>
                          <a:latin typeface="Poppins"/>
                          <a:ea typeface="Poppins"/>
                          <a:cs typeface="Poppins"/>
                        </a:rPr>
                        <a:t>Community contribution evidence</a:t>
                      </a:r>
                    </a:p>
                  </a:txBody>
                  <a:tcPr marL="133350" marR="133350" marT="85725" marB="85725" anchor="t">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r>
              <a:tr h="628650">
                <a:tc>
                  <a:txBody>
                    <a:bodyPr/>
                    <a:lstStyle/>
                    <a:p>
                      <a:r>
                        <a:rPr sz="1800" b="0">
                          <a:solidFill>
                            <a:srgbClr val="2E4F66"/>
                          </a:solidFill>
                          <a:latin typeface="Poppins"/>
                          <a:ea typeface="Poppins"/>
                          <a:cs typeface="Poppins"/>
                        </a:rPr>
                        <a:t>0</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No relevant activity described</a:t>
                      </a:r>
                    </a:p>
                  </a:txBody>
                  <a:tcPr marL="133350" marR="133350" marT="85725" marB="85725" anchor="t">
                    <a:lnR w="9525">
                      <a:solidFill>
                        <a:srgbClr val="B6D4D6"/>
                      </a:solidFill>
                      <a:prstDash val="solid"/>
                    </a:lnR>
                    <a:lnB w="9525">
                      <a:solidFill>
                        <a:srgbClr val="B6D4D6"/>
                      </a:solidFill>
                      <a:prstDash val="solid"/>
                    </a:lnB>
                    <a:solidFill>
                      <a:srgbClr val="F0F8F8"/>
                    </a:solidFill>
                  </a:tcPr>
                </a:tc>
              </a:tr>
              <a:tr h="628650">
                <a:tc>
                  <a:txBody>
                    <a:bodyPr/>
                    <a:lstStyle/>
                    <a:p>
                      <a:r>
                        <a:rPr sz="1800" b="0">
                          <a:solidFill>
                            <a:srgbClr val="2E4F66"/>
                          </a:solidFill>
                          <a:latin typeface="Poppins"/>
                          <a:ea typeface="Poppins"/>
                          <a:cs typeface="Poppins"/>
                        </a:rPr>
                        <a:t>1</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FFFFF"/>
                    </a:solidFill>
                  </a:tcPr>
                </a:tc>
                <a:tc>
                  <a:txBody>
                    <a:bodyPr/>
                    <a:lstStyle/>
                    <a:p>
                      <a:r>
                        <a:rPr sz="1800" b="0">
                          <a:solidFill>
                            <a:srgbClr val="2E4F66"/>
                          </a:solidFill>
                          <a:latin typeface="Poppins"/>
                          <a:ea typeface="Poppins"/>
                          <a:cs typeface="Poppins"/>
                        </a:rPr>
                        <a:t>Activity named, but applicant role unclear</a:t>
                      </a:r>
                    </a:p>
                  </a:txBody>
                  <a:tcPr marL="133350" marR="133350" marT="85725" marB="85725" anchor="t">
                    <a:lnR w="9525">
                      <a:solidFill>
                        <a:srgbClr val="B6D4D6"/>
                      </a:solidFill>
                      <a:prstDash val="solid"/>
                    </a:lnR>
                    <a:lnB w="9525">
                      <a:solidFill>
                        <a:srgbClr val="B6D4D6"/>
                      </a:solidFill>
                      <a:prstDash val="solid"/>
                    </a:lnB>
                    <a:solidFill>
                      <a:srgbClr val="FFFFFF"/>
                    </a:solidFill>
                  </a:tcPr>
                </a:tc>
              </a:tr>
              <a:tr h="628650">
                <a:tc>
                  <a:txBody>
                    <a:bodyPr/>
                    <a:lstStyle/>
                    <a:p>
                      <a:r>
                        <a:rPr sz="1800" b="0">
                          <a:solidFill>
                            <a:srgbClr val="2E4F66"/>
                          </a:solidFill>
                          <a:latin typeface="Poppins"/>
                          <a:ea typeface="Poppins"/>
                          <a:cs typeface="Poppins"/>
                        </a:rPr>
                        <a:t>2</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Specific applicant contribution</a:t>
                      </a:r>
                    </a:p>
                  </a:txBody>
                  <a:tcPr marL="133350" marR="133350" marT="85725" marB="85725" anchor="t">
                    <a:lnR w="9525">
                      <a:solidFill>
                        <a:srgbClr val="B6D4D6"/>
                      </a:solidFill>
                      <a:prstDash val="solid"/>
                    </a:lnR>
                    <a:lnB w="9525">
                      <a:solidFill>
                        <a:srgbClr val="B6D4D6"/>
                      </a:solidFill>
                      <a:prstDash val="solid"/>
                    </a:lnB>
                    <a:solidFill>
                      <a:srgbClr val="F0F8F8"/>
                    </a:solidFill>
                  </a:tcPr>
                </a:tc>
              </a:tr>
              <a:tr h="628650">
                <a:tc>
                  <a:txBody>
                    <a:bodyPr/>
                    <a:lstStyle/>
                    <a:p>
                      <a:r>
                        <a:rPr sz="1800" b="0">
                          <a:solidFill>
                            <a:srgbClr val="2E4F66"/>
                          </a:solidFill>
                          <a:latin typeface="Poppins"/>
                          <a:ea typeface="Poppins"/>
                          <a:cs typeface="Poppins"/>
                        </a:rPr>
                        <a:t>3</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FFFFF"/>
                    </a:solidFill>
                  </a:tcPr>
                </a:tc>
                <a:tc>
                  <a:txBody>
                    <a:bodyPr/>
                    <a:lstStyle/>
                    <a:p>
                      <a:r>
                        <a:rPr sz="1800" b="0">
                          <a:solidFill>
                            <a:srgbClr val="2E4F66"/>
                          </a:solidFill>
                          <a:latin typeface="Poppins"/>
                          <a:ea typeface="Poppins"/>
                          <a:cs typeface="Poppins"/>
                        </a:rPr>
                        <a:t>Specific contribution and a supported result</a:t>
                      </a:r>
                    </a:p>
                  </a:txBody>
                  <a:tcPr marL="133350" marR="133350" marT="85725" marB="85725" anchor="t">
                    <a:lnR w="9525">
                      <a:solidFill>
                        <a:srgbClr val="B6D4D6"/>
                      </a:solidFill>
                      <a:prstDash val="solid"/>
                    </a:lnR>
                    <a:lnB w="9525">
                      <a:solidFill>
                        <a:srgbClr val="B6D4D6"/>
                      </a:solidFill>
                      <a:prstDash val="solid"/>
                    </a:lnB>
                    <a:solidFill>
                      <a:srgbClr val="FFFFFF"/>
                    </a:solidFill>
                  </a:tcPr>
                </a:tc>
              </a:tr>
            </a:tbl>
          </a:graphicData>
        </a:graphic>
      </p:graphicFrame>
      <p:sp>
        <p:nvSpPr>
          <p:cNvPr id="6" name="Footer">
            <a:extLst xmlns:a="http://schemas.openxmlformats.org/drawingml/2006/main">
              <a:ext uri="{FF2B5EF4-FFF2-40B4-BE49-F238E27FC236}">
                <a16:creationId xmlns:a16="http://schemas.microsoft.com/office/drawing/2014/main" id="{1772BCE5-6064-4B6D-8893-5D5BADF2F94E}"/>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23 / 31</a:t>
            </a:r>
          </a:p>
        </p:txBody>
      </p:sp>
    </p:spTree>
    <p:extLst>
      <p:ext uri="{BB962C8B-B14F-4D97-AF65-F5344CB8AC3E}">
        <p14:creationId xmlns:p14="http://schemas.microsoft.com/office/powerpoint/2010/main" val="377408665"/>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F4F5008F-BF84-41E2-8F50-7EDE88A5772F}"/>
              </a:ext>
            </a:extLst>
          </p:cNvPr>
          <p:cNvPicPr>
            <a:picLocks xmlns:a="http://schemas.openxmlformats.org/drawingml/2006/main" noChangeAspect="1"/>
          </p:cNvPicPr>
          <p:nvPr/>
        </p:nvPicPr>
        <p:blipFill>
          <a:blip xmlns:r="http://schemas.openxmlformats.org/officeDocument/2006/relationships" xmlns:a="http://schemas.openxmlformats.org/drawingml/2006/main" r:embed="R1d594b1e9a99401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E594C746-D9A6-408C-8E5B-996481F0E179}"/>
              </a:ext>
            </a:extLst>
          </p:cNvPr>
          <p:cNvSpPr>
            <a:spLocks xmlns:a="http://schemas.openxmlformats.org/drawingml/2006/main" noGrp="1"/>
          </p:cNvSpPr>
          <p:nvPr/>
        </p:nvSpPr>
        <p:spPr>
          <a:xfrm xmlns:a="http://schemas.openxmlformats.org/drawingml/2006/main">
            <a:off x="609600" y="40957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5A376BBB-7F34-4F6F-9311-1207A6628B1D}"/>
              </a:ext>
            </a:extLst>
          </p:cNvPr>
          <p:cNvSpPr>
            <a:spLocks xmlns:a="http://schemas.openxmlformats.org/drawingml/2006/main" noGrp="1"/>
          </p:cNvSpPr>
          <p:nvPr/>
        </p:nvSpPr>
        <p:spPr>
          <a:xfrm xmlns:a="http://schemas.openxmlformats.org/drawingml/2006/main">
            <a:off x="609600" y="8572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Demo 3: matching words to the guide</a:t>
            </a:r>
          </a:p>
        </p:txBody>
      </p:sp>
      <p:sp>
        <p:nvSpPr>
          <p:cNvPr id="4" name="Text">
            <a:extLst xmlns:a="http://schemas.openxmlformats.org/drawingml/2006/main">
              <a:ext uri="{FF2B5EF4-FFF2-40B4-BE49-F238E27FC236}">
                <a16:creationId xmlns:a16="http://schemas.microsoft.com/office/drawing/2014/main" id="{BFCF2A5B-E5DF-4116-AED4-4019911C4563}"/>
              </a:ext>
            </a:extLst>
          </p:cNvPr>
          <p:cNvSpPr>
            <a:spLocks xmlns:a="http://schemas.openxmlformats.org/drawingml/2006/main" noGrp="1"/>
          </p:cNvSpPr>
          <p:nvPr/>
        </p:nvSpPr>
        <p:spPr>
          <a:xfrm xmlns:a="http://schemas.openxmlformats.org/drawingml/2006/main">
            <a:off x="609600" y="15811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E4F66"/>
                </a:solidFill>
                <a:latin typeface="Poppins"/>
                <a:ea typeface="Poppins"/>
                <a:cs typeface="Poppins"/>
              </a:defRPr>
            </a:defPPr>
            <a:lvl1pPr>
              <a:defRPr sz="1875" b="0">
                <a:solidFill>
                  <a:srgbClr val="2E4F66"/>
                </a:solidFill>
                <a:latin typeface="Poppins"/>
                <a:ea typeface="Poppins"/>
                <a:cs typeface="Poppins"/>
              </a:defRPr>
            </a:lvl1pPr>
            <a:lvl2pPr>
              <a:defRPr sz="1875" b="0">
                <a:solidFill>
                  <a:srgbClr val="2E4F66"/>
                </a:solidFill>
                <a:latin typeface="Poppins"/>
                <a:ea typeface="Poppins"/>
                <a:cs typeface="Poppins"/>
              </a:defRPr>
            </a:lvl2pPr>
            <a:lvl3pPr>
              <a:defRPr sz="1875" b="0">
                <a:solidFill>
                  <a:srgbClr val="2E4F66"/>
                </a:solidFill>
                <a:latin typeface="Poppins"/>
                <a:ea typeface="Poppins"/>
                <a:cs typeface="Poppins"/>
              </a:defRPr>
            </a:lvl3pPr>
            <a:lvl4pPr>
              <a:defRPr sz="1875" b="0">
                <a:solidFill>
                  <a:srgbClr val="2E4F66"/>
                </a:solidFill>
                <a:latin typeface="Poppins"/>
                <a:ea typeface="Poppins"/>
                <a:cs typeface="Poppins"/>
              </a:defRPr>
            </a:lvl4pPr>
            <a:lvl5pPr>
              <a:defRPr sz="1875" b="0">
                <a:solidFill>
                  <a:srgbClr val="2E4F66"/>
                </a:solidFill>
                <a:latin typeface="Poppins"/>
                <a:ea typeface="Poppins"/>
                <a:cs typeface="Poppins"/>
              </a:defRPr>
            </a:lvl5pPr>
            <a:lvl6pPr>
              <a:defRPr sz="1875" b="0">
                <a:solidFill>
                  <a:srgbClr val="2E4F66"/>
                </a:solidFill>
                <a:latin typeface="Poppins"/>
                <a:ea typeface="Poppins"/>
                <a:cs typeface="Poppins"/>
              </a:defRPr>
            </a:lvl6pPr>
            <a:lvl7pPr>
              <a:defRPr sz="1875" b="0">
                <a:solidFill>
                  <a:srgbClr val="2E4F66"/>
                </a:solidFill>
                <a:latin typeface="Poppins"/>
                <a:ea typeface="Poppins"/>
                <a:cs typeface="Poppins"/>
              </a:defRPr>
            </a:lvl7pPr>
            <a:lvl8pPr>
              <a:defRPr sz="1875" b="0">
                <a:solidFill>
                  <a:srgbClr val="2E4F66"/>
                </a:solidFill>
                <a:latin typeface="Poppins"/>
                <a:ea typeface="Poppins"/>
                <a:cs typeface="Poppins"/>
              </a:defRPr>
            </a:lvl8pPr>
            <a:lvl9pPr>
              <a:defRPr sz="1875" b="0">
                <a:solidFill>
                  <a:srgbClr val="2E4F66"/>
                </a:solidFill>
                <a:latin typeface="Poppins"/>
                <a:ea typeface="Poppins"/>
                <a:cs typeface="Poppins"/>
              </a:defRPr>
            </a:lvl9pPr>
          </a:lstStyle>
          <a:p xmlns:a="http://schemas.openxmlformats.org/drawingml/2006/main">
            <a:pPr>
              <a:defRPr sz="1875" b="0">
                <a:solidFill>
                  <a:srgbClr val="2E4F66"/>
                </a:solidFill>
                <a:latin typeface="Poppins"/>
                <a:ea typeface="Poppins"/>
                <a:cs typeface="Poppins"/>
              </a:defRPr>
            </a:pPr>
            <a:r>
              <a:rPr sz="1875" b="0">
                <a:solidFill>
                  <a:srgbClr val="2E4F66"/>
                </a:solidFill>
                <a:latin typeface="Poppins"/>
                <a:ea typeface="Poppins"/>
                <a:cs typeface="Poppins"/>
              </a:rPr>
              <a:t>A suggested score needs a quote and a reason.</a:t>
            </a:r>
          </a:p>
        </p:txBody>
      </p:sp>
      <p:pic>
        <p:nvPicPr>
          <p:cNvPr id="5" name="">
            <a:extLst xmlns:a="http://schemas.openxmlformats.org/drawingml/2006/main">
              <a:ext uri="{FF2B5EF4-FFF2-40B4-BE49-F238E27FC236}">
                <a16:creationId xmlns:a16="http://schemas.microsoft.com/office/drawing/2014/main" id="{C723AD66-3546-423B-B9DB-11FC6BD6FDBC}"/>
              </a:ext>
            </a:extLst>
          </p:cNvPr>
          <p:cNvPicPr>
            <a:picLocks xmlns:a="http://schemas.openxmlformats.org/drawingml/2006/main" noChangeAspect="1"/>
          </p:cNvPicPr>
          <p:nvPr/>
        </p:nvPicPr>
        <p:blipFill>
          <a:blip xmlns:r="http://schemas.openxmlformats.org/officeDocument/2006/relationships" xmlns:a="http://schemas.openxmlformats.org/drawingml/2006/main" r:embed="R3304f0954bde46c3"/>
          <a:stretch xmlns:a="http://schemas.openxmlformats.org/drawingml/2006/main"/>
        </p:blipFill>
        <p:spPr>
          <a:xfrm xmlns:a="http://schemas.openxmlformats.org/drawingml/2006/main">
            <a:off x="2524125" y="2047875"/>
            <a:ext cx="7143750" cy="2857500"/>
          </a:xfrm>
          <a:prstGeom xmlns:a="http://schemas.openxmlformats.org/drawingml/2006/main" prst="rect">
            <a:avLst/>
          </a:prstGeom>
        </p:spPr>
      </p:pic>
      <p:sp>
        <p:nvSpPr>
          <p:cNvPr id="6" name="Infographic heading">
            <a:extLst xmlns:a="http://schemas.openxmlformats.org/drawingml/2006/main">
              <a:ext uri="{FF2B5EF4-FFF2-40B4-BE49-F238E27FC236}">
                <a16:creationId xmlns:a16="http://schemas.microsoft.com/office/drawing/2014/main" id="{DD98ACC2-1B6B-48CC-933C-A4333F6A4A36}"/>
              </a:ext>
            </a:extLst>
          </p:cNvPr>
          <p:cNvSpPr>
            <a:spLocks xmlns:a="http://schemas.openxmlformats.org/drawingml/2006/main" noGrp="1"/>
          </p:cNvSpPr>
          <p:nvPr/>
        </p:nvSpPr>
        <p:spPr>
          <a:xfrm xmlns:a="http://schemas.openxmlformats.org/drawingml/2006/main">
            <a:off x="7620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Find the original words</a:t>
            </a:r>
          </a:p>
        </p:txBody>
      </p:sp>
      <p:sp>
        <p:nvSpPr>
          <p:cNvPr id="7" name="Infographic explanation">
            <a:extLst xmlns:a="http://schemas.openxmlformats.org/drawingml/2006/main">
              <a:ext uri="{FF2B5EF4-FFF2-40B4-BE49-F238E27FC236}">
                <a16:creationId xmlns:a16="http://schemas.microsoft.com/office/drawing/2014/main" id="{D978C820-7B01-4BE0-8747-E73530B7F24A}"/>
              </a:ext>
            </a:extLst>
          </p:cNvPr>
          <p:cNvSpPr>
            <a:spLocks xmlns:a="http://schemas.openxmlformats.org/drawingml/2006/main" noGrp="1"/>
          </p:cNvSpPr>
          <p:nvPr/>
        </p:nvSpPr>
        <p:spPr>
          <a:xfrm xmlns:a="http://schemas.openxmlformats.org/drawingml/2006/main">
            <a:off x="7620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Quote the statement and show where to find it.</a:t>
            </a:r>
          </a:p>
        </p:txBody>
      </p:sp>
      <p:sp>
        <p:nvSpPr>
          <p:cNvPr id="8" name="Infographic heading">
            <a:extLst xmlns:a="http://schemas.openxmlformats.org/drawingml/2006/main">
              <a:ext uri="{FF2B5EF4-FFF2-40B4-BE49-F238E27FC236}">
                <a16:creationId xmlns:a16="http://schemas.microsoft.com/office/drawing/2014/main" id="{245A4134-BD3C-440C-A59E-CBEFA196BF75}"/>
              </a:ext>
            </a:extLst>
          </p:cNvPr>
          <p:cNvSpPr>
            <a:spLocks xmlns:a="http://schemas.openxmlformats.org/drawingml/2006/main" noGrp="1"/>
          </p:cNvSpPr>
          <p:nvPr/>
        </p:nvSpPr>
        <p:spPr>
          <a:xfrm xmlns:a="http://schemas.openxmlformats.org/drawingml/2006/main">
            <a:off x="43942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Use the scoring guide</a:t>
            </a:r>
          </a:p>
        </p:txBody>
      </p:sp>
      <p:sp>
        <p:nvSpPr>
          <p:cNvPr id="9" name="Infographic explanation">
            <a:extLst xmlns:a="http://schemas.openxmlformats.org/drawingml/2006/main">
              <a:ext uri="{FF2B5EF4-FFF2-40B4-BE49-F238E27FC236}">
                <a16:creationId xmlns:a16="http://schemas.microsoft.com/office/drawing/2014/main" id="{320FB57F-1116-4069-BC06-8EE9C8BB84B7}"/>
              </a:ext>
            </a:extLst>
          </p:cNvPr>
          <p:cNvSpPr>
            <a:spLocks xmlns:a="http://schemas.openxmlformats.org/drawingml/2006/main" noGrp="1"/>
          </p:cNvSpPr>
          <p:nvPr/>
        </p:nvSpPr>
        <p:spPr>
          <a:xfrm xmlns:a="http://schemas.openxmlformats.org/drawingml/2006/main">
            <a:off x="43942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Suggest a score using the supplied descriptions.</a:t>
            </a:r>
          </a:p>
        </p:txBody>
      </p:sp>
      <p:sp>
        <p:nvSpPr>
          <p:cNvPr id="10" name="Infographic heading">
            <a:extLst xmlns:a="http://schemas.openxmlformats.org/drawingml/2006/main">
              <a:ext uri="{FF2B5EF4-FFF2-40B4-BE49-F238E27FC236}">
                <a16:creationId xmlns:a16="http://schemas.microsoft.com/office/drawing/2014/main" id="{C62A3A66-152F-42EC-A551-D0939BB7A940}"/>
              </a:ext>
            </a:extLst>
          </p:cNvPr>
          <p:cNvSpPr>
            <a:spLocks xmlns:a="http://schemas.openxmlformats.org/drawingml/2006/main" noGrp="1"/>
          </p:cNvSpPr>
          <p:nvPr/>
        </p:nvSpPr>
        <p:spPr>
          <a:xfrm xmlns:a="http://schemas.openxmlformats.org/drawingml/2006/main">
            <a:off x="80264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Staff check the match</a:t>
            </a:r>
          </a:p>
        </p:txBody>
      </p:sp>
      <p:sp>
        <p:nvSpPr>
          <p:cNvPr id="11" name="Infographic explanation">
            <a:extLst xmlns:a="http://schemas.openxmlformats.org/drawingml/2006/main">
              <a:ext uri="{FF2B5EF4-FFF2-40B4-BE49-F238E27FC236}">
                <a16:creationId xmlns:a16="http://schemas.microsoft.com/office/drawing/2014/main" id="{82166568-40B5-45BE-977C-3DCD2B3C5B38}"/>
              </a:ext>
            </a:extLst>
          </p:cNvPr>
          <p:cNvSpPr>
            <a:spLocks xmlns:a="http://schemas.openxmlformats.org/drawingml/2006/main" noGrp="1"/>
          </p:cNvSpPr>
          <p:nvPr/>
        </p:nvSpPr>
        <p:spPr>
          <a:xfrm xmlns:a="http://schemas.openxmlformats.org/drawingml/2006/main">
            <a:off x="80264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Explain missing information. Staff own the score.</a:t>
            </a:r>
          </a:p>
        </p:txBody>
      </p:sp>
      <p:sp>
        <p:nvSpPr>
          <p:cNvPr id="12" name="Resource link">
            <a:extLst xmlns:a="http://schemas.openxmlformats.org/drawingml/2006/main">
              <a:ext uri="{FF2B5EF4-FFF2-40B4-BE49-F238E27FC236}">
                <a16:creationId xmlns:a16="http://schemas.microsoft.com/office/drawing/2014/main" id="{BA8BF3DC-2B7F-4CB2-9737-43945B0630C8}"/>
              </a:ext>
            </a:extLst>
          </p:cNvPr>
          <p:cNvSpPr>
            <a:spLocks xmlns:a="http://schemas.openxmlformats.org/drawingml/2006/main" noGrp="1"/>
          </p:cNvSpPr>
          <p:nvPr/>
        </p:nvSpPr>
        <p:spPr>
          <a:xfrm xmlns:a="http://schemas.openxmlformats.org/drawingml/2006/main">
            <a:off x="8001000" y="409575"/>
            <a:ext cx="3581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u="sng">
                <a:solidFill>
                  <a:srgbClr val="007681"/>
                </a:solidFill>
                <a:latin typeface="Poppins"/>
                <a:ea typeface="Poppins"/>
                <a:cs typeface="Poppins"/>
                <a:hlinkClick xmlns:r="http://schemas.openxmlformats.org/officeDocument/2006/relationships" r:id="Rbba4e174018b4998"/>
              </a:rPr>
              <a:t>Open practice activity</a:t>
            </a:r>
          </a:p>
        </p:txBody>
      </p:sp>
      <p:sp>
        <p:nvSpPr>
          <p:cNvPr id="13" name="Footer">
            <a:extLst xmlns:a="http://schemas.openxmlformats.org/drawingml/2006/main">
              <a:ext uri="{FF2B5EF4-FFF2-40B4-BE49-F238E27FC236}">
                <a16:creationId xmlns:a16="http://schemas.microsoft.com/office/drawing/2014/main" id="{E071D0C6-2F34-4EFF-BE73-80B9EEF44A4C}"/>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24 / 31</a:t>
            </a:r>
          </a:p>
        </p:txBody>
      </p:sp>
    </p:spTree>
    <p:extLst>
      <p:ext uri="{BB962C8B-B14F-4D97-AF65-F5344CB8AC3E}">
        <p14:creationId xmlns:p14="http://schemas.microsoft.com/office/powerpoint/2010/main" val="374559165"/>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A3EA25F7-389A-4099-82BF-3458A120D691}"/>
              </a:ext>
            </a:extLst>
          </p:cNvPr>
          <p:cNvPicPr>
            <a:picLocks xmlns:a="http://schemas.openxmlformats.org/drawingml/2006/main" noChangeAspect="1"/>
          </p:cNvPicPr>
          <p:nvPr/>
        </p:nvPicPr>
        <p:blipFill>
          <a:blip xmlns:r="http://schemas.openxmlformats.org/officeDocument/2006/relationships" xmlns:a="http://schemas.openxmlformats.org/drawingml/2006/main" r:embed="R78d6603dbd644bb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9A4DCC80-5DE0-4D71-95A4-5530F606A8F6}"/>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9FC3EF96-22EE-484E-9A27-B16B637DB0BD}"/>
              </a:ext>
            </a:extLst>
          </p:cNvPr>
          <p:cNvSpPr>
            <a:spLocks xmlns:a="http://schemas.openxmlformats.org/drawingml/2006/main" noGrp="1"/>
          </p:cNvSpPr>
          <p:nvPr/>
        </p:nvSpPr>
        <p:spPr>
          <a:xfrm xmlns:a="http://schemas.openxmlformats.org/drawingml/2006/main">
            <a:off x="609600" y="85725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The same work earns the same contribution score</a:t>
            </a:r>
          </a:p>
        </p:txBody>
      </p:sp>
      <p:sp>
        <p:nvSpPr>
          <p:cNvPr id="4" name="Text">
            <a:extLst xmlns:a="http://schemas.openxmlformats.org/drawingml/2006/main">
              <a:ext uri="{FF2B5EF4-FFF2-40B4-BE49-F238E27FC236}">
                <a16:creationId xmlns:a16="http://schemas.microsoft.com/office/drawing/2014/main" id="{B1AED69E-BE83-4A8F-AC11-DBD05EED975A}"/>
              </a:ext>
            </a:extLst>
          </p:cNvPr>
          <p:cNvSpPr>
            <a:spLocks xmlns:a="http://schemas.openxmlformats.org/drawingml/2006/main" noGrp="1"/>
          </p:cNvSpPr>
          <p:nvPr/>
        </p:nvSpPr>
        <p:spPr>
          <a:xfrm xmlns:a="http://schemas.openxmlformats.org/drawingml/2006/main">
            <a:off x="609600" y="1809750"/>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E4F66"/>
                </a:solidFill>
                <a:latin typeface="Poppins"/>
                <a:ea typeface="Poppins"/>
                <a:cs typeface="Poppins"/>
              </a:defRPr>
            </a:defPPr>
            <a:lvl1pPr>
              <a:defRPr sz="2025" b="0">
                <a:solidFill>
                  <a:srgbClr val="2E4F66"/>
                </a:solidFill>
                <a:latin typeface="Poppins"/>
                <a:ea typeface="Poppins"/>
                <a:cs typeface="Poppins"/>
              </a:defRPr>
            </a:lvl1pPr>
            <a:lvl2pPr>
              <a:defRPr sz="2025" b="0">
                <a:solidFill>
                  <a:srgbClr val="2E4F66"/>
                </a:solidFill>
                <a:latin typeface="Poppins"/>
                <a:ea typeface="Poppins"/>
                <a:cs typeface="Poppins"/>
              </a:defRPr>
            </a:lvl2pPr>
            <a:lvl3pPr>
              <a:defRPr sz="2025" b="0">
                <a:solidFill>
                  <a:srgbClr val="2E4F66"/>
                </a:solidFill>
                <a:latin typeface="Poppins"/>
                <a:ea typeface="Poppins"/>
                <a:cs typeface="Poppins"/>
              </a:defRPr>
            </a:lvl3pPr>
            <a:lvl4pPr>
              <a:defRPr sz="2025" b="0">
                <a:solidFill>
                  <a:srgbClr val="2E4F66"/>
                </a:solidFill>
                <a:latin typeface="Poppins"/>
                <a:ea typeface="Poppins"/>
                <a:cs typeface="Poppins"/>
              </a:defRPr>
            </a:lvl4pPr>
            <a:lvl5pPr>
              <a:defRPr sz="2025" b="0">
                <a:solidFill>
                  <a:srgbClr val="2E4F66"/>
                </a:solidFill>
                <a:latin typeface="Poppins"/>
                <a:ea typeface="Poppins"/>
                <a:cs typeface="Poppins"/>
              </a:defRPr>
            </a:lvl5pPr>
            <a:lvl6pPr>
              <a:defRPr sz="2025" b="0">
                <a:solidFill>
                  <a:srgbClr val="2E4F66"/>
                </a:solidFill>
                <a:latin typeface="Poppins"/>
                <a:ea typeface="Poppins"/>
                <a:cs typeface="Poppins"/>
              </a:defRPr>
            </a:lvl6pPr>
            <a:lvl7pPr>
              <a:defRPr sz="2025" b="0">
                <a:solidFill>
                  <a:srgbClr val="2E4F66"/>
                </a:solidFill>
                <a:latin typeface="Poppins"/>
                <a:ea typeface="Poppins"/>
                <a:cs typeface="Poppins"/>
              </a:defRPr>
            </a:lvl7pPr>
            <a:lvl8pPr>
              <a:defRPr sz="2025" b="0">
                <a:solidFill>
                  <a:srgbClr val="2E4F66"/>
                </a:solidFill>
                <a:latin typeface="Poppins"/>
                <a:ea typeface="Poppins"/>
                <a:cs typeface="Poppins"/>
              </a:defRPr>
            </a:lvl8pPr>
            <a:lvl9pPr>
              <a:defRPr sz="2025" b="0">
                <a:solidFill>
                  <a:srgbClr val="2E4F66"/>
                </a:solidFill>
                <a:latin typeface="Poppins"/>
                <a:ea typeface="Poppins"/>
                <a:cs typeface="Poppins"/>
              </a:defRPr>
            </a:lvl9pPr>
          </a:lstStyle>
          <a:p xmlns:a="http://schemas.openxmlformats.org/drawingml/2006/main">
            <a:pPr>
              <a:defRPr sz="2025" b="0">
                <a:solidFill>
                  <a:srgbClr val="2E4F66"/>
                </a:solidFill>
                <a:latin typeface="Poppins"/>
                <a:ea typeface="Poppins"/>
                <a:cs typeface="Poppins"/>
              </a:defRPr>
            </a:pPr>
            <a:r>
              <a:rPr sz="2025" b="0">
                <a:solidFill>
                  <a:srgbClr val="2E4F66"/>
                </a:solidFill>
                <a:latin typeface="Poppins"/>
                <a:ea typeface="Poppins"/>
                <a:cs typeface="Poppins"/>
              </a:rPr>
              <a:t>Prepared teaching comparison</a:t>
            </a:r>
          </a:p>
        </p:txBody>
      </p:sp>
      <p:graphicFrame>
        <p:nvGraphicFramePr>
          <p:cNvPr id="5" name="">
            <a:extLst xmlns:a="http://schemas.openxmlformats.org/drawingml/2006/main">
              <a:ext uri="{FF2B5EF4-FFF2-40B4-BE49-F238E27FC236}">
                <a16:creationId xmlns:a16="http://schemas.microsoft.com/office/drawing/2014/main" id="{79CBC6F4-A6D2-497E-BCA6-A1F5579F3F10}"/>
              </a:ext>
            </a:extLst>
          </p:cNvPr>
          <p:cNvGraphicFramePr/>
          <p:nvPr/>
        </p:nvGraphicFramePr>
        <p:xfrm>
          <a:off xmlns:a="http://schemas.openxmlformats.org/drawingml/2006/main" x="609600" y="2428875"/>
          <a:ext xmlns:a="http://schemas.openxmlformats.org/drawingml/2006/main" cx="10972800" cy="2343150"/>
        </p:xfrm>
        <a:graphic xmlns:a="http://schemas.openxmlformats.org/drawingml/2006/main">
          <a:graphicData uri="http://schemas.openxmlformats.org/drawingml/2006/table">
            <a:tbl>
              <a:tblPr firstRow="1" bandRow="0"/>
              <a:tblGrid>
                <a:gridCol w="1333500"/>
                <a:gridCol w="7048500"/>
                <a:gridCol w="2590800"/>
              </a:tblGrid>
              <a:tr h="781050">
                <a:tc>
                  <a:txBody>
                    <a:bodyPr/>
                    <a:lstStyle/>
                    <a:p>
                      <a:r>
                        <a:rPr sz="1800" b="1">
                          <a:solidFill>
                            <a:srgbClr val="FFFFFF"/>
                          </a:solidFill>
                          <a:latin typeface="Poppins"/>
                          <a:ea typeface="Poppins"/>
                          <a:cs typeface="Poppins"/>
                        </a:rPr>
                        <a:t>Code</a:t>
                      </a:r>
                    </a:p>
                  </a:txBody>
                  <a:tcPr marL="133350" marR="133350" marT="85725" marB="85725" anchor="t">
                    <a:lnL w="9525">
                      <a:solidFill>
                        <a:srgbClr val="B6D4D6"/>
                      </a:solidFill>
                      <a:prstDash val="solid"/>
                    </a:lnL>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c>
                  <a:txBody>
                    <a:bodyPr/>
                    <a:lstStyle/>
                    <a:p>
                      <a:r>
                        <a:rPr sz="1800" b="1">
                          <a:solidFill>
                            <a:srgbClr val="FFFFFF"/>
                          </a:solidFill>
                          <a:latin typeface="Poppins"/>
                          <a:ea typeface="Poppins"/>
                          <a:cs typeface="Poppins"/>
                        </a:rPr>
                        <a:t>Statement summary</a:t>
                      </a:r>
                    </a:p>
                  </a:txBody>
                  <a:tcPr marL="133350" marR="133350" marT="85725" marB="85725" anchor="t">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c>
                  <a:txBody>
                    <a:bodyPr/>
                    <a:lstStyle/>
                    <a:p>
                      <a:r>
                        <a:rPr sz="1800" b="1">
                          <a:solidFill>
                            <a:srgbClr val="FFFFFF"/>
                          </a:solidFill>
                          <a:latin typeface="Poppins"/>
                          <a:ea typeface="Poppins"/>
                          <a:cs typeface="Poppins"/>
                        </a:rPr>
                        <a:t>Suggested score</a:t>
                      </a:r>
                    </a:p>
                  </a:txBody>
                  <a:tcPr marL="133350" marR="133350" marT="85725" marB="85725" anchor="t">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r>
              <a:tr h="781050">
                <a:tc>
                  <a:txBody>
                    <a:bodyPr/>
                    <a:lstStyle/>
                    <a:p>
                      <a:r>
                        <a:rPr sz="1800" b="0">
                          <a:solidFill>
                            <a:srgbClr val="2E4F66"/>
                          </a:solidFill>
                          <a:latin typeface="Poppins"/>
                          <a:ea typeface="Poppins"/>
                          <a:cs typeface="Poppins"/>
                        </a:rPr>
                        <a:t>A17</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12 tutoring sessions; recruited 2 volunteers</a:t>
                      </a:r>
                    </a:p>
                  </a:txBody>
                  <a:tcPr marL="133350" marR="133350" marT="85725" marB="85725" anchor="t">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2 of 3</a:t>
                      </a:r>
                    </a:p>
                  </a:txBody>
                  <a:tcPr marL="133350" marR="133350" marT="85725" marB="85725" anchor="t">
                    <a:lnR w="9525">
                      <a:solidFill>
                        <a:srgbClr val="B6D4D6"/>
                      </a:solidFill>
                      <a:prstDash val="solid"/>
                    </a:lnR>
                    <a:lnB w="9525">
                      <a:solidFill>
                        <a:srgbClr val="B6D4D6"/>
                      </a:solidFill>
                      <a:prstDash val="solid"/>
                    </a:lnB>
                    <a:solidFill>
                      <a:srgbClr val="F0F8F8"/>
                    </a:solidFill>
                  </a:tcPr>
                </a:tc>
              </a:tr>
              <a:tr h="781050">
                <a:tc>
                  <a:txBody>
                    <a:bodyPr/>
                    <a:lstStyle/>
                    <a:p>
                      <a:r>
                        <a:rPr sz="1800" b="0">
                          <a:solidFill>
                            <a:srgbClr val="2E4F66"/>
                          </a:solidFill>
                          <a:latin typeface="Poppins"/>
                          <a:ea typeface="Poppins"/>
                          <a:cs typeface="Poppins"/>
                        </a:rPr>
                        <a:t>A18</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FFFFF"/>
                    </a:solidFill>
                  </a:tcPr>
                </a:tc>
                <a:tc>
                  <a:txBody>
                    <a:bodyPr/>
                    <a:lstStyle/>
                    <a:p>
                      <a:r>
                        <a:rPr sz="1800" b="0">
                          <a:solidFill>
                            <a:srgbClr val="2E4F66"/>
                          </a:solidFill>
                          <a:latin typeface="Poppins"/>
                          <a:ea typeface="Poppins"/>
                          <a:cs typeface="Poppins"/>
                        </a:rPr>
                        <a:t>12 tutoring days; got 2 volunteers to help</a:t>
                      </a:r>
                    </a:p>
                  </a:txBody>
                  <a:tcPr marL="133350" marR="133350" marT="85725" marB="85725" anchor="t">
                    <a:lnR w="9525">
                      <a:solidFill>
                        <a:srgbClr val="B6D4D6"/>
                      </a:solidFill>
                      <a:prstDash val="solid"/>
                    </a:lnR>
                    <a:lnB w="9525">
                      <a:solidFill>
                        <a:srgbClr val="B6D4D6"/>
                      </a:solidFill>
                      <a:prstDash val="solid"/>
                    </a:lnB>
                    <a:solidFill>
                      <a:srgbClr val="FFFFFF"/>
                    </a:solidFill>
                  </a:tcPr>
                </a:tc>
                <a:tc>
                  <a:txBody>
                    <a:bodyPr/>
                    <a:lstStyle/>
                    <a:p>
                      <a:r>
                        <a:rPr sz="1800" b="0">
                          <a:solidFill>
                            <a:srgbClr val="2E4F66"/>
                          </a:solidFill>
                          <a:latin typeface="Poppins"/>
                          <a:ea typeface="Poppins"/>
                          <a:cs typeface="Poppins"/>
                        </a:rPr>
                        <a:t>2 of 3</a:t>
                      </a:r>
                    </a:p>
                  </a:txBody>
                  <a:tcPr marL="133350" marR="133350" marT="85725" marB="85725" anchor="t">
                    <a:lnR w="9525">
                      <a:solidFill>
                        <a:srgbClr val="B6D4D6"/>
                      </a:solidFill>
                      <a:prstDash val="solid"/>
                    </a:lnR>
                    <a:lnB w="9525">
                      <a:solidFill>
                        <a:srgbClr val="B6D4D6"/>
                      </a:solidFill>
                      <a:prstDash val="solid"/>
                    </a:lnB>
                    <a:solidFill>
                      <a:srgbClr val="FFFFFF"/>
                    </a:solidFill>
                  </a:tcPr>
                </a:tc>
              </a:tr>
            </a:tbl>
          </a:graphicData>
        </a:graphic>
      </p:graphicFrame>
      <p:sp>
        <p:nvSpPr>
          <p:cNvPr id="6" name="Supporting text">
            <a:extLst xmlns:a="http://schemas.openxmlformats.org/drawingml/2006/main">
              <a:ext uri="{FF2B5EF4-FFF2-40B4-BE49-F238E27FC236}">
                <a16:creationId xmlns:a16="http://schemas.microsoft.com/office/drawing/2014/main" id="{672B9C0D-756F-4A36-BC64-1D5B2D72F238}"/>
              </a:ext>
            </a:extLst>
          </p:cNvPr>
          <p:cNvSpPr>
            <a:spLocks xmlns:a="http://schemas.openxmlformats.org/drawingml/2006/main" noGrp="1"/>
          </p:cNvSpPr>
          <p:nvPr/>
        </p:nvSpPr>
        <p:spPr>
          <a:xfrm xmlns:a="http://schemas.openxmlformats.org/drawingml/2006/main">
            <a:off x="609600" y="4943475"/>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E4F66"/>
                </a:solidFill>
                <a:latin typeface="Poppins"/>
                <a:ea typeface="Poppins"/>
                <a:cs typeface="Poppins"/>
              </a:defRPr>
            </a:defPPr>
            <a:lvl1pPr>
              <a:defRPr sz="2025" b="0">
                <a:solidFill>
                  <a:srgbClr val="2E4F66"/>
                </a:solidFill>
                <a:latin typeface="Poppins"/>
                <a:ea typeface="Poppins"/>
                <a:cs typeface="Poppins"/>
              </a:defRPr>
            </a:lvl1pPr>
            <a:lvl2pPr>
              <a:defRPr sz="2025" b="0">
                <a:solidFill>
                  <a:srgbClr val="2E4F66"/>
                </a:solidFill>
                <a:latin typeface="Poppins"/>
                <a:ea typeface="Poppins"/>
                <a:cs typeface="Poppins"/>
              </a:defRPr>
            </a:lvl2pPr>
            <a:lvl3pPr>
              <a:defRPr sz="2025" b="0">
                <a:solidFill>
                  <a:srgbClr val="2E4F66"/>
                </a:solidFill>
                <a:latin typeface="Poppins"/>
                <a:ea typeface="Poppins"/>
                <a:cs typeface="Poppins"/>
              </a:defRPr>
            </a:lvl3pPr>
            <a:lvl4pPr>
              <a:defRPr sz="2025" b="0">
                <a:solidFill>
                  <a:srgbClr val="2E4F66"/>
                </a:solidFill>
                <a:latin typeface="Poppins"/>
                <a:ea typeface="Poppins"/>
                <a:cs typeface="Poppins"/>
              </a:defRPr>
            </a:lvl4pPr>
            <a:lvl5pPr>
              <a:defRPr sz="2025" b="0">
                <a:solidFill>
                  <a:srgbClr val="2E4F66"/>
                </a:solidFill>
                <a:latin typeface="Poppins"/>
                <a:ea typeface="Poppins"/>
                <a:cs typeface="Poppins"/>
              </a:defRPr>
            </a:lvl5pPr>
            <a:lvl6pPr>
              <a:defRPr sz="2025" b="0">
                <a:solidFill>
                  <a:srgbClr val="2E4F66"/>
                </a:solidFill>
                <a:latin typeface="Poppins"/>
                <a:ea typeface="Poppins"/>
                <a:cs typeface="Poppins"/>
              </a:defRPr>
            </a:lvl6pPr>
            <a:lvl7pPr>
              <a:defRPr sz="2025" b="0">
                <a:solidFill>
                  <a:srgbClr val="2E4F66"/>
                </a:solidFill>
                <a:latin typeface="Poppins"/>
                <a:ea typeface="Poppins"/>
                <a:cs typeface="Poppins"/>
              </a:defRPr>
            </a:lvl7pPr>
            <a:lvl8pPr>
              <a:defRPr sz="2025" b="0">
                <a:solidFill>
                  <a:srgbClr val="2E4F66"/>
                </a:solidFill>
                <a:latin typeface="Poppins"/>
                <a:ea typeface="Poppins"/>
                <a:cs typeface="Poppins"/>
              </a:defRPr>
            </a:lvl8pPr>
            <a:lvl9pPr>
              <a:defRPr sz="2025" b="0">
                <a:solidFill>
                  <a:srgbClr val="2E4F66"/>
                </a:solidFill>
                <a:latin typeface="Poppins"/>
                <a:ea typeface="Poppins"/>
                <a:cs typeface="Poppins"/>
              </a:defRPr>
            </a:lvl9pPr>
          </a:lstStyle>
          <a:p xmlns:a="http://schemas.openxmlformats.org/drawingml/2006/main">
            <a:pPr>
              <a:defRPr sz="2025" b="0">
                <a:solidFill>
                  <a:srgbClr val="2E4F66"/>
                </a:solidFill>
                <a:latin typeface="Poppins"/>
                <a:ea typeface="Poppins"/>
                <a:cs typeface="Poppins"/>
              </a:defRPr>
            </a:pPr>
            <a:r>
              <a:rPr sz="2025" b="0">
                <a:solidFill>
                  <a:srgbClr val="2E4F66"/>
                </a:solidFill>
                <a:latin typeface="Poppins"/>
                <a:ea typeface="Poppins"/>
                <a:cs typeface="Poppins"/>
              </a:rPr>
              <a:t>Both describe a specific contribution.</a:t>
            </a:r>
          </a:p>
        </p:txBody>
      </p:sp>
      <p:sp>
        <p:nvSpPr>
          <p:cNvPr id="7" name="Supporting text">
            <a:extLst xmlns:a="http://schemas.openxmlformats.org/drawingml/2006/main">
              <a:ext uri="{FF2B5EF4-FFF2-40B4-BE49-F238E27FC236}">
                <a16:creationId xmlns:a16="http://schemas.microsoft.com/office/drawing/2014/main" id="{ED321A3B-CCD0-4893-8876-158808C7204B}"/>
              </a:ext>
            </a:extLst>
          </p:cNvPr>
          <p:cNvSpPr>
            <a:spLocks xmlns:a="http://schemas.openxmlformats.org/drawingml/2006/main" noGrp="1"/>
          </p:cNvSpPr>
          <p:nvPr/>
        </p:nvSpPr>
        <p:spPr>
          <a:xfrm xmlns:a="http://schemas.openxmlformats.org/drawingml/2006/main">
            <a:off x="609600" y="5410200"/>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E4F66"/>
                </a:solidFill>
                <a:latin typeface="Poppins"/>
                <a:ea typeface="Poppins"/>
                <a:cs typeface="Poppins"/>
              </a:defRPr>
            </a:defPPr>
            <a:lvl1pPr>
              <a:defRPr sz="2025" b="0">
                <a:solidFill>
                  <a:srgbClr val="2E4F66"/>
                </a:solidFill>
                <a:latin typeface="Poppins"/>
                <a:ea typeface="Poppins"/>
                <a:cs typeface="Poppins"/>
              </a:defRPr>
            </a:lvl1pPr>
            <a:lvl2pPr>
              <a:defRPr sz="2025" b="0">
                <a:solidFill>
                  <a:srgbClr val="2E4F66"/>
                </a:solidFill>
                <a:latin typeface="Poppins"/>
                <a:ea typeface="Poppins"/>
                <a:cs typeface="Poppins"/>
              </a:defRPr>
            </a:lvl2pPr>
            <a:lvl3pPr>
              <a:defRPr sz="2025" b="0">
                <a:solidFill>
                  <a:srgbClr val="2E4F66"/>
                </a:solidFill>
                <a:latin typeface="Poppins"/>
                <a:ea typeface="Poppins"/>
                <a:cs typeface="Poppins"/>
              </a:defRPr>
            </a:lvl3pPr>
            <a:lvl4pPr>
              <a:defRPr sz="2025" b="0">
                <a:solidFill>
                  <a:srgbClr val="2E4F66"/>
                </a:solidFill>
                <a:latin typeface="Poppins"/>
                <a:ea typeface="Poppins"/>
                <a:cs typeface="Poppins"/>
              </a:defRPr>
            </a:lvl4pPr>
            <a:lvl5pPr>
              <a:defRPr sz="2025" b="0">
                <a:solidFill>
                  <a:srgbClr val="2E4F66"/>
                </a:solidFill>
                <a:latin typeface="Poppins"/>
                <a:ea typeface="Poppins"/>
                <a:cs typeface="Poppins"/>
              </a:defRPr>
            </a:lvl5pPr>
            <a:lvl6pPr>
              <a:defRPr sz="2025" b="0">
                <a:solidFill>
                  <a:srgbClr val="2E4F66"/>
                </a:solidFill>
                <a:latin typeface="Poppins"/>
                <a:ea typeface="Poppins"/>
                <a:cs typeface="Poppins"/>
              </a:defRPr>
            </a:lvl6pPr>
            <a:lvl7pPr>
              <a:defRPr sz="2025" b="0">
                <a:solidFill>
                  <a:srgbClr val="2E4F66"/>
                </a:solidFill>
                <a:latin typeface="Poppins"/>
                <a:ea typeface="Poppins"/>
                <a:cs typeface="Poppins"/>
              </a:defRPr>
            </a:lvl7pPr>
            <a:lvl8pPr>
              <a:defRPr sz="2025" b="0">
                <a:solidFill>
                  <a:srgbClr val="2E4F66"/>
                </a:solidFill>
                <a:latin typeface="Poppins"/>
                <a:ea typeface="Poppins"/>
                <a:cs typeface="Poppins"/>
              </a:defRPr>
            </a:lvl8pPr>
            <a:lvl9pPr>
              <a:defRPr sz="2025" b="0">
                <a:solidFill>
                  <a:srgbClr val="2E4F66"/>
                </a:solidFill>
                <a:latin typeface="Poppins"/>
                <a:ea typeface="Poppins"/>
                <a:cs typeface="Poppins"/>
              </a:defRPr>
            </a:lvl9pPr>
          </a:lstStyle>
          <a:p xmlns:a="http://schemas.openxmlformats.org/drawingml/2006/main">
            <a:pPr>
              <a:defRPr sz="2025" b="0">
                <a:solidFill>
                  <a:srgbClr val="2E4F66"/>
                </a:solidFill>
                <a:latin typeface="Poppins"/>
                <a:ea typeface="Poppins"/>
                <a:cs typeface="Poppins"/>
              </a:defRPr>
            </a:pPr>
            <a:r>
              <a:rPr sz="2025" b="0">
                <a:solidFill>
                  <a:srgbClr val="2E4F66"/>
                </a:solidFill>
                <a:latin typeface="Poppins"/>
                <a:ea typeface="Poppins"/>
                <a:cs typeface="Poppins"/>
              </a:rPr>
              <a:t>Neither excerpt supplies a supported result.</a:t>
            </a:r>
          </a:p>
        </p:txBody>
      </p:sp>
      <p:sp>
        <p:nvSpPr>
          <p:cNvPr id="8" name="Footer">
            <a:extLst xmlns:a="http://schemas.openxmlformats.org/drawingml/2006/main">
              <a:ext uri="{FF2B5EF4-FFF2-40B4-BE49-F238E27FC236}">
                <a16:creationId xmlns:a16="http://schemas.microsoft.com/office/drawing/2014/main" id="{DAD0A34F-3985-498E-B952-BE42EB27C87C}"/>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25 / 31</a:t>
            </a:r>
          </a:p>
        </p:txBody>
      </p:sp>
    </p:spTree>
    <p:extLst>
      <p:ext uri="{BB962C8B-B14F-4D97-AF65-F5344CB8AC3E}">
        <p14:creationId xmlns:p14="http://schemas.microsoft.com/office/powerpoint/2010/main" val="58369286"/>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095B69EA-192D-4C41-9877-E536F1A84CC6}"/>
              </a:ext>
            </a:extLst>
          </p:cNvPr>
          <p:cNvPicPr>
            <a:picLocks xmlns:a="http://schemas.openxmlformats.org/drawingml/2006/main" noChangeAspect="1"/>
          </p:cNvPicPr>
          <p:nvPr/>
        </p:nvPicPr>
        <p:blipFill>
          <a:blip xmlns:r="http://schemas.openxmlformats.org/officeDocument/2006/relationships" xmlns:a="http://schemas.openxmlformats.org/drawingml/2006/main" r:embed="Ra48280bed945473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36BF86D9-A104-42B5-93CB-6F8BDA9065BC}"/>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EBBAB461-0B85-475B-B606-D33F2ACA7166}"/>
              </a:ext>
            </a:extLst>
          </p:cNvPr>
          <p:cNvSpPr>
            <a:spLocks xmlns:a="http://schemas.openxmlformats.org/drawingml/2006/main" noGrp="1"/>
          </p:cNvSpPr>
          <p:nvPr/>
        </p:nvSpPr>
        <p:spPr>
          <a:xfrm xmlns:a="http://schemas.openxmlformats.org/drawingml/2006/main">
            <a:off x="609600" y="8572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A ChatGPT Project</a:t>
            </a:r>
          </a:p>
        </p:txBody>
      </p:sp>
      <p:sp>
        <p:nvSpPr>
          <p:cNvPr id="4" name="Text">
            <a:extLst xmlns:a="http://schemas.openxmlformats.org/drawingml/2006/main">
              <a:ext uri="{FF2B5EF4-FFF2-40B4-BE49-F238E27FC236}">
                <a16:creationId xmlns:a16="http://schemas.microsoft.com/office/drawing/2014/main" id="{1B73C626-8718-41CE-98FF-07122C2CD02A}"/>
              </a:ext>
            </a:extLst>
          </p:cNvPr>
          <p:cNvSpPr>
            <a:spLocks xmlns:a="http://schemas.openxmlformats.org/drawingml/2006/main" noGrp="1"/>
          </p:cNvSpPr>
          <p:nvPr/>
        </p:nvSpPr>
        <p:spPr>
          <a:xfrm xmlns:a="http://schemas.openxmlformats.org/drawingml/2006/main">
            <a:off x="609600" y="15811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E4F66"/>
                </a:solidFill>
                <a:latin typeface="Poppins"/>
                <a:ea typeface="Poppins"/>
                <a:cs typeface="Poppins"/>
              </a:defRPr>
            </a:defPPr>
            <a:lvl1pPr>
              <a:defRPr sz="1875" b="0">
                <a:solidFill>
                  <a:srgbClr val="2E4F66"/>
                </a:solidFill>
                <a:latin typeface="Poppins"/>
                <a:ea typeface="Poppins"/>
                <a:cs typeface="Poppins"/>
              </a:defRPr>
            </a:lvl1pPr>
            <a:lvl2pPr>
              <a:defRPr sz="1875" b="0">
                <a:solidFill>
                  <a:srgbClr val="2E4F66"/>
                </a:solidFill>
                <a:latin typeface="Poppins"/>
                <a:ea typeface="Poppins"/>
                <a:cs typeface="Poppins"/>
              </a:defRPr>
            </a:lvl2pPr>
            <a:lvl3pPr>
              <a:defRPr sz="1875" b="0">
                <a:solidFill>
                  <a:srgbClr val="2E4F66"/>
                </a:solidFill>
                <a:latin typeface="Poppins"/>
                <a:ea typeface="Poppins"/>
                <a:cs typeface="Poppins"/>
              </a:defRPr>
            </a:lvl3pPr>
            <a:lvl4pPr>
              <a:defRPr sz="1875" b="0">
                <a:solidFill>
                  <a:srgbClr val="2E4F66"/>
                </a:solidFill>
                <a:latin typeface="Poppins"/>
                <a:ea typeface="Poppins"/>
                <a:cs typeface="Poppins"/>
              </a:defRPr>
            </a:lvl4pPr>
            <a:lvl5pPr>
              <a:defRPr sz="1875" b="0">
                <a:solidFill>
                  <a:srgbClr val="2E4F66"/>
                </a:solidFill>
                <a:latin typeface="Poppins"/>
                <a:ea typeface="Poppins"/>
                <a:cs typeface="Poppins"/>
              </a:defRPr>
            </a:lvl5pPr>
            <a:lvl6pPr>
              <a:defRPr sz="1875" b="0">
                <a:solidFill>
                  <a:srgbClr val="2E4F66"/>
                </a:solidFill>
                <a:latin typeface="Poppins"/>
                <a:ea typeface="Poppins"/>
                <a:cs typeface="Poppins"/>
              </a:defRPr>
            </a:lvl6pPr>
            <a:lvl7pPr>
              <a:defRPr sz="1875" b="0">
                <a:solidFill>
                  <a:srgbClr val="2E4F66"/>
                </a:solidFill>
                <a:latin typeface="Poppins"/>
                <a:ea typeface="Poppins"/>
                <a:cs typeface="Poppins"/>
              </a:defRPr>
            </a:lvl7pPr>
            <a:lvl8pPr>
              <a:defRPr sz="1875" b="0">
                <a:solidFill>
                  <a:srgbClr val="2E4F66"/>
                </a:solidFill>
                <a:latin typeface="Poppins"/>
                <a:ea typeface="Poppins"/>
                <a:cs typeface="Poppins"/>
              </a:defRPr>
            </a:lvl8pPr>
            <a:lvl9pPr>
              <a:defRPr sz="1875" b="0">
                <a:solidFill>
                  <a:srgbClr val="2E4F66"/>
                </a:solidFill>
                <a:latin typeface="Poppins"/>
                <a:ea typeface="Poppins"/>
                <a:cs typeface="Poppins"/>
              </a:defRPr>
            </a:lvl9pPr>
          </a:lstStyle>
          <a:p xmlns:a="http://schemas.openxmlformats.org/drawingml/2006/main">
            <a:pPr>
              <a:defRPr sz="1875" b="0">
                <a:solidFill>
                  <a:srgbClr val="2E4F66"/>
                </a:solidFill>
                <a:latin typeface="Poppins"/>
                <a:ea typeface="Poppins"/>
                <a:cs typeface="Poppins"/>
              </a:defRPr>
            </a:pPr>
            <a:r>
              <a:rPr sz="1875" b="0">
                <a:solidFill>
                  <a:srgbClr val="2E4F66"/>
                </a:solidFill>
                <a:latin typeface="Poppins"/>
                <a:ea typeface="Poppins"/>
                <a:cs typeface="Poppins"/>
              </a:rPr>
              <a:t>A place to keep related chats, files, and instructions together</a:t>
            </a:r>
          </a:p>
        </p:txBody>
      </p:sp>
      <p:pic>
        <p:nvPicPr>
          <p:cNvPr id="5" name="">
            <a:extLst xmlns:a="http://schemas.openxmlformats.org/drawingml/2006/main">
              <a:ext uri="{FF2B5EF4-FFF2-40B4-BE49-F238E27FC236}">
                <a16:creationId xmlns:a16="http://schemas.microsoft.com/office/drawing/2014/main" id="{A71A30AD-F9C8-44EE-9C43-7B9ECE955177}"/>
              </a:ext>
            </a:extLst>
          </p:cNvPr>
          <p:cNvPicPr>
            <a:picLocks xmlns:a="http://schemas.openxmlformats.org/drawingml/2006/main" noChangeAspect="1"/>
          </p:cNvPicPr>
          <p:nvPr/>
        </p:nvPicPr>
        <p:blipFill>
          <a:blip xmlns:r="http://schemas.openxmlformats.org/officeDocument/2006/relationships" xmlns:a="http://schemas.openxmlformats.org/drawingml/2006/main" r:embed="R55041679615e40d5"/>
          <a:stretch xmlns:a="http://schemas.openxmlformats.org/drawingml/2006/main"/>
        </p:blipFill>
        <p:spPr>
          <a:xfrm xmlns:a="http://schemas.openxmlformats.org/drawingml/2006/main">
            <a:off x="4071938" y="2143125"/>
            <a:ext cx="4048125" cy="1619250"/>
          </a:xfrm>
          <a:prstGeom xmlns:a="http://schemas.openxmlformats.org/drawingml/2006/main" prst="rect">
            <a:avLst/>
          </a:prstGeom>
        </p:spPr>
      </p:pic>
      <p:graphicFrame>
        <p:nvGraphicFramePr>
          <p:cNvPr id="6" name="">
            <a:extLst xmlns:a="http://schemas.openxmlformats.org/drawingml/2006/main">
              <a:ext uri="{FF2B5EF4-FFF2-40B4-BE49-F238E27FC236}">
                <a16:creationId xmlns:a16="http://schemas.microsoft.com/office/drawing/2014/main" id="{D71B1659-623D-4645-A514-D90B534F767E}"/>
              </a:ext>
            </a:extLst>
          </p:cNvPr>
          <p:cNvGraphicFramePr/>
          <p:nvPr/>
        </p:nvGraphicFramePr>
        <p:xfrm>
          <a:off xmlns:a="http://schemas.openxmlformats.org/drawingml/2006/main" x="609600" y="3952875"/>
          <a:ext xmlns:a="http://schemas.openxmlformats.org/drawingml/2006/main" cx="10972800" cy="2095500"/>
        </p:xfrm>
        <a:graphic xmlns:a="http://schemas.openxmlformats.org/drawingml/2006/main">
          <a:graphicData uri="http://schemas.openxmlformats.org/drawingml/2006/table">
            <a:tbl>
              <a:tblPr firstRow="1" bandRow="0"/>
              <a:tblGrid>
                <a:gridCol w="5486400"/>
                <a:gridCol w="5486400"/>
              </a:tblGrid>
              <a:tr h="523875">
                <a:tc>
                  <a:txBody>
                    <a:bodyPr/>
                    <a:lstStyle/>
                    <a:p>
                      <a:r>
                        <a:rPr sz="1800" b="1">
                          <a:solidFill>
                            <a:srgbClr val="FFFFFF"/>
                          </a:solidFill>
                          <a:latin typeface="Poppins"/>
                          <a:ea typeface="Poppins"/>
                          <a:cs typeface="Poppins"/>
                        </a:rPr>
                        <a:t>One chat</a:t>
                      </a:r>
                    </a:p>
                  </a:txBody>
                  <a:tcPr marL="133350" marR="133350" marT="85725" marB="85725" anchor="t">
                    <a:lnL w="9525">
                      <a:solidFill>
                        <a:srgbClr val="B6D4D6"/>
                      </a:solidFill>
                      <a:prstDash val="solid"/>
                    </a:lnL>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c>
                  <a:txBody>
                    <a:bodyPr/>
                    <a:lstStyle/>
                    <a:p>
                      <a:r>
                        <a:rPr sz="1800" b="1">
                          <a:solidFill>
                            <a:srgbClr val="FFFFFF"/>
                          </a:solidFill>
                          <a:latin typeface="Poppins"/>
                          <a:ea typeface="Poppins"/>
                          <a:cs typeface="Poppins"/>
                        </a:rPr>
                        <a:t>A Project</a:t>
                      </a:r>
                    </a:p>
                  </a:txBody>
                  <a:tcPr marL="133350" marR="133350" marT="85725" marB="85725" anchor="t">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r>
              <a:tr h="523875">
                <a:tc>
                  <a:txBody>
                    <a:bodyPr/>
                    <a:lstStyle/>
                    <a:p>
                      <a:r>
                        <a:rPr sz="1800" b="0">
                          <a:solidFill>
                            <a:srgbClr val="2E4F66"/>
                          </a:solidFill>
                          <a:latin typeface="Poppins"/>
                          <a:ea typeface="Poppins"/>
                          <a:cs typeface="Poppins"/>
                        </a:rPr>
                        <a:t>Useful for a single task</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Useful when related work continues</a:t>
                      </a:r>
                    </a:p>
                  </a:txBody>
                  <a:tcPr marL="133350" marR="133350" marT="85725" marB="85725" anchor="t">
                    <a:lnR w="9525">
                      <a:solidFill>
                        <a:srgbClr val="B6D4D6"/>
                      </a:solidFill>
                      <a:prstDash val="solid"/>
                    </a:lnR>
                    <a:lnB w="9525">
                      <a:solidFill>
                        <a:srgbClr val="B6D4D6"/>
                      </a:solidFill>
                      <a:prstDash val="solid"/>
                    </a:lnB>
                    <a:solidFill>
                      <a:srgbClr val="F0F8F8"/>
                    </a:solidFill>
                  </a:tcPr>
                </a:tc>
              </a:tr>
              <a:tr h="523875">
                <a:tc>
                  <a:txBody>
                    <a:bodyPr/>
                    <a:lstStyle/>
                    <a:p>
                      <a:r>
                        <a:rPr sz="1800" b="0">
                          <a:solidFill>
                            <a:srgbClr val="2E4F66"/>
                          </a:solidFill>
                          <a:latin typeface="Poppins"/>
                          <a:ea typeface="Poppins"/>
                          <a:cs typeface="Poppins"/>
                        </a:rPr>
                        <a:t>Supply the task information</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FFFFF"/>
                    </a:solidFill>
                  </a:tcPr>
                </a:tc>
                <a:tc>
                  <a:txBody>
                    <a:bodyPr/>
                    <a:lstStyle/>
                    <a:p>
                      <a:r>
                        <a:rPr sz="1800" b="0">
                          <a:solidFill>
                            <a:srgbClr val="2E4F66"/>
                          </a:solidFill>
                          <a:latin typeface="Poppins"/>
                          <a:ea typeface="Poppins"/>
                          <a:cs typeface="Poppins"/>
                        </a:rPr>
                        <a:t>Keep shared practice files available</a:t>
                      </a:r>
                    </a:p>
                  </a:txBody>
                  <a:tcPr marL="133350" marR="133350" marT="85725" marB="85725" anchor="t">
                    <a:lnR w="9525">
                      <a:solidFill>
                        <a:srgbClr val="B6D4D6"/>
                      </a:solidFill>
                      <a:prstDash val="solid"/>
                    </a:lnR>
                    <a:lnB w="9525">
                      <a:solidFill>
                        <a:srgbClr val="B6D4D6"/>
                      </a:solidFill>
                      <a:prstDash val="solid"/>
                    </a:lnB>
                    <a:solidFill>
                      <a:srgbClr val="FFFFFF"/>
                    </a:solidFill>
                  </a:tcPr>
                </a:tc>
              </a:tr>
              <a:tr h="523875">
                <a:tc>
                  <a:txBody>
                    <a:bodyPr/>
                    <a:lstStyle/>
                    <a:p>
                      <a:r>
                        <a:rPr sz="1800" b="0">
                          <a:solidFill>
                            <a:srgbClr val="2E4F66"/>
                          </a:solidFill>
                          <a:latin typeface="Poppins"/>
                          <a:ea typeface="Poppins"/>
                          <a:cs typeface="Poppins"/>
                        </a:rPr>
                        <a:t>Give instructions for this chat</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Add instructions for the Project</a:t>
                      </a:r>
                    </a:p>
                  </a:txBody>
                  <a:tcPr marL="133350" marR="133350" marT="85725" marB="85725" anchor="t">
                    <a:lnR w="9525">
                      <a:solidFill>
                        <a:srgbClr val="B6D4D6"/>
                      </a:solidFill>
                      <a:prstDash val="solid"/>
                    </a:lnR>
                    <a:lnB w="9525">
                      <a:solidFill>
                        <a:srgbClr val="B6D4D6"/>
                      </a:solidFill>
                      <a:prstDash val="solid"/>
                    </a:lnB>
                    <a:solidFill>
                      <a:srgbClr val="F0F8F8"/>
                    </a:solidFill>
                  </a:tcPr>
                </a:tc>
              </a:tr>
            </a:tbl>
          </a:graphicData>
        </a:graphic>
      </p:graphicFrame>
      <p:sp>
        <p:nvSpPr>
          <p:cNvPr id="7" name="Footer">
            <a:extLst xmlns:a="http://schemas.openxmlformats.org/drawingml/2006/main">
              <a:ext uri="{FF2B5EF4-FFF2-40B4-BE49-F238E27FC236}">
                <a16:creationId xmlns:a16="http://schemas.microsoft.com/office/drawing/2014/main" id="{465E8C3D-8F22-4738-BC9D-20551535F2B4}"/>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26 / 31</a:t>
            </a:r>
          </a:p>
        </p:txBody>
      </p:sp>
    </p:spTree>
    <p:extLst>
      <p:ext uri="{BB962C8B-B14F-4D97-AF65-F5344CB8AC3E}">
        <p14:creationId xmlns:p14="http://schemas.microsoft.com/office/powerpoint/2010/main" val="349757955"/>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41BDC9B9-E206-4518-898A-BBAFADB83BB0}"/>
              </a:ext>
            </a:extLst>
          </p:cNvPr>
          <p:cNvPicPr>
            <a:picLocks xmlns:a="http://schemas.openxmlformats.org/drawingml/2006/main" noChangeAspect="1"/>
          </p:cNvPicPr>
          <p:nvPr/>
        </p:nvPicPr>
        <p:blipFill>
          <a:blip xmlns:r="http://schemas.openxmlformats.org/officeDocument/2006/relationships" xmlns:a="http://schemas.openxmlformats.org/drawingml/2006/main" r:embed="Rb9ecb13a382349f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9EA88FB8-4A03-4C66-9EC8-31EBBD5C7A24}"/>
              </a:ext>
            </a:extLst>
          </p:cNvPr>
          <p:cNvSpPr>
            <a:spLocks xmlns:a="http://schemas.openxmlformats.org/drawingml/2006/main" noGrp="1"/>
          </p:cNvSpPr>
          <p:nvPr/>
        </p:nvSpPr>
        <p:spPr>
          <a:xfrm xmlns:a="http://schemas.openxmlformats.org/drawingml/2006/main">
            <a:off x="609600" y="40957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1565E2B5-23BF-409F-B445-ADBDA606B3F0}"/>
              </a:ext>
            </a:extLst>
          </p:cNvPr>
          <p:cNvSpPr>
            <a:spLocks xmlns:a="http://schemas.openxmlformats.org/drawingml/2006/main" noGrp="1"/>
          </p:cNvSpPr>
          <p:nvPr/>
        </p:nvSpPr>
        <p:spPr>
          <a:xfrm xmlns:a="http://schemas.openxmlformats.org/drawingml/2006/main">
            <a:off x="609600" y="8572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Instructions for repeated work</a:t>
            </a:r>
          </a:p>
        </p:txBody>
      </p:sp>
      <p:sp>
        <p:nvSpPr>
          <p:cNvPr id="4" name="Text">
            <a:extLst xmlns:a="http://schemas.openxmlformats.org/drawingml/2006/main">
              <a:ext uri="{FF2B5EF4-FFF2-40B4-BE49-F238E27FC236}">
                <a16:creationId xmlns:a16="http://schemas.microsoft.com/office/drawing/2014/main" id="{FED5F64C-5C00-4519-89F9-C926FD7CBB74}"/>
              </a:ext>
            </a:extLst>
          </p:cNvPr>
          <p:cNvSpPr>
            <a:spLocks xmlns:a="http://schemas.openxmlformats.org/drawingml/2006/main" noGrp="1"/>
          </p:cNvSpPr>
          <p:nvPr/>
        </p:nvSpPr>
        <p:spPr>
          <a:xfrm xmlns:a="http://schemas.openxmlformats.org/drawingml/2006/main">
            <a:off x="609600" y="15811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E4F66"/>
                </a:solidFill>
                <a:latin typeface="Poppins"/>
                <a:ea typeface="Poppins"/>
                <a:cs typeface="Poppins"/>
              </a:defRPr>
            </a:defPPr>
            <a:lvl1pPr>
              <a:defRPr sz="1875" b="0">
                <a:solidFill>
                  <a:srgbClr val="2E4F66"/>
                </a:solidFill>
                <a:latin typeface="Poppins"/>
                <a:ea typeface="Poppins"/>
                <a:cs typeface="Poppins"/>
              </a:defRPr>
            </a:lvl1pPr>
            <a:lvl2pPr>
              <a:defRPr sz="1875" b="0">
                <a:solidFill>
                  <a:srgbClr val="2E4F66"/>
                </a:solidFill>
                <a:latin typeface="Poppins"/>
                <a:ea typeface="Poppins"/>
                <a:cs typeface="Poppins"/>
              </a:defRPr>
            </a:lvl2pPr>
            <a:lvl3pPr>
              <a:defRPr sz="1875" b="0">
                <a:solidFill>
                  <a:srgbClr val="2E4F66"/>
                </a:solidFill>
                <a:latin typeface="Poppins"/>
                <a:ea typeface="Poppins"/>
                <a:cs typeface="Poppins"/>
              </a:defRPr>
            </a:lvl3pPr>
            <a:lvl4pPr>
              <a:defRPr sz="1875" b="0">
                <a:solidFill>
                  <a:srgbClr val="2E4F66"/>
                </a:solidFill>
                <a:latin typeface="Poppins"/>
                <a:ea typeface="Poppins"/>
                <a:cs typeface="Poppins"/>
              </a:defRPr>
            </a:lvl4pPr>
            <a:lvl5pPr>
              <a:defRPr sz="1875" b="0">
                <a:solidFill>
                  <a:srgbClr val="2E4F66"/>
                </a:solidFill>
                <a:latin typeface="Poppins"/>
                <a:ea typeface="Poppins"/>
                <a:cs typeface="Poppins"/>
              </a:defRPr>
            </a:lvl5pPr>
            <a:lvl6pPr>
              <a:defRPr sz="1875" b="0">
                <a:solidFill>
                  <a:srgbClr val="2E4F66"/>
                </a:solidFill>
                <a:latin typeface="Poppins"/>
                <a:ea typeface="Poppins"/>
                <a:cs typeface="Poppins"/>
              </a:defRPr>
            </a:lvl6pPr>
            <a:lvl7pPr>
              <a:defRPr sz="1875" b="0">
                <a:solidFill>
                  <a:srgbClr val="2E4F66"/>
                </a:solidFill>
                <a:latin typeface="Poppins"/>
                <a:ea typeface="Poppins"/>
                <a:cs typeface="Poppins"/>
              </a:defRPr>
            </a:lvl7pPr>
            <a:lvl8pPr>
              <a:defRPr sz="1875" b="0">
                <a:solidFill>
                  <a:srgbClr val="2E4F66"/>
                </a:solidFill>
                <a:latin typeface="Poppins"/>
                <a:ea typeface="Poppins"/>
                <a:cs typeface="Poppins"/>
              </a:defRPr>
            </a:lvl8pPr>
            <a:lvl9pPr>
              <a:defRPr sz="1875" b="0">
                <a:solidFill>
                  <a:srgbClr val="2E4F66"/>
                </a:solidFill>
                <a:latin typeface="Poppins"/>
                <a:ea typeface="Poppins"/>
                <a:cs typeface="Poppins"/>
              </a:defRPr>
            </a:lvl9pPr>
          </a:lstStyle>
          <a:p xmlns:a="http://schemas.openxmlformats.org/drawingml/2006/main">
            <a:pPr>
              <a:defRPr sz="1875" b="0">
                <a:solidFill>
                  <a:srgbClr val="2E4F66"/>
                </a:solidFill>
                <a:latin typeface="Poppins"/>
                <a:ea typeface="Poppins"/>
                <a:cs typeface="Poppins"/>
              </a:defRPr>
            </a:pPr>
            <a:r>
              <a:rPr sz="1875" b="0">
                <a:solidFill>
                  <a:srgbClr val="2E4F66"/>
                </a:solidFill>
                <a:latin typeface="Poppins"/>
                <a:ea typeface="Poppins"/>
                <a:cs typeface="Poppins"/>
              </a:rPr>
              <a:t>Instructions are the rules I want AI to follow.</a:t>
            </a:r>
          </a:p>
        </p:txBody>
      </p:sp>
      <p:pic>
        <p:nvPicPr>
          <p:cNvPr id="5" name="">
            <a:extLst xmlns:a="http://schemas.openxmlformats.org/drawingml/2006/main">
              <a:ext uri="{FF2B5EF4-FFF2-40B4-BE49-F238E27FC236}">
                <a16:creationId xmlns:a16="http://schemas.microsoft.com/office/drawing/2014/main" id="{41975C0B-092E-47C0-9B22-CFFB44A88DFC}"/>
              </a:ext>
            </a:extLst>
          </p:cNvPr>
          <p:cNvPicPr>
            <a:picLocks xmlns:a="http://schemas.openxmlformats.org/drawingml/2006/main" noChangeAspect="1"/>
          </p:cNvPicPr>
          <p:nvPr/>
        </p:nvPicPr>
        <p:blipFill>
          <a:blip xmlns:r="http://schemas.openxmlformats.org/officeDocument/2006/relationships" xmlns:a="http://schemas.openxmlformats.org/drawingml/2006/main" r:embed="Rb29652ff387849be"/>
          <a:stretch xmlns:a="http://schemas.openxmlformats.org/drawingml/2006/main"/>
        </p:blipFill>
        <p:spPr>
          <a:xfrm xmlns:a="http://schemas.openxmlformats.org/drawingml/2006/main">
            <a:off x="2524125" y="2047875"/>
            <a:ext cx="7143750" cy="2857500"/>
          </a:xfrm>
          <a:prstGeom xmlns:a="http://schemas.openxmlformats.org/drawingml/2006/main" prst="rect">
            <a:avLst/>
          </a:prstGeom>
        </p:spPr>
      </p:pic>
      <p:sp>
        <p:nvSpPr>
          <p:cNvPr id="6" name="Infographic heading">
            <a:extLst xmlns:a="http://schemas.openxmlformats.org/drawingml/2006/main">
              <a:ext uri="{FF2B5EF4-FFF2-40B4-BE49-F238E27FC236}">
                <a16:creationId xmlns:a16="http://schemas.microsoft.com/office/drawing/2014/main" id="{EB395806-A63A-4186-B5F1-4DB3F74D987C}"/>
              </a:ext>
            </a:extLst>
          </p:cNvPr>
          <p:cNvSpPr>
            <a:spLocks xmlns:a="http://schemas.openxmlformats.org/drawingml/2006/main" noGrp="1"/>
          </p:cNvSpPr>
          <p:nvPr/>
        </p:nvSpPr>
        <p:spPr>
          <a:xfrm xmlns:a="http://schemas.openxmlformats.org/drawingml/2006/main">
            <a:off x="7620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Use the supplied files</a:t>
            </a:r>
          </a:p>
        </p:txBody>
      </p:sp>
      <p:sp>
        <p:nvSpPr>
          <p:cNvPr id="7" name="Infographic explanation">
            <a:extLst xmlns:a="http://schemas.openxmlformats.org/drawingml/2006/main">
              <a:ext uri="{FF2B5EF4-FFF2-40B4-BE49-F238E27FC236}">
                <a16:creationId xmlns:a16="http://schemas.microsoft.com/office/drawing/2014/main" id="{7F82A57A-B579-4B72-94DF-A9F10F6BEA86}"/>
              </a:ext>
            </a:extLst>
          </p:cNvPr>
          <p:cNvSpPr>
            <a:spLocks xmlns:a="http://schemas.openxmlformats.org/drawingml/2006/main" noGrp="1"/>
          </p:cNvSpPr>
          <p:nvPr/>
        </p:nvSpPr>
        <p:spPr>
          <a:xfrm xmlns:a="http://schemas.openxmlformats.org/drawingml/2006/main">
            <a:off x="7620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Do not invent missing information.</a:t>
            </a:r>
          </a:p>
        </p:txBody>
      </p:sp>
      <p:sp>
        <p:nvSpPr>
          <p:cNvPr id="8" name="Infographic heading">
            <a:extLst xmlns:a="http://schemas.openxmlformats.org/drawingml/2006/main">
              <a:ext uri="{FF2B5EF4-FFF2-40B4-BE49-F238E27FC236}">
                <a16:creationId xmlns:a16="http://schemas.microsoft.com/office/drawing/2014/main" id="{B316BC53-CDE0-4F7E-9D66-59E07D4EF562}"/>
              </a:ext>
            </a:extLst>
          </p:cNvPr>
          <p:cNvSpPr>
            <a:spLocks xmlns:a="http://schemas.openxmlformats.org/drawingml/2006/main" noGrp="1"/>
          </p:cNvSpPr>
          <p:nvPr/>
        </p:nvSpPr>
        <p:spPr>
          <a:xfrm xmlns:a="http://schemas.openxmlformats.org/drawingml/2006/main">
            <a:off x="43942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Show the evidence</a:t>
            </a:r>
          </a:p>
        </p:txBody>
      </p:sp>
      <p:sp>
        <p:nvSpPr>
          <p:cNvPr id="9" name="Infographic explanation">
            <a:extLst xmlns:a="http://schemas.openxmlformats.org/drawingml/2006/main">
              <a:ext uri="{FF2B5EF4-FFF2-40B4-BE49-F238E27FC236}">
                <a16:creationId xmlns:a16="http://schemas.microsoft.com/office/drawing/2014/main" id="{6537AB28-BE5E-44DC-8D98-23F3D94BE8E1}"/>
              </a:ext>
            </a:extLst>
          </p:cNvPr>
          <p:cNvSpPr>
            <a:spLocks xmlns:a="http://schemas.openxmlformats.org/drawingml/2006/main" noGrp="1"/>
          </p:cNvSpPr>
          <p:nvPr/>
        </p:nvSpPr>
        <p:spPr>
          <a:xfrm xmlns:a="http://schemas.openxmlformats.org/drawingml/2006/main">
            <a:off x="43942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Quote the original and say where to find it.</a:t>
            </a:r>
          </a:p>
        </p:txBody>
      </p:sp>
      <p:sp>
        <p:nvSpPr>
          <p:cNvPr id="10" name="Infographic heading">
            <a:extLst xmlns:a="http://schemas.openxmlformats.org/drawingml/2006/main">
              <a:ext uri="{FF2B5EF4-FFF2-40B4-BE49-F238E27FC236}">
                <a16:creationId xmlns:a16="http://schemas.microsoft.com/office/drawing/2014/main" id="{FD2F899C-D4CF-4B2E-91B1-2EBB2E87815F}"/>
              </a:ext>
            </a:extLst>
          </p:cNvPr>
          <p:cNvSpPr>
            <a:spLocks xmlns:a="http://schemas.openxmlformats.org/drawingml/2006/main" noGrp="1"/>
          </p:cNvSpPr>
          <p:nvPr/>
        </p:nvSpPr>
        <p:spPr>
          <a:xfrm xmlns:a="http://schemas.openxmlformats.org/drawingml/2006/main">
            <a:off x="80264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Staff decide</a:t>
            </a:r>
          </a:p>
        </p:txBody>
      </p:sp>
      <p:sp>
        <p:nvSpPr>
          <p:cNvPr id="11" name="Infographic explanation">
            <a:extLst xmlns:a="http://schemas.openxmlformats.org/drawingml/2006/main">
              <a:ext uri="{FF2B5EF4-FFF2-40B4-BE49-F238E27FC236}">
                <a16:creationId xmlns:a16="http://schemas.microsoft.com/office/drawing/2014/main" id="{59EC5F1B-15A3-44DF-84E3-65535C7485E1}"/>
              </a:ext>
            </a:extLst>
          </p:cNvPr>
          <p:cNvSpPr>
            <a:spLocks xmlns:a="http://schemas.openxmlformats.org/drawingml/2006/main" noGrp="1"/>
          </p:cNvSpPr>
          <p:nvPr/>
        </p:nvSpPr>
        <p:spPr>
          <a:xfrm xmlns:a="http://schemas.openxmlformats.org/drawingml/2006/main">
            <a:off x="80264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Saved instructions still need human checks.</a:t>
            </a:r>
          </a:p>
        </p:txBody>
      </p:sp>
      <p:sp>
        <p:nvSpPr>
          <p:cNvPr id="12" name="Resource link">
            <a:extLst xmlns:a="http://schemas.openxmlformats.org/drawingml/2006/main">
              <a:ext uri="{FF2B5EF4-FFF2-40B4-BE49-F238E27FC236}">
                <a16:creationId xmlns:a16="http://schemas.microsoft.com/office/drawing/2014/main" id="{2F12E940-DD9C-4A13-9D87-7F449634B8F3}"/>
              </a:ext>
            </a:extLst>
          </p:cNvPr>
          <p:cNvSpPr>
            <a:spLocks xmlns:a="http://schemas.openxmlformats.org/drawingml/2006/main" noGrp="1"/>
          </p:cNvSpPr>
          <p:nvPr/>
        </p:nvSpPr>
        <p:spPr>
          <a:xfrm xmlns:a="http://schemas.openxmlformats.org/drawingml/2006/main">
            <a:off x="8001000" y="409575"/>
            <a:ext cx="3581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u="sng">
                <a:solidFill>
                  <a:srgbClr val="007681"/>
                </a:solidFill>
                <a:latin typeface="Poppins"/>
                <a:ea typeface="Poppins"/>
                <a:cs typeface="Poppins"/>
                <a:hlinkClick xmlns:r="http://schemas.openxmlformats.org/officeDocument/2006/relationships" r:id="Re04a5ef3000d4397"/>
              </a:rPr>
              <a:t>Open practice activity</a:t>
            </a:r>
          </a:p>
        </p:txBody>
      </p:sp>
      <p:sp>
        <p:nvSpPr>
          <p:cNvPr id="13" name="Footer">
            <a:extLst xmlns:a="http://schemas.openxmlformats.org/drawingml/2006/main">
              <a:ext uri="{FF2B5EF4-FFF2-40B4-BE49-F238E27FC236}">
                <a16:creationId xmlns:a16="http://schemas.microsoft.com/office/drawing/2014/main" id="{1E81C247-6F03-4F6A-994B-56188F28F7BE}"/>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27 / 31</a:t>
            </a:r>
          </a:p>
        </p:txBody>
      </p:sp>
    </p:spTree>
    <p:extLst>
      <p:ext uri="{BB962C8B-B14F-4D97-AF65-F5344CB8AC3E}">
        <p14:creationId xmlns:p14="http://schemas.microsoft.com/office/powerpoint/2010/main" val="2078900439"/>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339CBD71-C5CF-4321-AC98-82A76E05B994}"/>
              </a:ext>
            </a:extLst>
          </p:cNvPr>
          <p:cNvPicPr>
            <a:picLocks xmlns:a="http://schemas.openxmlformats.org/drawingml/2006/main" noChangeAspect="1"/>
          </p:cNvPicPr>
          <p:nvPr/>
        </p:nvPicPr>
        <p:blipFill>
          <a:blip xmlns:r="http://schemas.openxmlformats.org/officeDocument/2006/relationships" xmlns:a="http://schemas.openxmlformats.org/drawingml/2006/main" r:embed="Rcbd3bdf7a3df4b1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C26992A5-643C-483B-B946-6AF5CC0A5A96}"/>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EC58AD9B-8935-4AF5-8E91-E7650E83A2DC}"/>
              </a:ext>
            </a:extLst>
          </p:cNvPr>
          <p:cNvSpPr>
            <a:spLocks xmlns:a="http://schemas.openxmlformats.org/drawingml/2006/main" noGrp="1"/>
          </p:cNvSpPr>
          <p:nvPr/>
        </p:nvSpPr>
        <p:spPr>
          <a:xfrm xmlns:a="http://schemas.openxmlformats.org/drawingml/2006/main">
            <a:off x="609600" y="85725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A skill is a reusable recipe</a:t>
            </a:r>
          </a:p>
        </p:txBody>
      </p:sp>
      <p:sp>
        <p:nvSpPr>
          <p:cNvPr id="4" name="Text">
            <a:extLst xmlns:a="http://schemas.openxmlformats.org/drawingml/2006/main">
              <a:ext uri="{FF2B5EF4-FFF2-40B4-BE49-F238E27FC236}">
                <a16:creationId xmlns:a16="http://schemas.microsoft.com/office/drawing/2014/main" id="{E61077B3-901A-4460-8E84-9044AA0F7FB7}"/>
              </a:ext>
            </a:extLst>
          </p:cNvPr>
          <p:cNvSpPr>
            <a:spLocks xmlns:a="http://schemas.openxmlformats.org/drawingml/2006/main" noGrp="1"/>
          </p:cNvSpPr>
          <p:nvPr/>
        </p:nvSpPr>
        <p:spPr>
          <a:xfrm xmlns:a="http://schemas.openxmlformats.org/drawingml/2006/main">
            <a:off x="609600" y="1809750"/>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E4F66"/>
                </a:solidFill>
                <a:latin typeface="Poppins"/>
                <a:ea typeface="Poppins"/>
                <a:cs typeface="Poppins"/>
              </a:defRPr>
            </a:defPPr>
            <a:lvl1pPr>
              <a:defRPr sz="2025" b="0">
                <a:solidFill>
                  <a:srgbClr val="2E4F66"/>
                </a:solidFill>
                <a:latin typeface="Poppins"/>
                <a:ea typeface="Poppins"/>
                <a:cs typeface="Poppins"/>
              </a:defRPr>
            </a:lvl1pPr>
            <a:lvl2pPr>
              <a:defRPr sz="2025" b="0">
                <a:solidFill>
                  <a:srgbClr val="2E4F66"/>
                </a:solidFill>
                <a:latin typeface="Poppins"/>
                <a:ea typeface="Poppins"/>
                <a:cs typeface="Poppins"/>
              </a:defRPr>
            </a:lvl2pPr>
            <a:lvl3pPr>
              <a:defRPr sz="2025" b="0">
                <a:solidFill>
                  <a:srgbClr val="2E4F66"/>
                </a:solidFill>
                <a:latin typeface="Poppins"/>
                <a:ea typeface="Poppins"/>
                <a:cs typeface="Poppins"/>
              </a:defRPr>
            </a:lvl3pPr>
            <a:lvl4pPr>
              <a:defRPr sz="2025" b="0">
                <a:solidFill>
                  <a:srgbClr val="2E4F66"/>
                </a:solidFill>
                <a:latin typeface="Poppins"/>
                <a:ea typeface="Poppins"/>
                <a:cs typeface="Poppins"/>
              </a:defRPr>
            </a:lvl4pPr>
            <a:lvl5pPr>
              <a:defRPr sz="2025" b="0">
                <a:solidFill>
                  <a:srgbClr val="2E4F66"/>
                </a:solidFill>
                <a:latin typeface="Poppins"/>
                <a:ea typeface="Poppins"/>
                <a:cs typeface="Poppins"/>
              </a:defRPr>
            </a:lvl5pPr>
            <a:lvl6pPr>
              <a:defRPr sz="2025" b="0">
                <a:solidFill>
                  <a:srgbClr val="2E4F66"/>
                </a:solidFill>
                <a:latin typeface="Poppins"/>
                <a:ea typeface="Poppins"/>
                <a:cs typeface="Poppins"/>
              </a:defRPr>
            </a:lvl6pPr>
            <a:lvl7pPr>
              <a:defRPr sz="2025" b="0">
                <a:solidFill>
                  <a:srgbClr val="2E4F66"/>
                </a:solidFill>
                <a:latin typeface="Poppins"/>
                <a:ea typeface="Poppins"/>
                <a:cs typeface="Poppins"/>
              </a:defRPr>
            </a:lvl7pPr>
            <a:lvl8pPr>
              <a:defRPr sz="2025" b="0">
                <a:solidFill>
                  <a:srgbClr val="2E4F66"/>
                </a:solidFill>
                <a:latin typeface="Poppins"/>
                <a:ea typeface="Poppins"/>
                <a:cs typeface="Poppins"/>
              </a:defRPr>
            </a:lvl8pPr>
            <a:lvl9pPr>
              <a:defRPr sz="2025" b="0">
                <a:solidFill>
                  <a:srgbClr val="2E4F66"/>
                </a:solidFill>
                <a:latin typeface="Poppins"/>
                <a:ea typeface="Poppins"/>
                <a:cs typeface="Poppins"/>
              </a:defRPr>
            </a:lvl9pPr>
          </a:lstStyle>
          <a:p xmlns:a="http://schemas.openxmlformats.org/drawingml/2006/main">
            <a:pPr>
              <a:defRPr sz="2025" b="0">
                <a:solidFill>
                  <a:srgbClr val="2E4F66"/>
                </a:solidFill>
                <a:latin typeface="Poppins"/>
                <a:ea typeface="Poppins"/>
                <a:cs typeface="Poppins"/>
              </a:defRPr>
            </a:pPr>
            <a:r>
              <a:rPr sz="2025" b="0">
                <a:solidFill>
                  <a:srgbClr val="2E4F66"/>
                </a:solidFill>
                <a:latin typeface="Poppins"/>
                <a:ea typeface="Poppins"/>
                <a:cs typeface="Poppins"/>
              </a:rPr>
              <a:t>It saves the steps for a task I expect to repeat.</a:t>
            </a:r>
          </a:p>
        </p:txBody>
      </p:sp>
      <p:graphicFrame>
        <p:nvGraphicFramePr>
          <p:cNvPr id="5" name="">
            <a:extLst xmlns:a="http://schemas.openxmlformats.org/drawingml/2006/main">
              <a:ext uri="{FF2B5EF4-FFF2-40B4-BE49-F238E27FC236}">
                <a16:creationId xmlns:a16="http://schemas.microsoft.com/office/drawing/2014/main" id="{90238CE8-B70F-4B3B-B01C-8592DC6FB807}"/>
              </a:ext>
            </a:extLst>
          </p:cNvPr>
          <p:cNvGraphicFramePr/>
          <p:nvPr/>
        </p:nvGraphicFramePr>
        <p:xfrm>
          <a:off xmlns:a="http://schemas.openxmlformats.org/drawingml/2006/main" x="609600" y="2428875"/>
          <a:ext xmlns:a="http://schemas.openxmlformats.org/drawingml/2006/main" cx="10972800" cy="2743200"/>
        </p:xfrm>
        <a:graphic xmlns:a="http://schemas.openxmlformats.org/drawingml/2006/main">
          <a:graphicData uri="http://schemas.openxmlformats.org/drawingml/2006/table">
            <a:tbl>
              <a:tblPr firstRow="1" bandRow="0"/>
              <a:tblGrid>
                <a:gridCol w="2571750"/>
                <a:gridCol w="8401050"/>
              </a:tblGrid>
              <a:tr h="685800">
                <a:tc>
                  <a:txBody>
                    <a:bodyPr/>
                    <a:lstStyle/>
                    <a:p>
                      <a:r>
                        <a:rPr sz="1800" b="1">
                          <a:solidFill>
                            <a:srgbClr val="FFFFFF"/>
                          </a:solidFill>
                          <a:latin typeface="Poppins"/>
                          <a:ea typeface="Poppins"/>
                          <a:cs typeface="Poppins"/>
                        </a:rPr>
                        <a:t>Recipe part</a:t>
                      </a:r>
                    </a:p>
                  </a:txBody>
                  <a:tcPr marL="133350" marR="133350" marT="85725" marB="85725" anchor="t">
                    <a:lnL w="9525">
                      <a:solidFill>
                        <a:srgbClr val="B6D4D6"/>
                      </a:solidFill>
                      <a:prstDash val="solid"/>
                    </a:lnL>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c>
                  <a:txBody>
                    <a:bodyPr/>
                    <a:lstStyle/>
                    <a:p>
                      <a:r>
                        <a:rPr sz="1800" b="1">
                          <a:solidFill>
                            <a:srgbClr val="FFFFFF"/>
                          </a:solidFill>
                          <a:latin typeface="Poppins"/>
                          <a:ea typeface="Poppins"/>
                          <a:cs typeface="Poppins"/>
                        </a:rPr>
                        <a:t>Evidence-review example</a:t>
                      </a:r>
                    </a:p>
                  </a:txBody>
                  <a:tcPr marL="133350" marR="133350" marT="85725" marB="85725" anchor="t">
                    <a:lnR w="9525">
                      <a:solidFill>
                        <a:srgbClr val="B6D4D6"/>
                      </a:solidFill>
                      <a:prstDash val="solid"/>
                    </a:lnR>
                    <a:lnT w="9525">
                      <a:solidFill>
                        <a:srgbClr val="B6D4D6"/>
                      </a:solidFill>
                      <a:prstDash val="solid"/>
                    </a:lnT>
                    <a:lnB w="9525">
                      <a:solidFill>
                        <a:srgbClr val="B6D4D6"/>
                      </a:solidFill>
                      <a:prstDash val="solid"/>
                    </a:lnB>
                    <a:solidFill>
                      <a:srgbClr val="007681"/>
                    </a:solidFill>
                  </a:tcPr>
                </a:tc>
              </a:tr>
              <a:tr h="685800">
                <a:tc>
                  <a:txBody>
                    <a:bodyPr/>
                    <a:lstStyle/>
                    <a:p>
                      <a:r>
                        <a:rPr sz="1800" b="0">
                          <a:solidFill>
                            <a:srgbClr val="2E4F66"/>
                          </a:solidFill>
                          <a:latin typeface="Poppins"/>
                          <a:ea typeface="Poppins"/>
                          <a:cs typeface="Poppins"/>
                        </a:rPr>
                        <a:t>Ingredients</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An applicant excerpt and the scoring guide</a:t>
                      </a:r>
                    </a:p>
                  </a:txBody>
                  <a:tcPr marL="133350" marR="133350" marT="85725" marB="85725" anchor="t">
                    <a:lnR w="9525">
                      <a:solidFill>
                        <a:srgbClr val="B6D4D6"/>
                      </a:solidFill>
                      <a:prstDash val="solid"/>
                    </a:lnR>
                    <a:lnB w="9525">
                      <a:solidFill>
                        <a:srgbClr val="B6D4D6"/>
                      </a:solidFill>
                      <a:prstDash val="solid"/>
                    </a:lnB>
                    <a:solidFill>
                      <a:srgbClr val="F0F8F8"/>
                    </a:solidFill>
                  </a:tcPr>
                </a:tc>
              </a:tr>
              <a:tr h="685800">
                <a:tc>
                  <a:txBody>
                    <a:bodyPr/>
                    <a:lstStyle/>
                    <a:p>
                      <a:r>
                        <a:rPr sz="1800" b="0">
                          <a:solidFill>
                            <a:srgbClr val="2E4F66"/>
                          </a:solidFill>
                          <a:latin typeface="Poppins"/>
                          <a:ea typeface="Poppins"/>
                          <a:cs typeface="Poppins"/>
                        </a:rPr>
                        <a:t>Steps</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FFFFF"/>
                    </a:solidFill>
                  </a:tcPr>
                </a:tc>
                <a:tc>
                  <a:txBody>
                    <a:bodyPr/>
                    <a:lstStyle/>
                    <a:p>
                      <a:r>
                        <a:rPr sz="1800" b="0">
                          <a:solidFill>
                            <a:srgbClr val="2E4F66"/>
                          </a:solidFill>
                          <a:latin typeface="Poppins"/>
                          <a:ea typeface="Poppins"/>
                          <a:cs typeface="Poppins"/>
                        </a:rPr>
                        <a:t>Quote, compare, explain a gap</a:t>
                      </a:r>
                    </a:p>
                  </a:txBody>
                  <a:tcPr marL="133350" marR="133350" marT="85725" marB="85725" anchor="t">
                    <a:lnR w="9525">
                      <a:solidFill>
                        <a:srgbClr val="B6D4D6"/>
                      </a:solidFill>
                      <a:prstDash val="solid"/>
                    </a:lnR>
                    <a:lnB w="9525">
                      <a:solidFill>
                        <a:srgbClr val="B6D4D6"/>
                      </a:solidFill>
                      <a:prstDash val="solid"/>
                    </a:lnB>
                    <a:solidFill>
                      <a:srgbClr val="FFFFFF"/>
                    </a:solidFill>
                  </a:tcPr>
                </a:tc>
              </a:tr>
              <a:tr h="685800">
                <a:tc>
                  <a:txBody>
                    <a:bodyPr/>
                    <a:lstStyle/>
                    <a:p>
                      <a:r>
                        <a:rPr sz="1800" b="0">
                          <a:solidFill>
                            <a:srgbClr val="2E4F66"/>
                          </a:solidFill>
                          <a:latin typeface="Poppins"/>
                          <a:ea typeface="Poppins"/>
                          <a:cs typeface="Poppins"/>
                        </a:rPr>
                        <a:t>Check before use</a:t>
                      </a:r>
                    </a:p>
                  </a:txBody>
                  <a:tcPr marL="133350" marR="133350" marT="85725" marB="85725" anchor="t">
                    <a:lnL w="9525">
                      <a:solidFill>
                        <a:srgbClr val="B6D4D6"/>
                      </a:solidFill>
                      <a:prstDash val="solid"/>
                    </a:lnL>
                    <a:lnR w="9525">
                      <a:solidFill>
                        <a:srgbClr val="B6D4D6"/>
                      </a:solidFill>
                      <a:prstDash val="solid"/>
                    </a:lnR>
                    <a:lnB w="9525">
                      <a:solidFill>
                        <a:srgbClr val="B6D4D6"/>
                      </a:solidFill>
                      <a:prstDash val="solid"/>
                    </a:lnB>
                    <a:solidFill>
                      <a:srgbClr val="F0F8F8"/>
                    </a:solidFill>
                  </a:tcPr>
                </a:tc>
                <a:tc>
                  <a:txBody>
                    <a:bodyPr/>
                    <a:lstStyle/>
                    <a:p>
                      <a:r>
                        <a:rPr sz="1800" b="0">
                          <a:solidFill>
                            <a:srgbClr val="2E4F66"/>
                          </a:solidFill>
                          <a:latin typeface="Poppins"/>
                          <a:ea typeface="Poppins"/>
                          <a:cs typeface="Poppins"/>
                        </a:rPr>
                        <a:t>Try examples where I know the answer</a:t>
                      </a:r>
                    </a:p>
                  </a:txBody>
                  <a:tcPr marL="133350" marR="133350" marT="85725" marB="85725" anchor="t">
                    <a:lnR w="9525">
                      <a:solidFill>
                        <a:srgbClr val="B6D4D6"/>
                      </a:solidFill>
                      <a:prstDash val="solid"/>
                    </a:lnR>
                    <a:lnB w="9525">
                      <a:solidFill>
                        <a:srgbClr val="B6D4D6"/>
                      </a:solidFill>
                      <a:prstDash val="solid"/>
                    </a:lnB>
                    <a:solidFill>
                      <a:srgbClr val="F0F8F8"/>
                    </a:solidFill>
                  </a:tcPr>
                </a:tc>
              </a:tr>
            </a:tbl>
          </a:graphicData>
        </a:graphic>
      </p:graphicFrame>
      <p:sp>
        <p:nvSpPr>
          <p:cNvPr id="6" name="Resource link">
            <a:extLst xmlns:a="http://schemas.openxmlformats.org/drawingml/2006/main">
              <a:ext uri="{FF2B5EF4-FFF2-40B4-BE49-F238E27FC236}">
                <a16:creationId xmlns:a16="http://schemas.microsoft.com/office/drawing/2014/main" id="{7CB213CE-0BCF-4262-A569-9343C256312E}"/>
              </a:ext>
            </a:extLst>
          </p:cNvPr>
          <p:cNvSpPr>
            <a:spLocks xmlns:a="http://schemas.openxmlformats.org/drawingml/2006/main" noGrp="1"/>
          </p:cNvSpPr>
          <p:nvPr/>
        </p:nvSpPr>
        <p:spPr>
          <a:xfrm xmlns:a="http://schemas.openxmlformats.org/drawingml/2006/main">
            <a:off x="609600" y="54197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681"/>
                </a:solidFill>
                <a:latin typeface="Poppins"/>
                <a:ea typeface="Poppins"/>
                <a:cs typeface="Poppins"/>
              </a:defRPr>
            </a:defPPr>
            <a:lvl1pPr>
              <a:defRPr sz="1725" b="1">
                <a:solidFill>
                  <a:srgbClr val="007681"/>
                </a:solidFill>
                <a:latin typeface="Poppins"/>
                <a:ea typeface="Poppins"/>
                <a:cs typeface="Poppins"/>
              </a:defRPr>
            </a:lvl1pPr>
            <a:lvl2pPr>
              <a:defRPr sz="1725" b="1">
                <a:solidFill>
                  <a:srgbClr val="007681"/>
                </a:solidFill>
                <a:latin typeface="Poppins"/>
                <a:ea typeface="Poppins"/>
                <a:cs typeface="Poppins"/>
              </a:defRPr>
            </a:lvl2pPr>
            <a:lvl3pPr>
              <a:defRPr sz="1725" b="1">
                <a:solidFill>
                  <a:srgbClr val="007681"/>
                </a:solidFill>
                <a:latin typeface="Poppins"/>
                <a:ea typeface="Poppins"/>
                <a:cs typeface="Poppins"/>
              </a:defRPr>
            </a:lvl3pPr>
            <a:lvl4pPr>
              <a:defRPr sz="1725" b="1">
                <a:solidFill>
                  <a:srgbClr val="007681"/>
                </a:solidFill>
                <a:latin typeface="Poppins"/>
                <a:ea typeface="Poppins"/>
                <a:cs typeface="Poppins"/>
              </a:defRPr>
            </a:lvl4pPr>
            <a:lvl5pPr>
              <a:defRPr sz="1725" b="1">
                <a:solidFill>
                  <a:srgbClr val="007681"/>
                </a:solidFill>
                <a:latin typeface="Poppins"/>
                <a:ea typeface="Poppins"/>
                <a:cs typeface="Poppins"/>
              </a:defRPr>
            </a:lvl5pPr>
            <a:lvl6pPr>
              <a:defRPr sz="1725" b="1">
                <a:solidFill>
                  <a:srgbClr val="007681"/>
                </a:solidFill>
                <a:latin typeface="Poppins"/>
                <a:ea typeface="Poppins"/>
                <a:cs typeface="Poppins"/>
              </a:defRPr>
            </a:lvl6pPr>
            <a:lvl7pPr>
              <a:defRPr sz="1725" b="1">
                <a:solidFill>
                  <a:srgbClr val="007681"/>
                </a:solidFill>
                <a:latin typeface="Poppins"/>
                <a:ea typeface="Poppins"/>
                <a:cs typeface="Poppins"/>
              </a:defRPr>
            </a:lvl7pPr>
            <a:lvl8pPr>
              <a:defRPr sz="1725" b="1">
                <a:solidFill>
                  <a:srgbClr val="007681"/>
                </a:solidFill>
                <a:latin typeface="Poppins"/>
                <a:ea typeface="Poppins"/>
                <a:cs typeface="Poppins"/>
              </a:defRPr>
            </a:lvl8pPr>
            <a:lvl9pPr>
              <a:defRPr sz="1725" b="1">
                <a:solidFill>
                  <a:srgbClr val="007681"/>
                </a:solidFill>
                <a:latin typeface="Poppins"/>
                <a:ea typeface="Poppins"/>
                <a:cs typeface="Poppins"/>
              </a:defRPr>
            </a:lvl9pPr>
          </a:lstStyle>
          <a:p xmlns:a="http://schemas.openxmlformats.org/drawingml/2006/main">
            <a:pPr>
              <a:defRPr sz="1725" b="1">
                <a:solidFill>
                  <a:srgbClr val="007681"/>
                </a:solidFill>
                <a:latin typeface="Poppins"/>
                <a:ea typeface="Poppins"/>
                <a:cs typeface="Poppins"/>
              </a:defRPr>
            </a:pPr>
            <a:r>
              <a:rPr sz="1725" b="1" u="sng">
                <a:solidFill>
                  <a:srgbClr val="007681"/>
                </a:solidFill>
                <a:latin typeface="Poppins"/>
                <a:ea typeface="Poppins"/>
                <a:cs typeface="Poppins"/>
                <a:hlinkClick xmlns:r="http://schemas.openxmlformats.org/officeDocument/2006/relationships" r:id="R7efb66d7b3844238"/>
              </a:rPr>
              <a:t>Explore the reusable evidence-review skill</a:t>
            </a:r>
          </a:p>
        </p:txBody>
      </p:sp>
      <p:sp>
        <p:nvSpPr>
          <p:cNvPr id="7" name="Footer">
            <a:extLst xmlns:a="http://schemas.openxmlformats.org/drawingml/2006/main">
              <a:ext uri="{FF2B5EF4-FFF2-40B4-BE49-F238E27FC236}">
                <a16:creationId xmlns:a16="http://schemas.microsoft.com/office/drawing/2014/main" id="{0A47CA8A-D9F7-4B30-9E95-02422EF8690F}"/>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28 / 31</a:t>
            </a:r>
          </a:p>
        </p:txBody>
      </p:sp>
    </p:spTree>
    <p:extLst>
      <p:ext uri="{BB962C8B-B14F-4D97-AF65-F5344CB8AC3E}">
        <p14:creationId xmlns:p14="http://schemas.microsoft.com/office/powerpoint/2010/main" val="2048696873"/>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AC36E33F-1038-46BF-98CA-FD8C7BDC91AE}"/>
              </a:ext>
            </a:extLst>
          </p:cNvPr>
          <p:cNvPicPr>
            <a:picLocks xmlns:a="http://schemas.openxmlformats.org/drawingml/2006/main" noChangeAspect="1"/>
          </p:cNvPicPr>
          <p:nvPr/>
        </p:nvPicPr>
        <p:blipFill>
          <a:blip xmlns:r="http://schemas.openxmlformats.org/officeDocument/2006/relationships" xmlns:a="http://schemas.openxmlformats.org/drawingml/2006/main" r:embed="Rf83f2d53c953422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4E2B2D8D-5ABA-479A-983C-704C13F186AC}"/>
              </a:ext>
            </a:extLst>
          </p:cNvPr>
          <p:cNvSpPr>
            <a:spLocks xmlns:a="http://schemas.openxmlformats.org/drawingml/2006/main" noGrp="1"/>
          </p:cNvSpPr>
          <p:nvPr/>
        </p:nvSpPr>
        <p:spPr>
          <a:xfrm xmlns:a="http://schemas.openxmlformats.org/drawingml/2006/main">
            <a:off x="609600" y="40957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E4C38C70-577F-466B-ABBD-27891E2B9D94}"/>
              </a:ext>
            </a:extLst>
          </p:cNvPr>
          <p:cNvSpPr>
            <a:spLocks xmlns:a="http://schemas.openxmlformats.org/drawingml/2006/main" noGrp="1"/>
          </p:cNvSpPr>
          <p:nvPr/>
        </p:nvSpPr>
        <p:spPr>
          <a:xfrm xmlns:a="http://schemas.openxmlformats.org/drawingml/2006/main">
            <a:off x="609600" y="8572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Fair rules for applicant use of AI</a:t>
            </a:r>
          </a:p>
        </p:txBody>
      </p:sp>
      <p:sp>
        <p:nvSpPr>
          <p:cNvPr id="4" name="Text">
            <a:extLst xmlns:a="http://schemas.openxmlformats.org/drawingml/2006/main">
              <a:ext uri="{FF2B5EF4-FFF2-40B4-BE49-F238E27FC236}">
                <a16:creationId xmlns:a16="http://schemas.microsoft.com/office/drawing/2014/main" id="{40092252-43BD-453F-87FE-192941B31D0A}"/>
              </a:ext>
            </a:extLst>
          </p:cNvPr>
          <p:cNvSpPr>
            <a:spLocks xmlns:a="http://schemas.openxmlformats.org/drawingml/2006/main" noGrp="1"/>
          </p:cNvSpPr>
          <p:nvPr/>
        </p:nvSpPr>
        <p:spPr>
          <a:xfrm xmlns:a="http://schemas.openxmlformats.org/drawingml/2006/main">
            <a:off x="609600" y="15811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E4F66"/>
                </a:solidFill>
                <a:latin typeface="Poppins"/>
                <a:ea typeface="Poppins"/>
                <a:cs typeface="Poppins"/>
              </a:defRPr>
            </a:defPPr>
            <a:lvl1pPr>
              <a:defRPr sz="1875" b="0">
                <a:solidFill>
                  <a:srgbClr val="2E4F66"/>
                </a:solidFill>
                <a:latin typeface="Poppins"/>
                <a:ea typeface="Poppins"/>
                <a:cs typeface="Poppins"/>
              </a:defRPr>
            </a:lvl1pPr>
            <a:lvl2pPr>
              <a:defRPr sz="1875" b="0">
                <a:solidFill>
                  <a:srgbClr val="2E4F66"/>
                </a:solidFill>
                <a:latin typeface="Poppins"/>
                <a:ea typeface="Poppins"/>
                <a:cs typeface="Poppins"/>
              </a:defRPr>
            </a:lvl2pPr>
            <a:lvl3pPr>
              <a:defRPr sz="1875" b="0">
                <a:solidFill>
                  <a:srgbClr val="2E4F66"/>
                </a:solidFill>
                <a:latin typeface="Poppins"/>
                <a:ea typeface="Poppins"/>
                <a:cs typeface="Poppins"/>
              </a:defRPr>
            </a:lvl3pPr>
            <a:lvl4pPr>
              <a:defRPr sz="1875" b="0">
                <a:solidFill>
                  <a:srgbClr val="2E4F66"/>
                </a:solidFill>
                <a:latin typeface="Poppins"/>
                <a:ea typeface="Poppins"/>
                <a:cs typeface="Poppins"/>
              </a:defRPr>
            </a:lvl4pPr>
            <a:lvl5pPr>
              <a:defRPr sz="1875" b="0">
                <a:solidFill>
                  <a:srgbClr val="2E4F66"/>
                </a:solidFill>
                <a:latin typeface="Poppins"/>
                <a:ea typeface="Poppins"/>
                <a:cs typeface="Poppins"/>
              </a:defRPr>
            </a:lvl5pPr>
            <a:lvl6pPr>
              <a:defRPr sz="1875" b="0">
                <a:solidFill>
                  <a:srgbClr val="2E4F66"/>
                </a:solidFill>
                <a:latin typeface="Poppins"/>
                <a:ea typeface="Poppins"/>
                <a:cs typeface="Poppins"/>
              </a:defRPr>
            </a:lvl6pPr>
            <a:lvl7pPr>
              <a:defRPr sz="1875" b="0">
                <a:solidFill>
                  <a:srgbClr val="2E4F66"/>
                </a:solidFill>
                <a:latin typeface="Poppins"/>
                <a:ea typeface="Poppins"/>
                <a:cs typeface="Poppins"/>
              </a:defRPr>
            </a:lvl7pPr>
            <a:lvl8pPr>
              <a:defRPr sz="1875" b="0">
                <a:solidFill>
                  <a:srgbClr val="2E4F66"/>
                </a:solidFill>
                <a:latin typeface="Poppins"/>
                <a:ea typeface="Poppins"/>
                <a:cs typeface="Poppins"/>
              </a:defRPr>
            </a:lvl8pPr>
            <a:lvl9pPr>
              <a:defRPr sz="1875" b="0">
                <a:solidFill>
                  <a:srgbClr val="2E4F66"/>
                </a:solidFill>
                <a:latin typeface="Poppins"/>
                <a:ea typeface="Poppins"/>
                <a:cs typeface="Poppins"/>
              </a:defRPr>
            </a:lvl9pPr>
          </a:lstStyle>
          <a:p xmlns:a="http://schemas.openxmlformats.org/drawingml/2006/main">
            <a:pPr>
              <a:defRPr sz="1875" b="0">
                <a:solidFill>
                  <a:srgbClr val="2E4F66"/>
                </a:solidFill>
                <a:latin typeface="Poppins"/>
                <a:ea typeface="Poppins"/>
                <a:cs typeface="Poppins"/>
              </a:defRPr>
            </a:pPr>
            <a:r>
              <a:rPr sz="1875" b="0">
                <a:solidFill>
                  <a:srgbClr val="2E4F66"/>
                </a:solidFill>
                <a:latin typeface="Poppins"/>
                <a:ea typeface="Poppins"/>
                <a:cs typeface="Poppins"/>
              </a:rPr>
              <a:t>Applicants need clear expectations before they apply.</a:t>
            </a:r>
          </a:p>
        </p:txBody>
      </p:sp>
      <p:pic>
        <p:nvPicPr>
          <p:cNvPr id="5" name="">
            <a:extLst xmlns:a="http://schemas.openxmlformats.org/drawingml/2006/main">
              <a:ext uri="{FF2B5EF4-FFF2-40B4-BE49-F238E27FC236}">
                <a16:creationId xmlns:a16="http://schemas.microsoft.com/office/drawing/2014/main" id="{5DBB706E-4D18-4F8A-9870-DC4CA53B8D95}"/>
              </a:ext>
            </a:extLst>
          </p:cNvPr>
          <p:cNvPicPr>
            <a:picLocks xmlns:a="http://schemas.openxmlformats.org/drawingml/2006/main" noChangeAspect="1"/>
          </p:cNvPicPr>
          <p:nvPr/>
        </p:nvPicPr>
        <p:blipFill>
          <a:blip xmlns:r="http://schemas.openxmlformats.org/officeDocument/2006/relationships" xmlns:a="http://schemas.openxmlformats.org/drawingml/2006/main" r:embed="Re1da52b62f9c4b83"/>
          <a:stretch xmlns:a="http://schemas.openxmlformats.org/drawingml/2006/main"/>
        </p:blipFill>
        <p:spPr>
          <a:xfrm xmlns:a="http://schemas.openxmlformats.org/drawingml/2006/main">
            <a:off x="2524125" y="2047875"/>
            <a:ext cx="7143750" cy="2857500"/>
          </a:xfrm>
          <a:prstGeom xmlns:a="http://schemas.openxmlformats.org/drawingml/2006/main" prst="rect">
            <a:avLst/>
          </a:prstGeom>
        </p:spPr>
      </p:pic>
      <p:sp>
        <p:nvSpPr>
          <p:cNvPr id="6" name="Infographic heading">
            <a:extLst xmlns:a="http://schemas.openxmlformats.org/drawingml/2006/main">
              <a:ext uri="{FF2B5EF4-FFF2-40B4-BE49-F238E27FC236}">
                <a16:creationId xmlns:a16="http://schemas.microsoft.com/office/drawing/2014/main" id="{6337E5D9-8DF9-472E-956B-B44AE4CC4862}"/>
              </a:ext>
            </a:extLst>
          </p:cNvPr>
          <p:cNvSpPr>
            <a:spLocks xmlns:a="http://schemas.openxmlformats.org/drawingml/2006/main" noGrp="1"/>
          </p:cNvSpPr>
          <p:nvPr/>
        </p:nvSpPr>
        <p:spPr>
          <a:xfrm xmlns:a="http://schemas.openxmlformats.org/drawingml/2006/main">
            <a:off x="7620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Publish clear rules</a:t>
            </a:r>
          </a:p>
        </p:txBody>
      </p:sp>
      <p:sp>
        <p:nvSpPr>
          <p:cNvPr id="7" name="Infographic explanation">
            <a:extLst xmlns:a="http://schemas.openxmlformats.org/drawingml/2006/main">
              <a:ext uri="{FF2B5EF4-FFF2-40B4-BE49-F238E27FC236}">
                <a16:creationId xmlns:a16="http://schemas.microsoft.com/office/drawing/2014/main" id="{B439191B-7497-49B0-85A5-3A8FD651DA7A}"/>
              </a:ext>
            </a:extLst>
          </p:cNvPr>
          <p:cNvSpPr>
            <a:spLocks xmlns:a="http://schemas.openxmlformats.org/drawingml/2006/main" noGrp="1"/>
          </p:cNvSpPr>
          <p:nvPr/>
        </p:nvSpPr>
        <p:spPr>
          <a:xfrm xmlns:a="http://schemas.openxmlformats.org/drawingml/2006/main">
            <a:off x="7620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Say what help is allowed and what to disclose.</a:t>
            </a:r>
          </a:p>
        </p:txBody>
      </p:sp>
      <p:sp>
        <p:nvSpPr>
          <p:cNvPr id="8" name="Infographic heading">
            <a:extLst xmlns:a="http://schemas.openxmlformats.org/drawingml/2006/main">
              <a:ext uri="{FF2B5EF4-FFF2-40B4-BE49-F238E27FC236}">
                <a16:creationId xmlns:a16="http://schemas.microsoft.com/office/drawing/2014/main" id="{20FC855F-F1F4-4CCE-A9B5-B3E10A1337BF}"/>
              </a:ext>
            </a:extLst>
          </p:cNvPr>
          <p:cNvSpPr>
            <a:spLocks xmlns:a="http://schemas.openxmlformats.org/drawingml/2006/main" noGrp="1"/>
          </p:cNvSpPr>
          <p:nvPr/>
        </p:nvSpPr>
        <p:spPr>
          <a:xfrm xmlns:a="http://schemas.openxmlformats.org/drawingml/2006/main">
            <a:off x="43942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A flag needs a check</a:t>
            </a:r>
          </a:p>
        </p:txBody>
      </p:sp>
      <p:sp>
        <p:nvSpPr>
          <p:cNvPr id="9" name="Infographic explanation">
            <a:extLst xmlns:a="http://schemas.openxmlformats.org/drawingml/2006/main">
              <a:ext uri="{FF2B5EF4-FFF2-40B4-BE49-F238E27FC236}">
                <a16:creationId xmlns:a16="http://schemas.microsoft.com/office/drawing/2014/main" id="{FDC124B3-9262-4216-A705-DECF07C88364}"/>
              </a:ext>
            </a:extLst>
          </p:cNvPr>
          <p:cNvSpPr>
            <a:spLocks xmlns:a="http://schemas.openxmlformats.org/drawingml/2006/main" noGrp="1"/>
          </p:cNvSpPr>
          <p:nvPr/>
        </p:nvSpPr>
        <p:spPr>
          <a:xfrm xmlns:a="http://schemas.openxmlformats.org/drawingml/2006/main">
            <a:off x="43942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An “AI-written” flag can be wrong.</a:t>
            </a:r>
          </a:p>
        </p:txBody>
      </p:sp>
      <p:sp>
        <p:nvSpPr>
          <p:cNvPr id="10" name="Infographic heading">
            <a:extLst xmlns:a="http://schemas.openxmlformats.org/drawingml/2006/main">
              <a:ext uri="{FF2B5EF4-FFF2-40B4-BE49-F238E27FC236}">
                <a16:creationId xmlns:a16="http://schemas.microsoft.com/office/drawing/2014/main" id="{F00CBD55-C073-4026-BD69-97D8A992222B}"/>
              </a:ext>
            </a:extLst>
          </p:cNvPr>
          <p:cNvSpPr>
            <a:spLocks xmlns:a="http://schemas.openxmlformats.org/drawingml/2006/main" noGrp="1"/>
          </p:cNvSpPr>
          <p:nvPr/>
        </p:nvSpPr>
        <p:spPr>
          <a:xfrm xmlns:a="http://schemas.openxmlformats.org/drawingml/2006/main">
            <a:off x="80264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Review fairly</a:t>
            </a:r>
          </a:p>
        </p:txBody>
      </p:sp>
      <p:sp>
        <p:nvSpPr>
          <p:cNvPr id="11" name="Infographic explanation">
            <a:extLst xmlns:a="http://schemas.openxmlformats.org/drawingml/2006/main">
              <a:ext uri="{FF2B5EF4-FFF2-40B4-BE49-F238E27FC236}">
                <a16:creationId xmlns:a16="http://schemas.microsoft.com/office/drawing/2014/main" id="{4C2F000E-963E-4334-BD3F-B105843F9603}"/>
              </a:ext>
            </a:extLst>
          </p:cNvPr>
          <p:cNvSpPr>
            <a:spLocks xmlns:a="http://schemas.openxmlformats.org/drawingml/2006/main" noGrp="1"/>
          </p:cNvSpPr>
          <p:nvPr/>
        </p:nvSpPr>
        <p:spPr>
          <a:xfrm xmlns:a="http://schemas.openxmlformats.org/drawingml/2006/main">
            <a:off x="80264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Staff follow the rules and let the applicant explain.</a:t>
            </a:r>
          </a:p>
        </p:txBody>
      </p:sp>
      <p:sp>
        <p:nvSpPr>
          <p:cNvPr id="12" name="Resource link">
            <a:extLst xmlns:a="http://schemas.openxmlformats.org/drawingml/2006/main">
              <a:ext uri="{FF2B5EF4-FFF2-40B4-BE49-F238E27FC236}">
                <a16:creationId xmlns:a16="http://schemas.microsoft.com/office/drawing/2014/main" id="{05D08D9F-894F-48CF-A237-0C68B9F224E7}"/>
              </a:ext>
            </a:extLst>
          </p:cNvPr>
          <p:cNvSpPr>
            <a:spLocks xmlns:a="http://schemas.openxmlformats.org/drawingml/2006/main" noGrp="1"/>
          </p:cNvSpPr>
          <p:nvPr/>
        </p:nvSpPr>
        <p:spPr>
          <a:xfrm xmlns:a="http://schemas.openxmlformats.org/drawingml/2006/main">
            <a:off x="8001000" y="409575"/>
            <a:ext cx="3581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u="sng">
                <a:solidFill>
                  <a:srgbClr val="007681"/>
                </a:solidFill>
                <a:latin typeface="Poppins"/>
                <a:ea typeface="Poppins"/>
                <a:cs typeface="Poppins"/>
                <a:hlinkClick xmlns:r="http://schemas.openxmlformats.org/officeDocument/2006/relationships" r:id="R33ee21e369f945cc"/>
              </a:rPr>
              <a:t>Open practice activity</a:t>
            </a:r>
          </a:p>
        </p:txBody>
      </p:sp>
      <p:sp>
        <p:nvSpPr>
          <p:cNvPr id="13" name="Footer">
            <a:extLst xmlns:a="http://schemas.openxmlformats.org/drawingml/2006/main">
              <a:ext uri="{FF2B5EF4-FFF2-40B4-BE49-F238E27FC236}">
                <a16:creationId xmlns:a16="http://schemas.microsoft.com/office/drawing/2014/main" id="{BAD2A9D1-4A39-44EE-B863-DA155DB57951}"/>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29 / 31</a:t>
            </a:r>
          </a:p>
        </p:txBody>
      </p:sp>
    </p:spTree>
    <p:extLst>
      <p:ext uri="{BB962C8B-B14F-4D97-AF65-F5344CB8AC3E}">
        <p14:creationId xmlns:p14="http://schemas.microsoft.com/office/powerpoint/2010/main" val="1278052507"/>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202A4B63-6573-4EF1-B818-3D46266012A0}"/>
              </a:ext>
            </a:extLst>
          </p:cNvPr>
          <p:cNvPicPr>
            <a:picLocks xmlns:a="http://schemas.openxmlformats.org/drawingml/2006/main" noChangeAspect="1"/>
          </p:cNvPicPr>
          <p:nvPr/>
        </p:nvPicPr>
        <p:blipFill>
          <a:blip xmlns:r="http://schemas.openxmlformats.org/officeDocument/2006/relationships" xmlns:a="http://schemas.openxmlformats.org/drawingml/2006/main" r:embed="Ra24c881285fc4bb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82DE4C79-DD5C-4632-8AE5-6C29578E8854}"/>
              </a:ext>
            </a:extLst>
          </p:cNvPr>
          <p:cNvSpPr>
            <a:spLocks xmlns:a="http://schemas.openxmlformats.org/drawingml/2006/main" noGrp="1"/>
          </p:cNvSpPr>
          <p:nvPr/>
        </p:nvSpPr>
        <p:spPr>
          <a:xfrm xmlns:a="http://schemas.openxmlformats.org/drawingml/2006/main">
            <a:off x="609600" y="40957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334E334C-9628-4FF4-85BA-16EDFBE48A81}"/>
              </a:ext>
            </a:extLst>
          </p:cNvPr>
          <p:cNvSpPr>
            <a:spLocks xmlns:a="http://schemas.openxmlformats.org/drawingml/2006/main" noGrp="1"/>
          </p:cNvSpPr>
          <p:nvPr/>
        </p:nvSpPr>
        <p:spPr>
          <a:xfrm xmlns:a="http://schemas.openxmlformats.org/drawingml/2006/main">
            <a:off x="609600" y="8572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My next small practice task</a:t>
            </a:r>
          </a:p>
        </p:txBody>
      </p:sp>
      <p:sp>
        <p:nvSpPr>
          <p:cNvPr id="4" name="Text">
            <a:extLst xmlns:a="http://schemas.openxmlformats.org/drawingml/2006/main">
              <a:ext uri="{FF2B5EF4-FFF2-40B4-BE49-F238E27FC236}">
                <a16:creationId xmlns:a16="http://schemas.microsoft.com/office/drawing/2014/main" id="{364C6AF2-C02B-4AD5-BE50-342BE50E853D}"/>
              </a:ext>
            </a:extLst>
          </p:cNvPr>
          <p:cNvSpPr>
            <a:spLocks xmlns:a="http://schemas.openxmlformats.org/drawingml/2006/main" noGrp="1"/>
          </p:cNvSpPr>
          <p:nvPr/>
        </p:nvSpPr>
        <p:spPr>
          <a:xfrm xmlns:a="http://schemas.openxmlformats.org/drawingml/2006/main">
            <a:off x="609600" y="15811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E4F66"/>
                </a:solidFill>
                <a:latin typeface="Poppins"/>
                <a:ea typeface="Poppins"/>
                <a:cs typeface="Poppins"/>
              </a:defRPr>
            </a:defPPr>
            <a:lvl1pPr>
              <a:defRPr sz="1875" b="0">
                <a:solidFill>
                  <a:srgbClr val="2E4F66"/>
                </a:solidFill>
                <a:latin typeface="Poppins"/>
                <a:ea typeface="Poppins"/>
                <a:cs typeface="Poppins"/>
              </a:defRPr>
            </a:lvl1pPr>
            <a:lvl2pPr>
              <a:defRPr sz="1875" b="0">
                <a:solidFill>
                  <a:srgbClr val="2E4F66"/>
                </a:solidFill>
                <a:latin typeface="Poppins"/>
                <a:ea typeface="Poppins"/>
                <a:cs typeface="Poppins"/>
              </a:defRPr>
            </a:lvl2pPr>
            <a:lvl3pPr>
              <a:defRPr sz="1875" b="0">
                <a:solidFill>
                  <a:srgbClr val="2E4F66"/>
                </a:solidFill>
                <a:latin typeface="Poppins"/>
                <a:ea typeface="Poppins"/>
                <a:cs typeface="Poppins"/>
              </a:defRPr>
            </a:lvl3pPr>
            <a:lvl4pPr>
              <a:defRPr sz="1875" b="0">
                <a:solidFill>
                  <a:srgbClr val="2E4F66"/>
                </a:solidFill>
                <a:latin typeface="Poppins"/>
                <a:ea typeface="Poppins"/>
                <a:cs typeface="Poppins"/>
              </a:defRPr>
            </a:lvl4pPr>
            <a:lvl5pPr>
              <a:defRPr sz="1875" b="0">
                <a:solidFill>
                  <a:srgbClr val="2E4F66"/>
                </a:solidFill>
                <a:latin typeface="Poppins"/>
                <a:ea typeface="Poppins"/>
                <a:cs typeface="Poppins"/>
              </a:defRPr>
            </a:lvl5pPr>
            <a:lvl6pPr>
              <a:defRPr sz="1875" b="0">
                <a:solidFill>
                  <a:srgbClr val="2E4F66"/>
                </a:solidFill>
                <a:latin typeface="Poppins"/>
                <a:ea typeface="Poppins"/>
                <a:cs typeface="Poppins"/>
              </a:defRPr>
            </a:lvl6pPr>
            <a:lvl7pPr>
              <a:defRPr sz="1875" b="0">
                <a:solidFill>
                  <a:srgbClr val="2E4F66"/>
                </a:solidFill>
                <a:latin typeface="Poppins"/>
                <a:ea typeface="Poppins"/>
                <a:cs typeface="Poppins"/>
              </a:defRPr>
            </a:lvl7pPr>
            <a:lvl8pPr>
              <a:defRPr sz="1875" b="0">
                <a:solidFill>
                  <a:srgbClr val="2E4F66"/>
                </a:solidFill>
                <a:latin typeface="Poppins"/>
                <a:ea typeface="Poppins"/>
                <a:cs typeface="Poppins"/>
              </a:defRPr>
            </a:lvl8pPr>
            <a:lvl9pPr>
              <a:defRPr sz="1875" b="0">
                <a:solidFill>
                  <a:srgbClr val="2E4F66"/>
                </a:solidFill>
                <a:latin typeface="Poppins"/>
                <a:ea typeface="Poppins"/>
                <a:cs typeface="Poppins"/>
              </a:defRPr>
            </a:lvl9pPr>
          </a:lstStyle>
          <a:p xmlns:a="http://schemas.openxmlformats.org/drawingml/2006/main">
            <a:pPr>
              <a:defRPr sz="1875" b="0">
                <a:solidFill>
                  <a:srgbClr val="2E4F66"/>
                </a:solidFill>
                <a:latin typeface="Poppins"/>
                <a:ea typeface="Poppins"/>
                <a:cs typeface="Poppins"/>
              </a:defRPr>
            </a:pPr>
            <a:r>
              <a:rPr sz="1875" b="0">
                <a:solidFill>
                  <a:srgbClr val="2E4F66"/>
                </a:solidFill>
                <a:latin typeface="Poppins"/>
                <a:ea typeface="Poppins"/>
                <a:cs typeface="Poppins"/>
              </a:rPr>
              <a:t>One request I can check myself</a:t>
            </a:r>
          </a:p>
        </p:txBody>
      </p:sp>
      <p:pic>
        <p:nvPicPr>
          <p:cNvPr id="5" name="">
            <a:extLst xmlns:a="http://schemas.openxmlformats.org/drawingml/2006/main">
              <a:ext uri="{FF2B5EF4-FFF2-40B4-BE49-F238E27FC236}">
                <a16:creationId xmlns:a16="http://schemas.microsoft.com/office/drawing/2014/main" id="{CD54897E-5B5B-4AAA-B108-A23F38B8047C}"/>
              </a:ext>
            </a:extLst>
          </p:cNvPr>
          <p:cNvPicPr>
            <a:picLocks xmlns:a="http://schemas.openxmlformats.org/drawingml/2006/main" noChangeAspect="1"/>
          </p:cNvPicPr>
          <p:nvPr/>
        </p:nvPicPr>
        <p:blipFill>
          <a:blip xmlns:r="http://schemas.openxmlformats.org/officeDocument/2006/relationships" xmlns:a="http://schemas.openxmlformats.org/drawingml/2006/main" r:embed="R94be618836e94712"/>
          <a:stretch xmlns:a="http://schemas.openxmlformats.org/drawingml/2006/main"/>
        </p:blipFill>
        <p:spPr>
          <a:xfrm xmlns:a="http://schemas.openxmlformats.org/drawingml/2006/main">
            <a:off x="2753895" y="2047875"/>
            <a:ext cx="6684211" cy="2857500"/>
          </a:xfrm>
          <a:prstGeom xmlns:a="http://schemas.openxmlformats.org/drawingml/2006/main" prst="rect">
            <a:avLst/>
          </a:prstGeom>
        </p:spPr>
      </p:pic>
      <p:sp>
        <p:nvSpPr>
          <p:cNvPr id="6" name="Infographic heading">
            <a:extLst xmlns:a="http://schemas.openxmlformats.org/drawingml/2006/main">
              <a:ext uri="{FF2B5EF4-FFF2-40B4-BE49-F238E27FC236}">
                <a16:creationId xmlns:a16="http://schemas.microsoft.com/office/drawing/2014/main" id="{41D28DF4-6843-4F8D-8F11-03B8475ECF48}"/>
              </a:ext>
            </a:extLst>
          </p:cNvPr>
          <p:cNvSpPr>
            <a:spLocks xmlns:a="http://schemas.openxmlformats.org/drawingml/2006/main" noGrp="1"/>
          </p:cNvSpPr>
          <p:nvPr/>
        </p:nvSpPr>
        <p:spPr>
          <a:xfrm xmlns:a="http://schemas.openxmlformats.org/drawingml/2006/main">
            <a:off x="7620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Choose one small task</a:t>
            </a:r>
          </a:p>
        </p:txBody>
      </p:sp>
      <p:sp>
        <p:nvSpPr>
          <p:cNvPr id="7" name="Infographic explanation">
            <a:extLst xmlns:a="http://schemas.openxmlformats.org/drawingml/2006/main">
              <a:ext uri="{FF2B5EF4-FFF2-40B4-BE49-F238E27FC236}">
                <a16:creationId xmlns:a16="http://schemas.microsoft.com/office/drawing/2014/main" id="{DDD1ACFC-50C2-47A1-9D7F-D075C9F264D8}"/>
              </a:ext>
            </a:extLst>
          </p:cNvPr>
          <p:cNvSpPr>
            <a:spLocks xmlns:a="http://schemas.openxmlformats.org/drawingml/2006/main" noGrp="1"/>
          </p:cNvSpPr>
          <p:nvPr/>
        </p:nvSpPr>
        <p:spPr>
          <a:xfrm xmlns:a="http://schemas.openxmlformats.org/drawingml/2006/main">
            <a:off x="7620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Use a made-up note or one practice file.</a:t>
            </a:r>
          </a:p>
        </p:txBody>
      </p:sp>
      <p:sp>
        <p:nvSpPr>
          <p:cNvPr id="8" name="Infographic heading">
            <a:extLst xmlns:a="http://schemas.openxmlformats.org/drawingml/2006/main">
              <a:ext uri="{FF2B5EF4-FFF2-40B4-BE49-F238E27FC236}">
                <a16:creationId xmlns:a16="http://schemas.microsoft.com/office/drawing/2014/main" id="{77CE604D-EE6D-4CF4-B9B8-2DFBC666FE5A}"/>
              </a:ext>
            </a:extLst>
          </p:cNvPr>
          <p:cNvSpPr>
            <a:spLocks xmlns:a="http://schemas.openxmlformats.org/drawingml/2006/main" noGrp="1"/>
          </p:cNvSpPr>
          <p:nvPr/>
        </p:nvSpPr>
        <p:spPr>
          <a:xfrm xmlns:a="http://schemas.openxmlformats.org/drawingml/2006/main">
            <a:off x="43942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Try it and check</a:t>
            </a:r>
          </a:p>
        </p:txBody>
      </p:sp>
      <p:sp>
        <p:nvSpPr>
          <p:cNvPr id="9" name="Infographic explanation">
            <a:extLst xmlns:a="http://schemas.openxmlformats.org/drawingml/2006/main">
              <a:ext uri="{FF2B5EF4-FFF2-40B4-BE49-F238E27FC236}">
                <a16:creationId xmlns:a16="http://schemas.microsoft.com/office/drawing/2014/main" id="{F53804F2-B515-4887-A40E-596DEF9BBBAD}"/>
              </a:ext>
            </a:extLst>
          </p:cNvPr>
          <p:cNvSpPr>
            <a:spLocks xmlns:a="http://schemas.openxmlformats.org/drawingml/2006/main" noGrp="1"/>
          </p:cNvSpPr>
          <p:nvPr/>
        </p:nvSpPr>
        <p:spPr>
          <a:xfrm xmlns:a="http://schemas.openxmlformats.org/drawingml/2006/main">
            <a:off x="43942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Decide what must stay accurate.</a:t>
            </a:r>
          </a:p>
        </p:txBody>
      </p:sp>
      <p:sp>
        <p:nvSpPr>
          <p:cNvPr id="10" name="Infographic heading">
            <a:extLst xmlns:a="http://schemas.openxmlformats.org/drawingml/2006/main">
              <a:ext uri="{FF2B5EF4-FFF2-40B4-BE49-F238E27FC236}">
                <a16:creationId xmlns:a16="http://schemas.microsoft.com/office/drawing/2014/main" id="{4821DC8C-B46A-4616-9821-306EF4BC5322}"/>
              </a:ext>
            </a:extLst>
          </p:cNvPr>
          <p:cNvSpPr>
            <a:spLocks xmlns:a="http://schemas.openxmlformats.org/drawingml/2006/main" noGrp="1"/>
          </p:cNvSpPr>
          <p:nvPr/>
        </p:nvSpPr>
        <p:spPr>
          <a:xfrm xmlns:a="http://schemas.openxmlformats.org/drawingml/2006/main">
            <a:off x="8026400" y="4953000"/>
            <a:ext cx="340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681"/>
                </a:solidFill>
                <a:latin typeface="Poppins"/>
                <a:ea typeface="Poppins"/>
                <a:cs typeface="Poppins"/>
              </a:defRPr>
            </a:defPPr>
            <a:lvl1pPr>
              <a:defRPr sz="1950" b="1">
                <a:solidFill>
                  <a:srgbClr val="007681"/>
                </a:solidFill>
                <a:latin typeface="Poppins"/>
                <a:ea typeface="Poppins"/>
                <a:cs typeface="Poppins"/>
              </a:defRPr>
            </a:lvl1pPr>
            <a:lvl2pPr>
              <a:defRPr sz="1950" b="1">
                <a:solidFill>
                  <a:srgbClr val="007681"/>
                </a:solidFill>
                <a:latin typeface="Poppins"/>
                <a:ea typeface="Poppins"/>
                <a:cs typeface="Poppins"/>
              </a:defRPr>
            </a:lvl2pPr>
            <a:lvl3pPr>
              <a:defRPr sz="1950" b="1">
                <a:solidFill>
                  <a:srgbClr val="007681"/>
                </a:solidFill>
                <a:latin typeface="Poppins"/>
                <a:ea typeface="Poppins"/>
                <a:cs typeface="Poppins"/>
              </a:defRPr>
            </a:lvl3pPr>
            <a:lvl4pPr>
              <a:defRPr sz="1950" b="1">
                <a:solidFill>
                  <a:srgbClr val="007681"/>
                </a:solidFill>
                <a:latin typeface="Poppins"/>
                <a:ea typeface="Poppins"/>
                <a:cs typeface="Poppins"/>
              </a:defRPr>
            </a:lvl4pPr>
            <a:lvl5pPr>
              <a:defRPr sz="1950" b="1">
                <a:solidFill>
                  <a:srgbClr val="007681"/>
                </a:solidFill>
                <a:latin typeface="Poppins"/>
                <a:ea typeface="Poppins"/>
                <a:cs typeface="Poppins"/>
              </a:defRPr>
            </a:lvl5pPr>
            <a:lvl6pPr>
              <a:defRPr sz="1950" b="1">
                <a:solidFill>
                  <a:srgbClr val="007681"/>
                </a:solidFill>
                <a:latin typeface="Poppins"/>
                <a:ea typeface="Poppins"/>
                <a:cs typeface="Poppins"/>
              </a:defRPr>
            </a:lvl6pPr>
            <a:lvl7pPr>
              <a:defRPr sz="1950" b="1">
                <a:solidFill>
                  <a:srgbClr val="007681"/>
                </a:solidFill>
                <a:latin typeface="Poppins"/>
                <a:ea typeface="Poppins"/>
                <a:cs typeface="Poppins"/>
              </a:defRPr>
            </a:lvl7pPr>
            <a:lvl8pPr>
              <a:defRPr sz="1950" b="1">
                <a:solidFill>
                  <a:srgbClr val="007681"/>
                </a:solidFill>
                <a:latin typeface="Poppins"/>
                <a:ea typeface="Poppins"/>
                <a:cs typeface="Poppins"/>
              </a:defRPr>
            </a:lvl8pPr>
            <a:lvl9pPr>
              <a:defRPr sz="1950" b="1">
                <a:solidFill>
                  <a:srgbClr val="007681"/>
                </a:solidFill>
                <a:latin typeface="Poppins"/>
                <a:ea typeface="Poppins"/>
                <a:cs typeface="Poppins"/>
              </a:defRPr>
            </a:lvl9pPr>
          </a:lstStyle>
          <a:p xmlns:a="http://schemas.openxmlformats.org/drawingml/2006/main">
            <a:pPr>
              <a:defRPr sz="1950" b="1">
                <a:solidFill>
                  <a:srgbClr val="007681"/>
                </a:solidFill>
                <a:latin typeface="Poppins"/>
                <a:ea typeface="Poppins"/>
                <a:cs typeface="Poppins"/>
              </a:defRPr>
            </a:pPr>
            <a:r>
              <a:rPr sz="1950" b="1">
                <a:solidFill>
                  <a:srgbClr val="007681"/>
                </a:solidFill>
                <a:latin typeface="Poppins"/>
                <a:ea typeface="Poppins"/>
                <a:cs typeface="Poppins"/>
              </a:rPr>
              <a:t>Save what you learn</a:t>
            </a:r>
          </a:p>
        </p:txBody>
      </p:sp>
      <p:sp>
        <p:nvSpPr>
          <p:cNvPr id="11" name="Infographic explanation">
            <a:extLst xmlns:a="http://schemas.openxmlformats.org/drawingml/2006/main">
              <a:ext uri="{FF2B5EF4-FFF2-40B4-BE49-F238E27FC236}">
                <a16:creationId xmlns:a16="http://schemas.microsoft.com/office/drawing/2014/main" id="{BD0A42E3-7E5E-4ADF-A731-D14BEC7EE86F}"/>
              </a:ext>
            </a:extLst>
          </p:cNvPr>
          <p:cNvSpPr>
            <a:spLocks xmlns:a="http://schemas.openxmlformats.org/drawingml/2006/main" noGrp="1"/>
          </p:cNvSpPr>
          <p:nvPr/>
        </p:nvSpPr>
        <p:spPr>
          <a:xfrm xmlns:a="http://schemas.openxmlformats.org/drawingml/2006/main">
            <a:off x="8026400" y="5362575"/>
            <a:ext cx="3403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E4F66"/>
                </a:solidFill>
                <a:latin typeface="Poppins"/>
                <a:ea typeface="Poppins"/>
                <a:cs typeface="Poppins"/>
              </a:defRPr>
            </a:defPPr>
            <a:lvl1pPr>
              <a:defRPr sz="1725" b="0">
                <a:solidFill>
                  <a:srgbClr val="2E4F66"/>
                </a:solidFill>
                <a:latin typeface="Poppins"/>
                <a:ea typeface="Poppins"/>
                <a:cs typeface="Poppins"/>
              </a:defRPr>
            </a:lvl1pPr>
            <a:lvl2pPr>
              <a:defRPr sz="1725" b="0">
                <a:solidFill>
                  <a:srgbClr val="2E4F66"/>
                </a:solidFill>
                <a:latin typeface="Poppins"/>
                <a:ea typeface="Poppins"/>
                <a:cs typeface="Poppins"/>
              </a:defRPr>
            </a:lvl2pPr>
            <a:lvl3pPr>
              <a:defRPr sz="1725" b="0">
                <a:solidFill>
                  <a:srgbClr val="2E4F66"/>
                </a:solidFill>
                <a:latin typeface="Poppins"/>
                <a:ea typeface="Poppins"/>
                <a:cs typeface="Poppins"/>
              </a:defRPr>
            </a:lvl3pPr>
            <a:lvl4pPr>
              <a:defRPr sz="1725" b="0">
                <a:solidFill>
                  <a:srgbClr val="2E4F66"/>
                </a:solidFill>
                <a:latin typeface="Poppins"/>
                <a:ea typeface="Poppins"/>
                <a:cs typeface="Poppins"/>
              </a:defRPr>
            </a:lvl4pPr>
            <a:lvl5pPr>
              <a:defRPr sz="1725" b="0">
                <a:solidFill>
                  <a:srgbClr val="2E4F66"/>
                </a:solidFill>
                <a:latin typeface="Poppins"/>
                <a:ea typeface="Poppins"/>
                <a:cs typeface="Poppins"/>
              </a:defRPr>
            </a:lvl5pPr>
            <a:lvl6pPr>
              <a:defRPr sz="1725" b="0">
                <a:solidFill>
                  <a:srgbClr val="2E4F66"/>
                </a:solidFill>
                <a:latin typeface="Poppins"/>
                <a:ea typeface="Poppins"/>
                <a:cs typeface="Poppins"/>
              </a:defRPr>
            </a:lvl6pPr>
            <a:lvl7pPr>
              <a:defRPr sz="1725" b="0">
                <a:solidFill>
                  <a:srgbClr val="2E4F66"/>
                </a:solidFill>
                <a:latin typeface="Poppins"/>
                <a:ea typeface="Poppins"/>
                <a:cs typeface="Poppins"/>
              </a:defRPr>
            </a:lvl7pPr>
            <a:lvl8pPr>
              <a:defRPr sz="1725" b="0">
                <a:solidFill>
                  <a:srgbClr val="2E4F66"/>
                </a:solidFill>
                <a:latin typeface="Poppins"/>
                <a:ea typeface="Poppins"/>
                <a:cs typeface="Poppins"/>
              </a:defRPr>
            </a:lvl8pPr>
            <a:lvl9pPr>
              <a:defRPr sz="1725" b="0">
                <a:solidFill>
                  <a:srgbClr val="2E4F66"/>
                </a:solidFill>
                <a:latin typeface="Poppins"/>
                <a:ea typeface="Poppins"/>
                <a:cs typeface="Poppins"/>
              </a:defRPr>
            </a:lvl9pPr>
          </a:lstStyle>
          <a:p xmlns:a="http://schemas.openxmlformats.org/drawingml/2006/main">
            <a:pPr>
              <a:defRPr sz="1725" b="0">
                <a:solidFill>
                  <a:srgbClr val="2E4F66"/>
                </a:solidFill>
                <a:latin typeface="Poppins"/>
                <a:ea typeface="Poppins"/>
                <a:cs typeface="Poppins"/>
              </a:defRPr>
            </a:pPr>
            <a:r>
              <a:rPr sz="1725" b="0">
                <a:solidFill>
                  <a:srgbClr val="2E4F66"/>
                </a:solidFill>
                <a:latin typeface="Poppins"/>
                <a:ea typeface="Poppins"/>
                <a:cs typeface="Poppins"/>
              </a:rPr>
              <a:t>Keep the useful request and note what you fixed.</a:t>
            </a:r>
          </a:p>
        </p:txBody>
      </p:sp>
      <p:sp>
        <p:nvSpPr>
          <p:cNvPr id="12" name="Resource link">
            <a:extLst xmlns:a="http://schemas.openxmlformats.org/drawingml/2006/main">
              <a:ext uri="{FF2B5EF4-FFF2-40B4-BE49-F238E27FC236}">
                <a16:creationId xmlns:a16="http://schemas.microsoft.com/office/drawing/2014/main" id="{72B40B2D-9F23-4AF9-BA2B-FC3733ABF620}"/>
              </a:ext>
            </a:extLst>
          </p:cNvPr>
          <p:cNvSpPr>
            <a:spLocks xmlns:a="http://schemas.openxmlformats.org/drawingml/2006/main" noGrp="1"/>
          </p:cNvSpPr>
          <p:nvPr/>
        </p:nvSpPr>
        <p:spPr>
          <a:xfrm xmlns:a="http://schemas.openxmlformats.org/drawingml/2006/main">
            <a:off x="8001000" y="409575"/>
            <a:ext cx="3581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u="sng">
                <a:solidFill>
                  <a:srgbClr val="007681"/>
                </a:solidFill>
                <a:latin typeface="Poppins"/>
                <a:ea typeface="Poppins"/>
                <a:cs typeface="Poppins"/>
                <a:hlinkClick xmlns:r="http://schemas.openxmlformats.org/officeDocument/2006/relationships" r:id="R1343615e215b41cb"/>
              </a:rPr>
              <a:t>Open awareness self-check</a:t>
            </a:r>
          </a:p>
        </p:txBody>
      </p:sp>
      <p:sp>
        <p:nvSpPr>
          <p:cNvPr id="13" name="Footer">
            <a:extLst xmlns:a="http://schemas.openxmlformats.org/drawingml/2006/main">
              <a:ext uri="{FF2B5EF4-FFF2-40B4-BE49-F238E27FC236}">
                <a16:creationId xmlns:a16="http://schemas.microsoft.com/office/drawing/2014/main" id="{9674EAB5-E4B2-46BA-95A7-756C5FBBEEB6}"/>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30 / 31</a:t>
            </a:r>
          </a:p>
        </p:txBody>
      </p:sp>
    </p:spTree>
    <p:extLst>
      <p:ext uri="{BB962C8B-B14F-4D97-AF65-F5344CB8AC3E}">
        <p14:creationId xmlns:p14="http://schemas.microsoft.com/office/powerpoint/2010/main" val="1352463308"/>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55C740C3-8F78-4014-9C20-52EDEB628966}"/>
              </a:ext>
            </a:extLst>
          </p:cNvPr>
          <p:cNvPicPr>
            <a:picLocks xmlns:a="http://schemas.openxmlformats.org/drawingml/2006/main" noChangeAspect="1"/>
          </p:cNvPicPr>
          <p:nvPr/>
        </p:nvPicPr>
        <p:blipFill>
          <a:blip xmlns:r="http://schemas.openxmlformats.org/officeDocument/2006/relationships" xmlns:a="http://schemas.openxmlformats.org/drawingml/2006/main" r:embed="Ra06592112bee427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2" name="Session label">
            <a:extLst xmlns:a="http://schemas.openxmlformats.org/drawingml/2006/main">
              <a:ext uri="{FF2B5EF4-FFF2-40B4-BE49-F238E27FC236}">
                <a16:creationId xmlns:a16="http://schemas.microsoft.com/office/drawing/2014/main" id="{3BFE5D86-4C46-4AE4-9F17-319316091697}"/>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007681"/>
                </a:solidFill>
                <a:latin typeface="Poppins"/>
                <a:ea typeface="Poppins"/>
                <a:cs typeface="Poppins"/>
              </a:defRPr>
            </a:defPPr>
            <a:lvl1pPr>
              <a:defRPr sz="1350" b="1">
                <a:solidFill>
                  <a:srgbClr val="007681"/>
                </a:solidFill>
                <a:latin typeface="Poppins"/>
                <a:ea typeface="Poppins"/>
                <a:cs typeface="Poppins"/>
              </a:defRPr>
            </a:lvl1pPr>
            <a:lvl2pPr>
              <a:defRPr sz="1350" b="1">
                <a:solidFill>
                  <a:srgbClr val="007681"/>
                </a:solidFill>
                <a:latin typeface="Poppins"/>
                <a:ea typeface="Poppins"/>
                <a:cs typeface="Poppins"/>
              </a:defRPr>
            </a:lvl2pPr>
            <a:lvl3pPr>
              <a:defRPr sz="1350" b="1">
                <a:solidFill>
                  <a:srgbClr val="007681"/>
                </a:solidFill>
                <a:latin typeface="Poppins"/>
                <a:ea typeface="Poppins"/>
                <a:cs typeface="Poppins"/>
              </a:defRPr>
            </a:lvl3pPr>
            <a:lvl4pPr>
              <a:defRPr sz="1350" b="1">
                <a:solidFill>
                  <a:srgbClr val="007681"/>
                </a:solidFill>
                <a:latin typeface="Poppins"/>
                <a:ea typeface="Poppins"/>
                <a:cs typeface="Poppins"/>
              </a:defRPr>
            </a:lvl4pPr>
            <a:lvl5pPr>
              <a:defRPr sz="1350" b="1">
                <a:solidFill>
                  <a:srgbClr val="007681"/>
                </a:solidFill>
                <a:latin typeface="Poppins"/>
                <a:ea typeface="Poppins"/>
                <a:cs typeface="Poppins"/>
              </a:defRPr>
            </a:lvl5pPr>
            <a:lvl6pPr>
              <a:defRPr sz="1350" b="1">
                <a:solidFill>
                  <a:srgbClr val="007681"/>
                </a:solidFill>
                <a:latin typeface="Poppins"/>
                <a:ea typeface="Poppins"/>
                <a:cs typeface="Poppins"/>
              </a:defRPr>
            </a:lvl6pPr>
            <a:lvl7pPr>
              <a:defRPr sz="1350" b="1">
                <a:solidFill>
                  <a:srgbClr val="007681"/>
                </a:solidFill>
                <a:latin typeface="Poppins"/>
                <a:ea typeface="Poppins"/>
                <a:cs typeface="Poppins"/>
              </a:defRPr>
            </a:lvl7pPr>
            <a:lvl8pPr>
              <a:defRPr sz="1350" b="1">
                <a:solidFill>
                  <a:srgbClr val="007681"/>
                </a:solidFill>
                <a:latin typeface="Poppins"/>
                <a:ea typeface="Poppins"/>
                <a:cs typeface="Poppins"/>
              </a:defRPr>
            </a:lvl8pPr>
            <a:lvl9pPr>
              <a:defRPr sz="1350" b="1">
                <a:solidFill>
                  <a:srgbClr val="007681"/>
                </a:solidFill>
                <a:latin typeface="Poppins"/>
                <a:ea typeface="Poppins"/>
                <a:cs typeface="Poppins"/>
              </a:defRPr>
            </a:lvl9pPr>
          </a:lstStyle>
          <a:p xmlns:a="http://schemas.openxmlformats.org/drawingml/2006/main">
            <a:pPr>
              <a:defRPr sz="1350" b="1">
                <a:solidFill>
                  <a:srgbClr val="007681"/>
                </a:solidFill>
                <a:latin typeface="Poppins"/>
                <a:ea typeface="Poppins"/>
                <a:cs typeface="Poppins"/>
              </a:defRPr>
            </a:pPr>
            <a:r>
              <a:rPr sz="1350" b="1">
                <a:solidFill>
                  <a:srgbClr val="007681"/>
                </a:solidFill>
                <a:latin typeface="Poppins"/>
                <a:ea typeface="Poppins"/>
                <a:cs typeface="Poppins"/>
              </a:rPr>
              <a:t>NSPA 2026 · Scholarship review practice</a:t>
            </a:r>
          </a:p>
        </p:txBody>
      </p:sp>
      <p:sp>
        <p:nvSpPr>
          <p:cNvPr id="3" name="Slide heading">
            <a:extLst xmlns:a="http://schemas.openxmlformats.org/drawingml/2006/main">
              <a:ext uri="{FF2B5EF4-FFF2-40B4-BE49-F238E27FC236}">
                <a16:creationId xmlns:a16="http://schemas.microsoft.com/office/drawing/2014/main" id="{51B71888-F704-4D97-890F-281D46DFF7BB}"/>
              </a:ext>
            </a:extLst>
          </p:cNvPr>
          <p:cNvSpPr>
            <a:spLocks xmlns:a="http://schemas.openxmlformats.org/drawingml/2006/main" noGrp="1"/>
          </p:cNvSpPr>
          <p:nvPr/>
        </p:nvSpPr>
        <p:spPr>
          <a:xfrm xmlns:a="http://schemas.openxmlformats.org/drawingml/2006/main">
            <a:off x="609600" y="85725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2E4F66"/>
                </a:solidFill>
                <a:latin typeface="Poppins"/>
                <a:ea typeface="Poppins"/>
                <a:cs typeface="Poppins"/>
              </a:defRPr>
            </a:defPPr>
            <a:lvl1pPr>
              <a:defRPr sz="3300" b="1">
                <a:solidFill>
                  <a:srgbClr val="2E4F66"/>
                </a:solidFill>
                <a:latin typeface="Poppins"/>
                <a:ea typeface="Poppins"/>
                <a:cs typeface="Poppins"/>
              </a:defRPr>
            </a:lvl1pPr>
            <a:lvl2pPr>
              <a:defRPr sz="3300" b="1">
                <a:solidFill>
                  <a:srgbClr val="2E4F66"/>
                </a:solidFill>
                <a:latin typeface="Poppins"/>
                <a:ea typeface="Poppins"/>
                <a:cs typeface="Poppins"/>
              </a:defRPr>
            </a:lvl2pPr>
            <a:lvl3pPr>
              <a:defRPr sz="3300" b="1">
                <a:solidFill>
                  <a:srgbClr val="2E4F66"/>
                </a:solidFill>
                <a:latin typeface="Poppins"/>
                <a:ea typeface="Poppins"/>
                <a:cs typeface="Poppins"/>
              </a:defRPr>
            </a:lvl3pPr>
            <a:lvl4pPr>
              <a:defRPr sz="3300" b="1">
                <a:solidFill>
                  <a:srgbClr val="2E4F66"/>
                </a:solidFill>
                <a:latin typeface="Poppins"/>
                <a:ea typeface="Poppins"/>
                <a:cs typeface="Poppins"/>
              </a:defRPr>
            </a:lvl4pPr>
            <a:lvl5pPr>
              <a:defRPr sz="3300" b="1">
                <a:solidFill>
                  <a:srgbClr val="2E4F66"/>
                </a:solidFill>
                <a:latin typeface="Poppins"/>
                <a:ea typeface="Poppins"/>
                <a:cs typeface="Poppins"/>
              </a:defRPr>
            </a:lvl5pPr>
            <a:lvl6pPr>
              <a:defRPr sz="3300" b="1">
                <a:solidFill>
                  <a:srgbClr val="2E4F66"/>
                </a:solidFill>
                <a:latin typeface="Poppins"/>
                <a:ea typeface="Poppins"/>
                <a:cs typeface="Poppins"/>
              </a:defRPr>
            </a:lvl6pPr>
            <a:lvl7pPr>
              <a:defRPr sz="3300" b="1">
                <a:solidFill>
                  <a:srgbClr val="2E4F66"/>
                </a:solidFill>
                <a:latin typeface="Poppins"/>
                <a:ea typeface="Poppins"/>
                <a:cs typeface="Poppins"/>
              </a:defRPr>
            </a:lvl7pPr>
            <a:lvl8pPr>
              <a:defRPr sz="3300" b="1">
                <a:solidFill>
                  <a:srgbClr val="2E4F66"/>
                </a:solidFill>
                <a:latin typeface="Poppins"/>
                <a:ea typeface="Poppins"/>
                <a:cs typeface="Poppins"/>
              </a:defRPr>
            </a:lvl8pPr>
            <a:lvl9pPr>
              <a:defRPr sz="3300" b="1">
                <a:solidFill>
                  <a:srgbClr val="2E4F66"/>
                </a:solidFill>
                <a:latin typeface="Poppins"/>
                <a:ea typeface="Poppins"/>
                <a:cs typeface="Poppins"/>
              </a:defRPr>
            </a:lvl9pPr>
          </a:lstStyle>
          <a:p xmlns:a="http://schemas.openxmlformats.org/drawingml/2006/main">
            <a:pPr>
              <a:defRPr sz="3300" b="1">
                <a:solidFill>
                  <a:srgbClr val="2E4F66"/>
                </a:solidFill>
                <a:latin typeface="Poppins"/>
                <a:ea typeface="Poppins"/>
                <a:cs typeface="Poppins"/>
              </a:defRPr>
            </a:pPr>
            <a:r>
              <a:rPr sz="3300" b="1">
                <a:solidFill>
                  <a:srgbClr val="2E4F66"/>
                </a:solidFill>
                <a:latin typeface="Poppins"/>
                <a:ea typeface="Poppins"/>
                <a:cs typeface="Poppins"/>
              </a:rPr>
              <a:t>Practice and reference materials</a:t>
            </a:r>
          </a:p>
        </p:txBody>
      </p:sp>
      <p:sp>
        <p:nvSpPr>
          <p:cNvPr id="4" name="Text">
            <a:extLst xmlns:a="http://schemas.openxmlformats.org/drawingml/2006/main">
              <a:ext uri="{FF2B5EF4-FFF2-40B4-BE49-F238E27FC236}">
                <a16:creationId xmlns:a16="http://schemas.microsoft.com/office/drawing/2014/main" id="{85E82C60-0BA4-4690-949F-84E53FD74D0F}"/>
              </a:ext>
            </a:extLst>
          </p:cNvPr>
          <p:cNvSpPr>
            <a:spLocks xmlns:a="http://schemas.openxmlformats.org/drawingml/2006/main" noGrp="1"/>
          </p:cNvSpPr>
          <p:nvPr/>
        </p:nvSpPr>
        <p:spPr>
          <a:xfrm xmlns:a="http://schemas.openxmlformats.org/drawingml/2006/main">
            <a:off x="609600" y="1809750"/>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E4F66"/>
                </a:solidFill>
                <a:latin typeface="Poppins"/>
                <a:ea typeface="Poppins"/>
                <a:cs typeface="Poppins"/>
              </a:defRPr>
            </a:defPPr>
            <a:lvl1pPr>
              <a:defRPr sz="2025" b="0">
                <a:solidFill>
                  <a:srgbClr val="2E4F66"/>
                </a:solidFill>
                <a:latin typeface="Poppins"/>
                <a:ea typeface="Poppins"/>
                <a:cs typeface="Poppins"/>
              </a:defRPr>
            </a:lvl1pPr>
            <a:lvl2pPr>
              <a:defRPr sz="2025" b="0">
                <a:solidFill>
                  <a:srgbClr val="2E4F66"/>
                </a:solidFill>
                <a:latin typeface="Poppins"/>
                <a:ea typeface="Poppins"/>
                <a:cs typeface="Poppins"/>
              </a:defRPr>
            </a:lvl2pPr>
            <a:lvl3pPr>
              <a:defRPr sz="2025" b="0">
                <a:solidFill>
                  <a:srgbClr val="2E4F66"/>
                </a:solidFill>
                <a:latin typeface="Poppins"/>
                <a:ea typeface="Poppins"/>
                <a:cs typeface="Poppins"/>
              </a:defRPr>
            </a:lvl3pPr>
            <a:lvl4pPr>
              <a:defRPr sz="2025" b="0">
                <a:solidFill>
                  <a:srgbClr val="2E4F66"/>
                </a:solidFill>
                <a:latin typeface="Poppins"/>
                <a:ea typeface="Poppins"/>
                <a:cs typeface="Poppins"/>
              </a:defRPr>
            </a:lvl4pPr>
            <a:lvl5pPr>
              <a:defRPr sz="2025" b="0">
                <a:solidFill>
                  <a:srgbClr val="2E4F66"/>
                </a:solidFill>
                <a:latin typeface="Poppins"/>
                <a:ea typeface="Poppins"/>
                <a:cs typeface="Poppins"/>
              </a:defRPr>
            </a:lvl5pPr>
            <a:lvl6pPr>
              <a:defRPr sz="2025" b="0">
                <a:solidFill>
                  <a:srgbClr val="2E4F66"/>
                </a:solidFill>
                <a:latin typeface="Poppins"/>
                <a:ea typeface="Poppins"/>
                <a:cs typeface="Poppins"/>
              </a:defRPr>
            </a:lvl6pPr>
            <a:lvl7pPr>
              <a:defRPr sz="2025" b="0">
                <a:solidFill>
                  <a:srgbClr val="2E4F66"/>
                </a:solidFill>
                <a:latin typeface="Poppins"/>
                <a:ea typeface="Poppins"/>
                <a:cs typeface="Poppins"/>
              </a:defRPr>
            </a:lvl7pPr>
            <a:lvl8pPr>
              <a:defRPr sz="2025" b="0">
                <a:solidFill>
                  <a:srgbClr val="2E4F66"/>
                </a:solidFill>
                <a:latin typeface="Poppins"/>
                <a:ea typeface="Poppins"/>
                <a:cs typeface="Poppins"/>
              </a:defRPr>
            </a:lvl8pPr>
            <a:lvl9pPr>
              <a:defRPr sz="2025" b="0">
                <a:solidFill>
                  <a:srgbClr val="2E4F66"/>
                </a:solidFill>
                <a:latin typeface="Poppins"/>
                <a:ea typeface="Poppins"/>
                <a:cs typeface="Poppins"/>
              </a:defRPr>
            </a:lvl9pPr>
          </a:lstStyle>
          <a:p xmlns:a="http://schemas.openxmlformats.org/drawingml/2006/main">
            <a:pPr>
              <a:defRPr sz="2025" b="0">
                <a:solidFill>
                  <a:srgbClr val="2E4F66"/>
                </a:solidFill>
                <a:latin typeface="Poppins"/>
                <a:ea typeface="Poppins"/>
                <a:cs typeface="Poppins"/>
              </a:defRPr>
            </a:pPr>
            <a:r>
              <a:rPr sz="2025" b="0">
                <a:solidFill>
                  <a:srgbClr val="2E4F66"/>
                </a:solidFill>
                <a:latin typeface="Poppins"/>
                <a:ea typeface="Poppins"/>
                <a:cs typeface="Poppins"/>
              </a:rPr>
              <a:t>The participant page brings the materials together.</a:t>
            </a:r>
          </a:p>
        </p:txBody>
      </p:sp>
      <p:sp>
        <p:nvSpPr>
          <p:cNvPr id="5" name="Supporting text">
            <a:extLst xmlns:a="http://schemas.openxmlformats.org/drawingml/2006/main">
              <a:ext uri="{FF2B5EF4-FFF2-40B4-BE49-F238E27FC236}">
                <a16:creationId xmlns:a16="http://schemas.microsoft.com/office/drawing/2014/main" id="{64496105-1FE5-4D6D-80EC-65BA91EAED56}"/>
              </a:ext>
            </a:extLst>
          </p:cNvPr>
          <p:cNvSpPr>
            <a:spLocks xmlns:a="http://schemas.openxmlformats.org/drawingml/2006/main" noGrp="1"/>
          </p:cNvSpPr>
          <p:nvPr/>
        </p:nvSpPr>
        <p:spPr>
          <a:xfrm xmlns:a="http://schemas.openxmlformats.org/drawingml/2006/main">
            <a:off x="609600" y="2428875"/>
            <a:ext cx="7810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E4F66"/>
                </a:solidFill>
                <a:latin typeface="Poppins"/>
                <a:ea typeface="Poppins"/>
                <a:cs typeface="Poppins"/>
              </a:defRPr>
            </a:defPPr>
            <a:lvl1pPr>
              <a:defRPr sz="2025" b="0">
                <a:solidFill>
                  <a:srgbClr val="2E4F66"/>
                </a:solidFill>
                <a:latin typeface="Poppins"/>
                <a:ea typeface="Poppins"/>
                <a:cs typeface="Poppins"/>
              </a:defRPr>
            </a:lvl1pPr>
            <a:lvl2pPr>
              <a:defRPr sz="2025" b="0">
                <a:solidFill>
                  <a:srgbClr val="2E4F66"/>
                </a:solidFill>
                <a:latin typeface="Poppins"/>
                <a:ea typeface="Poppins"/>
                <a:cs typeface="Poppins"/>
              </a:defRPr>
            </a:lvl2pPr>
            <a:lvl3pPr>
              <a:defRPr sz="2025" b="0">
                <a:solidFill>
                  <a:srgbClr val="2E4F66"/>
                </a:solidFill>
                <a:latin typeface="Poppins"/>
                <a:ea typeface="Poppins"/>
                <a:cs typeface="Poppins"/>
              </a:defRPr>
            </a:lvl3pPr>
            <a:lvl4pPr>
              <a:defRPr sz="2025" b="0">
                <a:solidFill>
                  <a:srgbClr val="2E4F66"/>
                </a:solidFill>
                <a:latin typeface="Poppins"/>
                <a:ea typeface="Poppins"/>
                <a:cs typeface="Poppins"/>
              </a:defRPr>
            </a:lvl4pPr>
            <a:lvl5pPr>
              <a:defRPr sz="2025" b="0">
                <a:solidFill>
                  <a:srgbClr val="2E4F66"/>
                </a:solidFill>
                <a:latin typeface="Poppins"/>
                <a:ea typeface="Poppins"/>
                <a:cs typeface="Poppins"/>
              </a:defRPr>
            </a:lvl5pPr>
            <a:lvl6pPr>
              <a:defRPr sz="2025" b="0">
                <a:solidFill>
                  <a:srgbClr val="2E4F66"/>
                </a:solidFill>
                <a:latin typeface="Poppins"/>
                <a:ea typeface="Poppins"/>
                <a:cs typeface="Poppins"/>
              </a:defRPr>
            </a:lvl6pPr>
            <a:lvl7pPr>
              <a:defRPr sz="2025" b="0">
                <a:solidFill>
                  <a:srgbClr val="2E4F66"/>
                </a:solidFill>
                <a:latin typeface="Poppins"/>
                <a:ea typeface="Poppins"/>
                <a:cs typeface="Poppins"/>
              </a:defRPr>
            </a:lvl7pPr>
            <a:lvl8pPr>
              <a:defRPr sz="2025" b="0">
                <a:solidFill>
                  <a:srgbClr val="2E4F66"/>
                </a:solidFill>
                <a:latin typeface="Poppins"/>
                <a:ea typeface="Poppins"/>
                <a:cs typeface="Poppins"/>
              </a:defRPr>
            </a:lvl8pPr>
            <a:lvl9pPr>
              <a:defRPr sz="2025" b="0">
                <a:solidFill>
                  <a:srgbClr val="2E4F66"/>
                </a:solidFill>
                <a:latin typeface="Poppins"/>
                <a:ea typeface="Poppins"/>
                <a:cs typeface="Poppins"/>
              </a:defRPr>
            </a:lvl9pPr>
          </a:lstStyle>
          <a:p xmlns:a="http://schemas.openxmlformats.org/drawingml/2006/main">
            <a:pPr>
              <a:defRPr sz="2025" b="0">
                <a:solidFill>
                  <a:srgbClr val="2E4F66"/>
                </a:solidFill>
                <a:latin typeface="Poppins"/>
                <a:ea typeface="Poppins"/>
                <a:cs typeface="Poppins"/>
              </a:defRPr>
            </a:pPr>
            <a:r>
              <a:rPr sz="2025" b="0">
                <a:solidFill>
                  <a:srgbClr val="2E4F66"/>
                </a:solidFill>
                <a:latin typeface="Poppins"/>
                <a:ea typeface="Poppins"/>
                <a:cs typeface="Poppins"/>
              </a:rPr>
              <a:t>Presentation PDF and a plain-language word guide</a:t>
            </a:r>
          </a:p>
        </p:txBody>
      </p:sp>
      <p:sp>
        <p:nvSpPr>
          <p:cNvPr id="6" name="Supporting text">
            <a:extLst xmlns:a="http://schemas.openxmlformats.org/drawingml/2006/main">
              <a:ext uri="{FF2B5EF4-FFF2-40B4-BE49-F238E27FC236}">
                <a16:creationId xmlns:a16="http://schemas.microsoft.com/office/drawing/2014/main" id="{EB278D6F-5F54-4847-BDEB-57EEE5344B08}"/>
              </a:ext>
            </a:extLst>
          </p:cNvPr>
          <p:cNvSpPr>
            <a:spLocks xmlns:a="http://schemas.openxmlformats.org/drawingml/2006/main" noGrp="1"/>
          </p:cNvSpPr>
          <p:nvPr/>
        </p:nvSpPr>
        <p:spPr>
          <a:xfrm xmlns:a="http://schemas.openxmlformats.org/drawingml/2006/main">
            <a:off x="609600" y="2895600"/>
            <a:ext cx="7810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E4F66"/>
                </a:solidFill>
                <a:latin typeface="Poppins"/>
                <a:ea typeface="Poppins"/>
                <a:cs typeface="Poppins"/>
              </a:defRPr>
            </a:defPPr>
            <a:lvl1pPr>
              <a:defRPr sz="2025" b="0">
                <a:solidFill>
                  <a:srgbClr val="2E4F66"/>
                </a:solidFill>
                <a:latin typeface="Poppins"/>
                <a:ea typeface="Poppins"/>
                <a:cs typeface="Poppins"/>
              </a:defRPr>
            </a:lvl1pPr>
            <a:lvl2pPr>
              <a:defRPr sz="2025" b="0">
                <a:solidFill>
                  <a:srgbClr val="2E4F66"/>
                </a:solidFill>
                <a:latin typeface="Poppins"/>
                <a:ea typeface="Poppins"/>
                <a:cs typeface="Poppins"/>
              </a:defRPr>
            </a:lvl2pPr>
            <a:lvl3pPr>
              <a:defRPr sz="2025" b="0">
                <a:solidFill>
                  <a:srgbClr val="2E4F66"/>
                </a:solidFill>
                <a:latin typeface="Poppins"/>
                <a:ea typeface="Poppins"/>
                <a:cs typeface="Poppins"/>
              </a:defRPr>
            </a:lvl3pPr>
            <a:lvl4pPr>
              <a:defRPr sz="2025" b="0">
                <a:solidFill>
                  <a:srgbClr val="2E4F66"/>
                </a:solidFill>
                <a:latin typeface="Poppins"/>
                <a:ea typeface="Poppins"/>
                <a:cs typeface="Poppins"/>
              </a:defRPr>
            </a:lvl4pPr>
            <a:lvl5pPr>
              <a:defRPr sz="2025" b="0">
                <a:solidFill>
                  <a:srgbClr val="2E4F66"/>
                </a:solidFill>
                <a:latin typeface="Poppins"/>
                <a:ea typeface="Poppins"/>
                <a:cs typeface="Poppins"/>
              </a:defRPr>
            </a:lvl5pPr>
            <a:lvl6pPr>
              <a:defRPr sz="2025" b="0">
                <a:solidFill>
                  <a:srgbClr val="2E4F66"/>
                </a:solidFill>
                <a:latin typeface="Poppins"/>
                <a:ea typeface="Poppins"/>
                <a:cs typeface="Poppins"/>
              </a:defRPr>
            </a:lvl6pPr>
            <a:lvl7pPr>
              <a:defRPr sz="2025" b="0">
                <a:solidFill>
                  <a:srgbClr val="2E4F66"/>
                </a:solidFill>
                <a:latin typeface="Poppins"/>
                <a:ea typeface="Poppins"/>
                <a:cs typeface="Poppins"/>
              </a:defRPr>
            </a:lvl7pPr>
            <a:lvl8pPr>
              <a:defRPr sz="2025" b="0">
                <a:solidFill>
                  <a:srgbClr val="2E4F66"/>
                </a:solidFill>
                <a:latin typeface="Poppins"/>
                <a:ea typeface="Poppins"/>
                <a:cs typeface="Poppins"/>
              </a:defRPr>
            </a:lvl8pPr>
            <a:lvl9pPr>
              <a:defRPr sz="2025" b="0">
                <a:solidFill>
                  <a:srgbClr val="2E4F66"/>
                </a:solidFill>
                <a:latin typeface="Poppins"/>
                <a:ea typeface="Poppins"/>
                <a:cs typeface="Poppins"/>
              </a:defRPr>
            </a:lvl9pPr>
          </a:lstStyle>
          <a:p xmlns:a="http://schemas.openxmlformats.org/drawingml/2006/main">
            <a:pPr>
              <a:defRPr sz="2025" b="0">
                <a:solidFill>
                  <a:srgbClr val="2E4F66"/>
                </a:solidFill>
                <a:latin typeface="Poppins"/>
                <a:ea typeface="Poppins"/>
                <a:cs typeface="Poppins"/>
              </a:defRPr>
            </a:pPr>
            <a:r>
              <a:rPr sz="2025" b="0">
                <a:solidFill>
                  <a:srgbClr val="2E4F66"/>
                </a:solidFill>
                <a:latin typeface="Poppins"/>
                <a:ea typeface="Poppins"/>
                <a:cs typeface="Poppins"/>
              </a:rPr>
              <a:t>Copyable ChatGPT prompts and made-up practice files</a:t>
            </a:r>
          </a:p>
        </p:txBody>
      </p:sp>
      <p:sp>
        <p:nvSpPr>
          <p:cNvPr id="7" name="Supporting text">
            <a:extLst xmlns:a="http://schemas.openxmlformats.org/drawingml/2006/main">
              <a:ext uri="{FF2B5EF4-FFF2-40B4-BE49-F238E27FC236}">
                <a16:creationId xmlns:a16="http://schemas.microsoft.com/office/drawing/2014/main" id="{41FA6EFF-2CDA-4953-949A-065E904B27B7}"/>
              </a:ext>
            </a:extLst>
          </p:cNvPr>
          <p:cNvSpPr>
            <a:spLocks xmlns:a="http://schemas.openxmlformats.org/drawingml/2006/main" noGrp="1"/>
          </p:cNvSpPr>
          <p:nvPr/>
        </p:nvSpPr>
        <p:spPr>
          <a:xfrm xmlns:a="http://schemas.openxmlformats.org/drawingml/2006/main">
            <a:off x="609600" y="3362325"/>
            <a:ext cx="7810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E4F66"/>
                </a:solidFill>
                <a:latin typeface="Poppins"/>
                <a:ea typeface="Poppins"/>
                <a:cs typeface="Poppins"/>
              </a:defRPr>
            </a:defPPr>
            <a:lvl1pPr>
              <a:defRPr sz="2025" b="0">
                <a:solidFill>
                  <a:srgbClr val="2E4F66"/>
                </a:solidFill>
                <a:latin typeface="Poppins"/>
                <a:ea typeface="Poppins"/>
                <a:cs typeface="Poppins"/>
              </a:defRPr>
            </a:lvl1pPr>
            <a:lvl2pPr>
              <a:defRPr sz="2025" b="0">
                <a:solidFill>
                  <a:srgbClr val="2E4F66"/>
                </a:solidFill>
                <a:latin typeface="Poppins"/>
                <a:ea typeface="Poppins"/>
                <a:cs typeface="Poppins"/>
              </a:defRPr>
            </a:lvl2pPr>
            <a:lvl3pPr>
              <a:defRPr sz="2025" b="0">
                <a:solidFill>
                  <a:srgbClr val="2E4F66"/>
                </a:solidFill>
                <a:latin typeface="Poppins"/>
                <a:ea typeface="Poppins"/>
                <a:cs typeface="Poppins"/>
              </a:defRPr>
            </a:lvl3pPr>
            <a:lvl4pPr>
              <a:defRPr sz="2025" b="0">
                <a:solidFill>
                  <a:srgbClr val="2E4F66"/>
                </a:solidFill>
                <a:latin typeface="Poppins"/>
                <a:ea typeface="Poppins"/>
                <a:cs typeface="Poppins"/>
              </a:defRPr>
            </a:lvl4pPr>
            <a:lvl5pPr>
              <a:defRPr sz="2025" b="0">
                <a:solidFill>
                  <a:srgbClr val="2E4F66"/>
                </a:solidFill>
                <a:latin typeface="Poppins"/>
                <a:ea typeface="Poppins"/>
                <a:cs typeface="Poppins"/>
              </a:defRPr>
            </a:lvl5pPr>
            <a:lvl6pPr>
              <a:defRPr sz="2025" b="0">
                <a:solidFill>
                  <a:srgbClr val="2E4F66"/>
                </a:solidFill>
                <a:latin typeface="Poppins"/>
                <a:ea typeface="Poppins"/>
                <a:cs typeface="Poppins"/>
              </a:defRPr>
            </a:lvl6pPr>
            <a:lvl7pPr>
              <a:defRPr sz="2025" b="0">
                <a:solidFill>
                  <a:srgbClr val="2E4F66"/>
                </a:solidFill>
                <a:latin typeface="Poppins"/>
                <a:ea typeface="Poppins"/>
                <a:cs typeface="Poppins"/>
              </a:defRPr>
            </a:lvl7pPr>
            <a:lvl8pPr>
              <a:defRPr sz="2025" b="0">
                <a:solidFill>
                  <a:srgbClr val="2E4F66"/>
                </a:solidFill>
                <a:latin typeface="Poppins"/>
                <a:ea typeface="Poppins"/>
                <a:cs typeface="Poppins"/>
              </a:defRPr>
            </a:lvl8pPr>
            <a:lvl9pPr>
              <a:defRPr sz="2025" b="0">
                <a:solidFill>
                  <a:srgbClr val="2E4F66"/>
                </a:solidFill>
                <a:latin typeface="Poppins"/>
                <a:ea typeface="Poppins"/>
                <a:cs typeface="Poppins"/>
              </a:defRPr>
            </a:lvl9pPr>
          </a:lstStyle>
          <a:p xmlns:a="http://schemas.openxmlformats.org/drawingml/2006/main">
            <a:pPr>
              <a:defRPr sz="2025" b="0">
                <a:solidFill>
                  <a:srgbClr val="2E4F66"/>
                </a:solidFill>
                <a:latin typeface="Poppins"/>
                <a:ea typeface="Poppins"/>
                <a:cs typeface="Poppins"/>
              </a:defRPr>
            </a:pPr>
            <a:r>
              <a:rPr sz="2025" b="0">
                <a:solidFill>
                  <a:srgbClr val="2E4F66"/>
                </a:solidFill>
                <a:latin typeface="Poppins"/>
                <a:ea typeface="Poppins"/>
                <a:cs typeface="Poppins"/>
              </a:rPr>
              <a:t>Awareness self-check and further examples</a:t>
            </a:r>
          </a:p>
        </p:txBody>
      </p:sp>
      <p:pic>
        <p:nvPicPr>
          <p:cNvPr id="8" name="">
            <a:extLst xmlns:a="http://schemas.openxmlformats.org/drawingml/2006/main">
              <a:ext uri="{FF2B5EF4-FFF2-40B4-BE49-F238E27FC236}">
                <a16:creationId xmlns:a16="http://schemas.microsoft.com/office/drawing/2014/main" id="{7CB15CE8-BDAB-4DF6-BCD2-775D9B99CEC1}"/>
              </a:ext>
            </a:extLst>
          </p:cNvPr>
          <p:cNvPicPr>
            <a:picLocks xmlns:a="http://schemas.openxmlformats.org/drawingml/2006/main" noChangeAspect="1"/>
          </p:cNvPicPr>
          <p:nvPr/>
        </p:nvPicPr>
        <p:blipFill>
          <a:blip xmlns:r="http://schemas.openxmlformats.org/officeDocument/2006/relationships" xmlns:a="http://schemas.openxmlformats.org/drawingml/2006/main" r:embed="R0fa640b85a7846b5"/>
          <a:stretch xmlns:a="http://schemas.openxmlformats.org/drawingml/2006/main"/>
        </p:blipFill>
        <p:spPr>
          <a:xfrm xmlns:a="http://schemas.openxmlformats.org/drawingml/2006/main">
            <a:off x="9239250" y="2857500"/>
            <a:ext cx="2000250" cy="2000250"/>
          </a:xfrm>
          <a:prstGeom xmlns:a="http://schemas.openxmlformats.org/drawingml/2006/main" prst="rect">
            <a:avLst/>
          </a:prstGeom>
        </p:spPr>
      </p:pic>
      <p:sp>
        <p:nvSpPr>
          <p:cNvPr id="9" name="Resource link">
            <a:extLst xmlns:a="http://schemas.openxmlformats.org/drawingml/2006/main">
              <a:ext uri="{FF2B5EF4-FFF2-40B4-BE49-F238E27FC236}">
                <a16:creationId xmlns:a16="http://schemas.microsoft.com/office/drawing/2014/main" id="{0B497B8A-AC34-4883-9821-0C2253D146CE}"/>
              </a:ext>
            </a:extLst>
          </p:cNvPr>
          <p:cNvSpPr>
            <a:spLocks xmlns:a="http://schemas.openxmlformats.org/drawingml/2006/main" noGrp="1"/>
          </p:cNvSpPr>
          <p:nvPr/>
        </p:nvSpPr>
        <p:spPr>
          <a:xfrm xmlns:a="http://schemas.openxmlformats.org/drawingml/2006/main">
            <a:off x="609600" y="51435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681"/>
                </a:solidFill>
                <a:latin typeface="Poppins"/>
                <a:ea typeface="Poppins"/>
                <a:cs typeface="Poppins"/>
              </a:defRPr>
            </a:defPPr>
            <a:lvl1pPr>
              <a:defRPr sz="1725" b="1">
                <a:solidFill>
                  <a:srgbClr val="007681"/>
                </a:solidFill>
                <a:latin typeface="Poppins"/>
                <a:ea typeface="Poppins"/>
                <a:cs typeface="Poppins"/>
              </a:defRPr>
            </a:lvl1pPr>
            <a:lvl2pPr>
              <a:defRPr sz="1725" b="1">
                <a:solidFill>
                  <a:srgbClr val="007681"/>
                </a:solidFill>
                <a:latin typeface="Poppins"/>
                <a:ea typeface="Poppins"/>
                <a:cs typeface="Poppins"/>
              </a:defRPr>
            </a:lvl2pPr>
            <a:lvl3pPr>
              <a:defRPr sz="1725" b="1">
                <a:solidFill>
                  <a:srgbClr val="007681"/>
                </a:solidFill>
                <a:latin typeface="Poppins"/>
                <a:ea typeface="Poppins"/>
                <a:cs typeface="Poppins"/>
              </a:defRPr>
            </a:lvl3pPr>
            <a:lvl4pPr>
              <a:defRPr sz="1725" b="1">
                <a:solidFill>
                  <a:srgbClr val="007681"/>
                </a:solidFill>
                <a:latin typeface="Poppins"/>
                <a:ea typeface="Poppins"/>
                <a:cs typeface="Poppins"/>
              </a:defRPr>
            </a:lvl4pPr>
            <a:lvl5pPr>
              <a:defRPr sz="1725" b="1">
                <a:solidFill>
                  <a:srgbClr val="007681"/>
                </a:solidFill>
                <a:latin typeface="Poppins"/>
                <a:ea typeface="Poppins"/>
                <a:cs typeface="Poppins"/>
              </a:defRPr>
            </a:lvl5pPr>
            <a:lvl6pPr>
              <a:defRPr sz="1725" b="1">
                <a:solidFill>
                  <a:srgbClr val="007681"/>
                </a:solidFill>
                <a:latin typeface="Poppins"/>
                <a:ea typeface="Poppins"/>
                <a:cs typeface="Poppins"/>
              </a:defRPr>
            </a:lvl6pPr>
            <a:lvl7pPr>
              <a:defRPr sz="1725" b="1">
                <a:solidFill>
                  <a:srgbClr val="007681"/>
                </a:solidFill>
                <a:latin typeface="Poppins"/>
                <a:ea typeface="Poppins"/>
                <a:cs typeface="Poppins"/>
              </a:defRPr>
            </a:lvl7pPr>
            <a:lvl8pPr>
              <a:defRPr sz="1725" b="1">
                <a:solidFill>
                  <a:srgbClr val="007681"/>
                </a:solidFill>
                <a:latin typeface="Poppins"/>
                <a:ea typeface="Poppins"/>
                <a:cs typeface="Poppins"/>
              </a:defRPr>
            </a:lvl8pPr>
            <a:lvl9pPr>
              <a:defRPr sz="1725" b="1">
                <a:solidFill>
                  <a:srgbClr val="007681"/>
                </a:solidFill>
                <a:latin typeface="Poppins"/>
                <a:ea typeface="Poppins"/>
                <a:cs typeface="Poppins"/>
              </a:defRPr>
            </a:lvl9pPr>
          </a:lstStyle>
          <a:p xmlns:a="http://schemas.openxmlformats.org/drawingml/2006/main">
            <a:pPr>
              <a:defRPr sz="1725" b="1">
                <a:solidFill>
                  <a:srgbClr val="007681"/>
                </a:solidFill>
                <a:latin typeface="Poppins"/>
                <a:ea typeface="Poppins"/>
                <a:cs typeface="Poppins"/>
              </a:defRPr>
            </a:pPr>
            <a:r>
              <a:rPr sz="1725" b="1" u="sng">
                <a:solidFill>
                  <a:srgbClr val="007681"/>
                </a:solidFill>
                <a:latin typeface="Poppins"/>
                <a:ea typeface="Poppins"/>
                <a:cs typeface="Poppins"/>
                <a:hlinkClick xmlns:r="http://schemas.openxmlformats.org/officeDocument/2006/relationships" r:id="R606ee0e13c624979"/>
              </a:rPr>
              <a:t>Open AI Prompting Practice</a:t>
            </a:r>
          </a:p>
        </p:txBody>
      </p:sp>
      <p:sp>
        <p:nvSpPr>
          <p:cNvPr id="10" name="Footer">
            <a:extLst xmlns:a="http://schemas.openxmlformats.org/drawingml/2006/main">
              <a:ext uri="{FF2B5EF4-FFF2-40B4-BE49-F238E27FC236}">
                <a16:creationId xmlns:a16="http://schemas.microsoft.com/office/drawing/2014/main" id="{0F9D06DE-D2C1-4345-99F8-AC901783AC42}"/>
              </a:ext>
            </a:extLst>
          </p:cNvPr>
          <p:cNvSpPr>
            <a:spLocks xmlns:a="http://schemas.openxmlformats.org/drawingml/2006/main" noGrp="1"/>
          </p:cNvSpPr>
          <p:nvPr/>
        </p:nvSpPr>
        <p:spPr>
          <a:xfrm xmlns:a="http://schemas.openxmlformats.org/drawingml/2006/main">
            <a:off x="2190750" y="6467475"/>
            <a:ext cx="4762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2E4F66"/>
                </a:solidFill>
                <a:latin typeface="Poppins"/>
                <a:ea typeface="Poppins"/>
                <a:cs typeface="Poppins"/>
              </a:defRPr>
            </a:defPPr>
            <a:lvl1pPr>
              <a:defRPr sz="1200" b="0">
                <a:solidFill>
                  <a:srgbClr val="2E4F66"/>
                </a:solidFill>
                <a:latin typeface="Poppins"/>
                <a:ea typeface="Poppins"/>
                <a:cs typeface="Poppins"/>
              </a:defRPr>
            </a:lvl1pPr>
            <a:lvl2pPr>
              <a:defRPr sz="1200" b="0">
                <a:solidFill>
                  <a:srgbClr val="2E4F66"/>
                </a:solidFill>
                <a:latin typeface="Poppins"/>
                <a:ea typeface="Poppins"/>
                <a:cs typeface="Poppins"/>
              </a:defRPr>
            </a:lvl2pPr>
            <a:lvl3pPr>
              <a:defRPr sz="1200" b="0">
                <a:solidFill>
                  <a:srgbClr val="2E4F66"/>
                </a:solidFill>
                <a:latin typeface="Poppins"/>
                <a:ea typeface="Poppins"/>
                <a:cs typeface="Poppins"/>
              </a:defRPr>
            </a:lvl3pPr>
            <a:lvl4pPr>
              <a:defRPr sz="1200" b="0">
                <a:solidFill>
                  <a:srgbClr val="2E4F66"/>
                </a:solidFill>
                <a:latin typeface="Poppins"/>
                <a:ea typeface="Poppins"/>
                <a:cs typeface="Poppins"/>
              </a:defRPr>
            </a:lvl4pPr>
            <a:lvl5pPr>
              <a:defRPr sz="1200" b="0">
                <a:solidFill>
                  <a:srgbClr val="2E4F66"/>
                </a:solidFill>
                <a:latin typeface="Poppins"/>
                <a:ea typeface="Poppins"/>
                <a:cs typeface="Poppins"/>
              </a:defRPr>
            </a:lvl5pPr>
            <a:lvl6pPr>
              <a:defRPr sz="1200" b="0">
                <a:solidFill>
                  <a:srgbClr val="2E4F66"/>
                </a:solidFill>
                <a:latin typeface="Poppins"/>
                <a:ea typeface="Poppins"/>
                <a:cs typeface="Poppins"/>
              </a:defRPr>
            </a:lvl6pPr>
            <a:lvl7pPr>
              <a:defRPr sz="1200" b="0">
                <a:solidFill>
                  <a:srgbClr val="2E4F66"/>
                </a:solidFill>
                <a:latin typeface="Poppins"/>
                <a:ea typeface="Poppins"/>
                <a:cs typeface="Poppins"/>
              </a:defRPr>
            </a:lvl7pPr>
            <a:lvl8pPr>
              <a:defRPr sz="1200" b="0">
                <a:solidFill>
                  <a:srgbClr val="2E4F66"/>
                </a:solidFill>
                <a:latin typeface="Poppins"/>
                <a:ea typeface="Poppins"/>
                <a:cs typeface="Poppins"/>
              </a:defRPr>
            </a:lvl8pPr>
            <a:lvl9pPr>
              <a:defRPr sz="1200" b="0">
                <a:solidFill>
                  <a:srgbClr val="2E4F66"/>
                </a:solidFill>
                <a:latin typeface="Poppins"/>
                <a:ea typeface="Poppins"/>
                <a:cs typeface="Poppins"/>
              </a:defRPr>
            </a:lvl9pPr>
          </a:lstStyle>
          <a:p xmlns:a="http://schemas.openxmlformats.org/drawingml/2006/main">
            <a:pPr>
              <a:defRPr sz="1200" b="0">
                <a:solidFill>
                  <a:srgbClr val="2E4F66"/>
                </a:solidFill>
                <a:latin typeface="Poppins"/>
                <a:ea typeface="Poppins"/>
                <a:cs typeface="Poppins"/>
              </a:defRPr>
            </a:pPr>
            <a:r>
              <a:rPr sz="1200" b="0">
                <a:solidFill>
                  <a:srgbClr val="2E4F66"/>
                </a:solidFill>
                <a:latin typeface="Poppins"/>
                <a:ea typeface="Poppins"/>
                <a:cs typeface="Poppins"/>
              </a:rPr>
              <a:t>Miguel Guhlin     31 / 31</a:t>
            </a:r>
          </a:p>
        </p:txBody>
      </p:sp>
    </p:spTree>
    <p:extLst>
      <p:ext uri="{BB962C8B-B14F-4D97-AF65-F5344CB8AC3E}">
        <p14:creationId xmlns:p14="http://schemas.microsoft.com/office/powerpoint/2010/main" val="51325466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2026-10-21T16:13:54.1000000Z</dcterms:created>
  <dcterms:modified xsi:type="dcterms:W3CDTF">2026-10-21T16:13:54.1000000Z</dcterms:modified>
</coreProperties>
</file>