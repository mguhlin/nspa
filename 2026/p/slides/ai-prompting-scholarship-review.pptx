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50dc0647fc4407" /><Relationship Type="http://schemas.openxmlformats.org/officeDocument/2006/relationships/extended-properties" Target="/docProps/app.xml" Id="R2c51d7257fd847e6" /><Relationship Type="http://schemas.openxmlformats.org/officeDocument/2006/relationships/officeDocument" Target="/ppt/presentation.xml" Id="R3eba58f74eab4c8d" /></Relationships>
</file>

<file path=ppt/presentation.xml><?xml version="1.0" encoding="utf-8"?>
<p:presentation xmlns:p="http://schemas.openxmlformats.org/presentationml/2006/main">
  <p:sldMasterIdLst>
    <p:sldMasterId xmlns:r="http://schemas.openxmlformats.org/officeDocument/2006/relationships" id="2147483648" r:id="R3e99173ac36447dd"/>
  </p:sldMasterIdLst>
  <p:notesMasterIdLst>
    <p:notesMasterId xmlns:r="http://schemas.openxmlformats.org/officeDocument/2006/relationships" r:id="Ra971801dc93f478e"/>
  </p:notesMasterIdLst>
  <p:sldIdLst>
    <p:sldId xmlns:r="http://schemas.openxmlformats.org/officeDocument/2006/relationships" id="256" r:id="Rb16dbba3d148484d"/>
    <p:sldId xmlns:r="http://schemas.openxmlformats.org/officeDocument/2006/relationships" id="257" r:id="R8e315abe725549e0"/>
    <p:sldId xmlns:r="http://schemas.openxmlformats.org/officeDocument/2006/relationships" id="258" r:id="Rc3f430e44db54da9"/>
    <p:sldId xmlns:r="http://schemas.openxmlformats.org/officeDocument/2006/relationships" id="259" r:id="Rc38b6666342d4197"/>
    <p:sldId xmlns:r="http://schemas.openxmlformats.org/officeDocument/2006/relationships" id="260" r:id="R8312c2f1efd14ddc"/>
    <p:sldId xmlns:r="http://schemas.openxmlformats.org/officeDocument/2006/relationships" id="261" r:id="R5529bac9aa80439c"/>
    <p:sldId xmlns:r="http://schemas.openxmlformats.org/officeDocument/2006/relationships" id="262" r:id="Rc89fc0abd31c4bce"/>
    <p:sldId xmlns:r="http://schemas.openxmlformats.org/officeDocument/2006/relationships" id="263" r:id="Rb5407397830c4b7e"/>
    <p:sldId xmlns:r="http://schemas.openxmlformats.org/officeDocument/2006/relationships" id="264" r:id="R9ae25b65d6cc4d06"/>
    <p:sldId xmlns:r="http://schemas.openxmlformats.org/officeDocument/2006/relationships" id="265" r:id="Rc046ebebbc814e97"/>
    <p:sldId xmlns:r="http://schemas.openxmlformats.org/officeDocument/2006/relationships" id="266" r:id="Reb8181df9e874645"/>
    <p:sldId xmlns:r="http://schemas.openxmlformats.org/officeDocument/2006/relationships" id="267" r:id="R8a87fcf7dbb945e8"/>
    <p:sldId xmlns:r="http://schemas.openxmlformats.org/officeDocument/2006/relationships" id="268" r:id="R17651c2cea2a46c1"/>
    <p:sldId xmlns:r="http://schemas.openxmlformats.org/officeDocument/2006/relationships" id="269" r:id="R558c4df933134cfd"/>
    <p:sldId xmlns:r="http://schemas.openxmlformats.org/officeDocument/2006/relationships" id="270" r:id="Rba993acfc1ea4d2d"/>
    <p:sldId xmlns:r="http://schemas.openxmlformats.org/officeDocument/2006/relationships" id="271" r:id="R9a0d98056b7a49b5"/>
    <p:sldId xmlns:r="http://schemas.openxmlformats.org/officeDocument/2006/relationships" id="272" r:id="R6b0f6508a2d34f35"/>
    <p:sldId xmlns:r="http://schemas.openxmlformats.org/officeDocument/2006/relationships" id="273" r:id="Ra6a6949fb525461e"/>
    <p:sldId xmlns:r="http://schemas.openxmlformats.org/officeDocument/2006/relationships" id="274" r:id="R95ce94ccc66c46de"/>
    <p:sldId xmlns:r="http://schemas.openxmlformats.org/officeDocument/2006/relationships" id="275" r:id="Rc108b12719a34e4a"/>
    <p:sldId xmlns:r="http://schemas.openxmlformats.org/officeDocument/2006/relationships" id="276" r:id="R9abae6e7d8364e29"/>
    <p:sldId xmlns:r="http://schemas.openxmlformats.org/officeDocument/2006/relationships" id="277" r:id="R663e6cf7be0242ed"/>
    <p:sldId xmlns:r="http://schemas.openxmlformats.org/officeDocument/2006/relationships" id="278" r:id="R6043e3bb9ce1469f"/>
    <p:sldId xmlns:r="http://schemas.openxmlformats.org/officeDocument/2006/relationships" id="279" r:id="Rb4cfa198bc6141a1"/>
    <p:sldId xmlns:r="http://schemas.openxmlformats.org/officeDocument/2006/relationships" id="280" r:id="Re42323dae81b4cef"/>
    <p:sldId xmlns:r="http://schemas.openxmlformats.org/officeDocument/2006/relationships" id="281" r:id="Ra0267cc7cf224816"/>
    <p:sldId xmlns:r="http://schemas.openxmlformats.org/officeDocument/2006/relationships" id="282" r:id="R3ffea8ca70634424"/>
    <p:sldId xmlns:r="http://schemas.openxmlformats.org/officeDocument/2006/relationships" id="283" r:id="R93c2387699374fcf"/>
    <p:sldId xmlns:r="http://schemas.openxmlformats.org/officeDocument/2006/relationships" id="284" r:id="R788c5fb5f5a04c14"/>
    <p:sldId xmlns:r="http://schemas.openxmlformats.org/officeDocument/2006/relationships" id="285" r:id="Rc982cc0397b34325"/>
    <p:sldId xmlns:r="http://schemas.openxmlformats.org/officeDocument/2006/relationships" id="286" r:id="Rec3b0d6de6a04d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56b8dc706f45db" /><Relationship Type="http://schemas.openxmlformats.org/officeDocument/2006/relationships/slideMaster" Target="/ppt/slideMasters/slideMaster1.xml" Id="R3e99173ac36447dd" /><Relationship Type="http://schemas.openxmlformats.org/officeDocument/2006/relationships/notesMaster" Target="/ppt/notesMasters/notesMaster1.xml" Id="Ra971801dc93f478e" /><Relationship Type="http://schemas.openxmlformats.org/officeDocument/2006/relationships/presProps" Target="/ppt/presProps.xml" Id="Ra288828706e2489d" /><Relationship Type="http://schemas.openxmlformats.org/officeDocument/2006/relationships/tableStyles" Target="/ppt/tableStyles.xml" Id="R9a980f0e8ec34312" /><Relationship Type="http://schemas.openxmlformats.org/officeDocument/2006/relationships/slide" Target="/ppt/slides/slide1.xml" Id="Rb16dbba3d148484d" /><Relationship Type="http://schemas.openxmlformats.org/officeDocument/2006/relationships/slide" Target="/ppt/slides/slide2.xml" Id="R8e315abe725549e0" /><Relationship Type="http://schemas.openxmlformats.org/officeDocument/2006/relationships/slide" Target="/ppt/slides/slide3.xml" Id="Rc3f430e44db54da9" /><Relationship Type="http://schemas.openxmlformats.org/officeDocument/2006/relationships/slide" Target="/ppt/slides/slide4.xml" Id="Rc38b6666342d4197" /><Relationship Type="http://schemas.openxmlformats.org/officeDocument/2006/relationships/slide" Target="/ppt/slides/slide5.xml" Id="R8312c2f1efd14ddc" /><Relationship Type="http://schemas.openxmlformats.org/officeDocument/2006/relationships/slide" Target="/ppt/slides/slide6.xml" Id="R5529bac9aa80439c" /><Relationship Type="http://schemas.openxmlformats.org/officeDocument/2006/relationships/slide" Target="/ppt/slides/slide7.xml" Id="Rc89fc0abd31c4bce" /><Relationship Type="http://schemas.openxmlformats.org/officeDocument/2006/relationships/slide" Target="/ppt/slides/slide8.xml" Id="Rb5407397830c4b7e" /><Relationship Type="http://schemas.openxmlformats.org/officeDocument/2006/relationships/slide" Target="/ppt/slides/slide9.xml" Id="R9ae25b65d6cc4d06" /><Relationship Type="http://schemas.openxmlformats.org/officeDocument/2006/relationships/slide" Target="/ppt/slides/slide10.xml" Id="Rc046ebebbc814e97" /><Relationship Type="http://schemas.openxmlformats.org/officeDocument/2006/relationships/slide" Target="/ppt/slides/slide11.xml" Id="Reb8181df9e874645" /><Relationship Type="http://schemas.openxmlformats.org/officeDocument/2006/relationships/slide" Target="/ppt/slides/slide12.xml" Id="R8a87fcf7dbb945e8" /><Relationship Type="http://schemas.openxmlformats.org/officeDocument/2006/relationships/slide" Target="/ppt/slides/slide13.xml" Id="R17651c2cea2a46c1" /><Relationship Type="http://schemas.openxmlformats.org/officeDocument/2006/relationships/slide" Target="/ppt/slides/slide14.xml" Id="R558c4df933134cfd" /><Relationship Type="http://schemas.openxmlformats.org/officeDocument/2006/relationships/slide" Target="/ppt/slides/slide15.xml" Id="Rba993acfc1ea4d2d" /><Relationship Type="http://schemas.openxmlformats.org/officeDocument/2006/relationships/slide" Target="/ppt/slides/slide16.xml" Id="R9a0d98056b7a49b5" /><Relationship Type="http://schemas.openxmlformats.org/officeDocument/2006/relationships/slide" Target="/ppt/slides/slide17.xml" Id="R6b0f6508a2d34f35" /><Relationship Type="http://schemas.openxmlformats.org/officeDocument/2006/relationships/slide" Target="/ppt/slides/slide18.xml" Id="Ra6a6949fb525461e" /><Relationship Type="http://schemas.openxmlformats.org/officeDocument/2006/relationships/slide" Target="/ppt/slides/slide19.xml" Id="R95ce94ccc66c46de" /><Relationship Type="http://schemas.openxmlformats.org/officeDocument/2006/relationships/slide" Target="/ppt/slides/slide20.xml" Id="Rc108b12719a34e4a" /><Relationship Type="http://schemas.openxmlformats.org/officeDocument/2006/relationships/slide" Target="/ppt/slides/slide21.xml" Id="R9abae6e7d8364e29" /><Relationship Type="http://schemas.openxmlformats.org/officeDocument/2006/relationships/slide" Target="/ppt/slides/slide22.xml" Id="R663e6cf7be0242ed" /><Relationship Type="http://schemas.openxmlformats.org/officeDocument/2006/relationships/slide" Target="/ppt/slides/slide23.xml" Id="R6043e3bb9ce1469f" /><Relationship Type="http://schemas.openxmlformats.org/officeDocument/2006/relationships/slide" Target="/ppt/slides/slide24.xml" Id="Rb4cfa198bc6141a1" /><Relationship Type="http://schemas.openxmlformats.org/officeDocument/2006/relationships/slide" Target="/ppt/slides/slide25.xml" Id="Re42323dae81b4cef" /><Relationship Type="http://schemas.openxmlformats.org/officeDocument/2006/relationships/slide" Target="/ppt/slides/slide26.xml" Id="Ra0267cc7cf224816" /><Relationship Type="http://schemas.openxmlformats.org/officeDocument/2006/relationships/slide" Target="/ppt/slides/slide27.xml" Id="R3ffea8ca70634424" /><Relationship Type="http://schemas.openxmlformats.org/officeDocument/2006/relationships/slide" Target="/ppt/slides/slide28.xml" Id="R93c2387699374fcf" /><Relationship Type="http://schemas.openxmlformats.org/officeDocument/2006/relationships/slide" Target="/ppt/slides/slide29.xml" Id="R788c5fb5f5a04c14" /><Relationship Type="http://schemas.openxmlformats.org/officeDocument/2006/relationships/slide" Target="/ppt/slides/slide30.xml" Id="Rc982cc0397b34325" /><Relationship Type="http://schemas.openxmlformats.org/officeDocument/2006/relationships/slide" Target="/ppt/slides/slide31.xml" Id="Rec3b0d6de6a04d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5aafa364704d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b68a60dfee4964" /><Relationship Type="http://schemas.openxmlformats.org/officeDocument/2006/relationships/notesMaster" Target="/ppt/notesMasters/notesMaster1.xml" Id="R729abf703c8b4a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6c19323aab4933" /><Relationship Type="http://schemas.openxmlformats.org/officeDocument/2006/relationships/notesMaster" Target="/ppt/notesMasters/notesMaster1.xml" Id="R7a16e54feb0444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a8c4b37161421b" /><Relationship Type="http://schemas.openxmlformats.org/officeDocument/2006/relationships/notesMaster" Target="/ppt/notesMasters/notesMaster1.xml" Id="Rab2a626e70ab4f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98b1407e4f4ef5" /><Relationship Type="http://schemas.openxmlformats.org/officeDocument/2006/relationships/notesMaster" Target="/ppt/notesMasters/notesMaster1.xml" Id="R04d75c4b4e7f42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eb5c7f341d4d47" /><Relationship Type="http://schemas.openxmlformats.org/officeDocument/2006/relationships/notesMaster" Target="/ppt/notesMasters/notesMaster1.xml" Id="R6596f414b94947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f0c13536474f1b" /><Relationship Type="http://schemas.openxmlformats.org/officeDocument/2006/relationships/notesMaster" Target="/ppt/notesMasters/notesMaster1.xml" Id="Rde54b2a8d49644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48fab2263f4bf9" /><Relationship Type="http://schemas.openxmlformats.org/officeDocument/2006/relationships/notesMaster" Target="/ppt/notesMasters/notesMaster1.xml" Id="Rc43c1b8134454a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f020fedc0b4280" /><Relationship Type="http://schemas.openxmlformats.org/officeDocument/2006/relationships/notesMaster" Target="/ppt/notesMasters/notesMaster1.xml" Id="R291efc337dbf46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1da21ff3624d42" /><Relationship Type="http://schemas.openxmlformats.org/officeDocument/2006/relationships/notesMaster" Target="/ppt/notesMasters/notesMaster1.xml" Id="Rb281a2264ff4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c0d3df6b6d4546" /><Relationship Type="http://schemas.openxmlformats.org/officeDocument/2006/relationships/notesMaster" Target="/ppt/notesMasters/notesMaster1.xml" Id="R72410781eec743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6791d3e6bd4326" /><Relationship Type="http://schemas.openxmlformats.org/officeDocument/2006/relationships/notesMaster" Target="/ppt/notesMasters/notesMaster1.xml" Id="R6ab7dca0e1bc43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ca2cc6dca54fc3" /><Relationship Type="http://schemas.openxmlformats.org/officeDocument/2006/relationships/notesMaster" Target="/ppt/notesMasters/notesMaster1.xml" Id="R5edcc0b413084c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c8056b40024b60" /><Relationship Type="http://schemas.openxmlformats.org/officeDocument/2006/relationships/notesMaster" Target="/ppt/notesMasters/notesMaster1.xml" Id="R035e678b211749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6f08bed5e84a77" /><Relationship Type="http://schemas.openxmlformats.org/officeDocument/2006/relationships/notesMaster" Target="/ppt/notesMasters/notesMaster1.xml" Id="R2adc695d86b644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b4efe0d990462c" /><Relationship Type="http://schemas.openxmlformats.org/officeDocument/2006/relationships/notesMaster" Target="/ppt/notesMasters/notesMaster1.xml" Id="R245f8fd921de4a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d7a596e6324aa4" /><Relationship Type="http://schemas.openxmlformats.org/officeDocument/2006/relationships/notesMaster" Target="/ppt/notesMasters/notesMaster1.xml" Id="Rfa5f330e544449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729176620b4461" /><Relationship Type="http://schemas.openxmlformats.org/officeDocument/2006/relationships/notesMaster" Target="/ppt/notesMasters/notesMaster1.xml" Id="Rb258f1337bae43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6784b10cc44fbd" /><Relationship Type="http://schemas.openxmlformats.org/officeDocument/2006/relationships/notesMaster" Target="/ppt/notesMasters/notesMaster1.xml" Id="Raadb289734104e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735b61c46984b43" /><Relationship Type="http://schemas.openxmlformats.org/officeDocument/2006/relationships/notesMaster" Target="/ppt/notesMasters/notesMaster1.xml" Id="R650f505dd8f04aa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4fb774d13464921" /><Relationship Type="http://schemas.openxmlformats.org/officeDocument/2006/relationships/notesMaster" Target="/ppt/notesMasters/notesMaster1.xml" Id="Ra7fc3a8039c34bc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14dbfe15f44cdf" /><Relationship Type="http://schemas.openxmlformats.org/officeDocument/2006/relationships/notesMaster" Target="/ppt/notesMasters/notesMaster1.xml" Id="Rd38b61db4c03482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0b82422af014d2c" /><Relationship Type="http://schemas.openxmlformats.org/officeDocument/2006/relationships/notesMaster" Target="/ppt/notesMasters/notesMaster1.xml" Id="R379e7a6cc1264de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dcad59eb3e840e4" /><Relationship Type="http://schemas.openxmlformats.org/officeDocument/2006/relationships/notesMaster" Target="/ppt/notesMasters/notesMaster1.xml" Id="R863bd4743a5546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e5839a9bd1742ff" /><Relationship Type="http://schemas.openxmlformats.org/officeDocument/2006/relationships/notesMaster" Target="/ppt/notesMasters/notesMaster1.xml" Id="R9ead9a6b74e84b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fa08ba0be224d43" /><Relationship Type="http://schemas.openxmlformats.org/officeDocument/2006/relationships/notesMaster" Target="/ppt/notesMasters/notesMaster1.xml" Id="R01c6ba206dc94d8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a47903c3c0f482d" /><Relationship Type="http://schemas.openxmlformats.org/officeDocument/2006/relationships/notesMaster" Target="/ppt/notesMasters/notesMaster1.xml" Id="Rd0a12b556ed3438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49c3ef5eaa4df2" /><Relationship Type="http://schemas.openxmlformats.org/officeDocument/2006/relationships/notesMaster" Target="/ppt/notesMasters/notesMaster1.xml" Id="Rba9afc5fb02740d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a22d6acb7864a24" /><Relationship Type="http://schemas.openxmlformats.org/officeDocument/2006/relationships/notesMaster" Target="/ppt/notesMasters/notesMaster1.xml" Id="R860312cbafee451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56c380ac9f432d" /><Relationship Type="http://schemas.openxmlformats.org/officeDocument/2006/relationships/notesMaster" Target="/ppt/notesMasters/notesMaster1.xml" Id="Rd9fe7f13b121498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620b4f18b354cdf" /><Relationship Type="http://schemas.openxmlformats.org/officeDocument/2006/relationships/notesMaster" Target="/ppt/notesMasters/notesMaster1.xml" Id="Rab42d524a25f42c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d80d57e0fb24551" /><Relationship Type="http://schemas.openxmlformats.org/officeDocument/2006/relationships/notesMaster" Target="/ppt/notesMasters/notesMaster1.xml" Id="Rb4e6cc00cd904b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begin with the everyday meaning of AI and prompting. You do not need to know technical terms or write code to take part. I will show a short request first, then add only the information that helps us get a useful answer. After that, we will use three made-up applications to practice office tasks. You can copy the prompts from the practice page, and you can compare the answer with the original files. I will keep responsibility clear: AI prepares a draft or checklist, and a person checks it and makes the decision.</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invite you to take the awareness self-check before we begin. It uses eight everyday situations, including checking an AI answer and deciding what information we may upload. The result suggests a place to practice and one small next step. It also shows a chart of your answers by topic. This is a workshop activity, not a test of your qualifications. Your answers stay on the page and are not sent to anyone. If you want to keep them, use Save my results. You can return after the demonstrations and see which choices make more sense.</a:t>
            </a:r>
          </a:p>
          <a:p xmlns:a="http://schemas.openxmlformats.org/drawingml/2006/main">
            <a:r>
              <a:t/>
            </a:r>
          </a:p>
          <a:p xmlns:a="http://schemas.openxmlformats.org/drawingml/2006/main">
            <a:r>
              <a:t>Resource: https://mguhlin.github.io/nspa/2026/assessment.html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Generative AI is software that creates something, such as text or an image, from a request. In this workshop, I will use ChatGPT to work with text and files. Think of the answer as a draft that needs your attention. A useful draft may save us time, but fluent writing does not tell us whether every detail is correct. We need to look at the information we supplied and compare it with the answer. I am going to keep our first example small enough that everyone can do that comparison without opening a complicated packet.</a:t>
            </a:r>
          </a:p>
          <a:p xmlns:a="http://schemas.openxmlformats.org/drawingml/2006/main">
            <a:r>
              <a:t/>
            </a:r>
          </a:p>
          <a:p xmlns:a="http://schemas.openxmlformats.org/drawingml/2006/main">
            <a:r>
              <a:t>Source: ChatGPT prompting guide</a:t>
            </a:r>
          </a:p>
          <a:p xmlns:a="http://schemas.openxmlformats.org/drawingml/2006/main">
            <a:r>
              <a:t>https://learn.chatgpt.com/docs/prompting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words describe things you will see as we work. A chatbot is the app where the conversation happens. A model is the AI system the app uses to create an answer. A prompt is your request. Input includes that request and any information you provide, such as a note or an attached file. Output is what comes back. I will usually say request and answer because those words are enough for our exercises. You do not need a special formula. Clear everyday language is a good place to start, and you can follow up when an answer needs changing.</a:t>
            </a:r>
          </a:p>
          <a:p xmlns:a="http://schemas.openxmlformats.org/drawingml/2006/main">
            <a:r>
              <a:t/>
            </a:r>
          </a:p>
          <a:p xmlns:a="http://schemas.openxmlformats.org/drawingml/2006/main">
            <a:r>
              <a:t>Source: ChatGPT prompting guide</a:t>
            </a:r>
          </a:p>
          <a:p xmlns:a="http://schemas.openxmlformats.org/drawingml/2006/main">
            <a:r>
              <a:t>https://learn.chatgpt.com/docs/prompting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open a fresh ChatGPT chat and type this request. The note is made up for practice. We want a friendly reminder, one sentence long, and we want the deadline to stay October 1. I will pause before sending so you can see the whole request. After the answer appears, I will read it with you. Did it keep the date? Did it stay within one sentence? Did it add any new rule or promise? If the live tool is unavailable, the practice page has a clearly labeled prepared example we can inspect together.</a:t>
            </a:r>
          </a:p>
          <a:p xmlns:a="http://schemas.openxmlformats.org/drawingml/2006/main">
            <a:r>
              <a:t/>
            </a:r>
          </a:p>
          <a:p xmlns:a="http://schemas.openxmlformats.org/drawingml/2006/main">
            <a:r>
              <a:t>Resource: https://mguhlin.github.io/nspa/2026/prompting/demos.html#first-prompt</a:t>
            </a:r>
          </a:p>
          <a:p xmlns:a="http://schemas.openxmlformats.org/drawingml/2006/main">
            <a:r>
              <a:t/>
            </a:r>
          </a:p>
          <a:p xmlns:a="http://schemas.openxmlformats.org/drawingml/2006/main">
            <a:r>
              <a:t>Source: ChatGPT prompting guide</a:t>
            </a:r>
          </a:p>
          <a:p xmlns:a="http://schemas.openxmlformats.org/drawingml/2006/main">
            <a:r>
              <a:t>https://learn.chatgpt.com/docs/prompting</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means useful background information. For this reminder, the audience is the students who will read it. Tone means how the writing sounds, such as friendly or formal. A source is where the facts come from. A limit tells the tool what it should avoid. You may also see people assign AI a role, such as writing assistant. That can help explain the kind of help wanted, but it does not make the tool a qualified reviewer. I add details when they matter to the result. I do not need a long description of an imaginary expert to write a simple reminder.</a:t>
            </a:r>
          </a:p>
          <a:p xmlns:a="http://schemas.openxmlformats.org/drawingml/2006/main">
            <a:r>
              <a:t/>
            </a:r>
          </a:p>
          <a:p xmlns:a="http://schemas.openxmlformats.org/drawingml/2006/main">
            <a:r>
              <a:t>Source: ChatGPT prompting guide</a:t>
            </a:r>
          </a:p>
          <a:p xmlns:a="http://schemas.openxmlformats.org/drawingml/2006/main">
            <a:r>
              <a:t>https://learn.chatgpt.com/docs/prompting</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request still does one small job. I have added who the message is for, the information it may use, and the form I want. Format means the shape of the answer. Here that shape is one sentence; later it will be a table. I have also named what must remain unchanged. I will compare this answer with the first one. The longer request is useful only if those added details improve what we need. A short request can work well. We should judge the answer by the task, rather than assume more words always produce a better result.</a:t>
            </a:r>
          </a:p>
          <a:p xmlns:a="http://schemas.openxmlformats.org/drawingml/2006/main">
            <a:r>
              <a:t/>
            </a:r>
          </a:p>
          <a:p xmlns:a="http://schemas.openxmlformats.org/drawingml/2006/main">
            <a:r>
              <a:t>Source: ChatGPT prompting guide</a:t>
            </a:r>
          </a:p>
          <a:p xmlns:a="http://schemas.openxmlformats.org/drawingml/2006/main">
            <a:r>
              <a:t>https://learn.chatgpt.com/docs/prompting</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criteria is a formal phrase for the checks we use to judge an answer. In this example, we have only three: keep the date, use one sentence, and avoid adding information. The answer on this slide is a prepared teaching example, not a captured response from a live model. Your actual response may use different wording. That is fine if it passes the checks. I will ask a participant to inspect the date and someone else to look for an added promise. When we later use a scoring guide, we will make those checks just as visible.</a:t>
            </a:r>
          </a:p>
          <a:p xmlns:a="http://schemas.openxmlformats.org/drawingml/2006/main">
            <a:r>
              <a:t/>
            </a:r>
          </a:p>
          <a:p xmlns:a="http://schemas.openxmlformats.org/drawingml/2006/main">
            <a:r>
              <a:t>Source: ChatGPT prompting guide</a:t>
            </a:r>
          </a:p>
          <a:p xmlns:a="http://schemas.openxmlformats.org/drawingml/2006/main">
            <a:r>
              <a:t>https://learn.chatgpt.com/docs/prompting</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practice cycle adapts the four-step prompt builder in my Creating with Generative AI materials, especially pages 24, 38, 39, and 42. First I choose a task. Then I write a request with the information needed for that task. I try it and compare the answer with the checks I chose. If something is wrong or unclear, I change the request and try again. Saving a useful request can save work next time, but I still need to check each new answer. I invite you to name one office task small enough to try this way. A reminder or a short checklist is a good starting point.</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a:p xmlns:a="http://schemas.openxmlformats.org/drawingml/2006/main">
            <a:r>
              <a:t/>
            </a:r>
          </a:p>
          <a:p xmlns:a="http://schemas.openxmlformats.org/drawingml/2006/main">
            <a:r>
              <a:t>Source: ChatGPT prompting guide</a:t>
            </a:r>
          </a:p>
          <a:p xmlns:a="http://schemas.openxmlformats.org/drawingml/2006/main">
            <a:r>
              <a:t>https://learn.chatgpt.com/docs/prompting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talk to the tool again after the first answer. This follow-up asks for a warmer tone while preserving the date and length. An example can also help: I might show one reminder in the style I like and ask for another with the supplied facts. You may hear zero-shot for no example, one-shot for one example, and few-shot for a few examples. Those names are optional vocabulary. The useful idea is showing what you mean. Prompt chaining means dividing work into connected requests. We can draft a reminder, check its facts, and then adjust its tone.</a:t>
            </a:r>
          </a:p>
          <a:p xmlns:a="http://schemas.openxmlformats.org/drawingml/2006/main">
            <a:r>
              <a:t/>
            </a:r>
          </a:p>
          <a:p xmlns:a="http://schemas.openxmlformats.org/drawingml/2006/main">
            <a:r>
              <a:t>Source: ChatGPT prompting guide</a:t>
            </a:r>
          </a:p>
          <a:p xmlns:a="http://schemas.openxmlformats.org/drawingml/2006/main">
            <a:r>
              <a:t>https://learn.chatgpt.com/docs/prompting</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shows a mistake we can check without special expertise. The original says the applicant ran twelve tutoring sessions. The AI draft adds an improvement in grades, but the original never says that. I would remove the extra claim and check the rest of the answer. People sometimes call an invented AI detail a hallucination. My earlier deck uses that term on page 59. The practical response is to compare it with the original information. Asking AI to say how confident it feels does not supply the missing evidence. Asking it to review its own answer can help find problems, but a person still needs to check the facts.</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a:p xmlns:a="http://schemas.openxmlformats.org/drawingml/2006/main">
            <a:r>
              <a:t/>
            </a:r>
          </a:p>
          <a:p xmlns:a="http://schemas.openxmlformats.org/drawingml/2006/main">
            <a:r>
              <a:t>Source: ChatGPT prompting guide</a:t>
            </a:r>
          </a:p>
          <a:p xmlns:a="http://schemas.openxmlformats.org/drawingml/2006/main">
            <a:r>
              <a:t>https://learn.chatgpt.com/docs/prompting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packet is a folder of small files you can open and inspect. CSV holds a simple table, with one row per record. Markdown, usually ending in dot md, is ordinary text with simple marks for headings or lists. TXT is plain text. A PDF preserves a document’s page layout. This builds on the file examples on pages 27 to 30 of my earlier deck. There is no single file type that guarantees AI will read everything correctly. If a file cannot be read, stop that part of the task and say what is missing. In our packet, the listed pretend PDFs are not included; the actual exercise uses the small text and CSV files.</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a:p xmlns:a="http://schemas.openxmlformats.org/drawingml/2006/main">
            <a:r>
              <a:t/>
            </a:r>
          </a:p>
          <a:p xmlns:a="http://schemas.openxmlformats.org/drawingml/2006/main">
            <a:r>
              <a:t>Source: ChatGPT prompting guide</a:t>
            </a:r>
          </a:p>
          <a:p xmlns:a="http://schemas.openxmlformats.org/drawingml/2006/main">
            <a:r>
              <a:t>https://learn.chatgpt.com/docs/prompting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supply real applicant information, I need to know which account, tool, and task my organization allows. Removing names is not enough, because stories, schools, or other details may identify a person. I will use made-up information for every demonstration today. AI can help prepare a list of questions or point out a late date. A staff member checks the actual records and applies the organization’s rules. Staff also own final scores and award decisions. The picture shows the relationship I want: the computer supplies a checklist, and the person checks it before making a decision.</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 to explain these labels before we use the packet. A17 is a made-up applicant code, not a person you are expected to recognize. A18 and A19 represent two other made-up applicants. The same code appears across the files so we can connect each person’s records without using a name. For example, A17-transcript dot pdf means the transcript file associated with applicant A17. Using a code can reduce direct identification, but it does not remove every identifying detail in a real application. Our workshop files contain made-up information, so no actual applicant is involved.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Manifest is another word that can sound more complicated than it is. Here it means a file list. Our manifest lists pretend filenames for each applicant. Seeing A17-transcript dot pdf on the list tells us that the name appears there. It does not tell us what grades are in that transcript or whether the transcript meets a requirement. In fact, those pretend PDFs are not included. We are practicing how to organize a list and identify questions for staff. I will stop any answer that claims to have read one of those unavailable documents.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rubric is a scoring guide. A criterion is one part of that guide, such as community contribution. An anchor describes the evidence needed for a particular score. Evidence is the original information supporting the judgment, and we need to know where to find it. A provisional score is a suggestion that a person must check; it is not a final decision. I will use these words on the practice page because they appear in the saved prompts. When we reach the scoring exercise, I will show the whole guide so nobody needs to guess what the scores mean.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can connect the introductory ideas with the office examples. The first task organizes filenames for each applicant. The second compares the listed items and dates with the made-up program rules. The third compares applicant statements with one part of a scoring guide. Each task has its own prompt and named input files. I will start a separate chat for each task so we can see what information it uses. The practice page has copyable prompts and prepared examples if a live run is unavailable. Those examples are teaching material, not proof of what a model will produce.</a:t>
            </a:r>
          </a:p>
          <a:p xmlns:a="http://schemas.openxmlformats.org/drawingml/2006/main">
            <a:r>
              <a:t/>
            </a:r>
          </a:p>
          <a:p xmlns:a="http://schemas.openxmlformats.org/drawingml/2006/main">
            <a:r>
              <a:t>Resource: https://mguhlin.github.io/nspa/2026/prompting/demos.html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download and unzip the practice packet first. For a basic run, I can open a fresh ChatGPT chat, paste the shared instructions, and add only the files named for that demonstration. Then I copy the task prompt and send it. If the account offers Projects, I can keep the same instructions and files together in a practice Project; I will explain that after the demonstrations. A Project is optional for getting started. The important part is making the named sources available and checking the answer against them. I will never upload real applicant information in this workshop.</a:t>
            </a:r>
          </a:p>
          <a:p xmlns:a="http://schemas.openxmlformats.org/drawingml/2006/main">
            <a:r>
              <a:t/>
            </a:r>
          </a:p>
          <a:p xmlns:a="http://schemas.openxmlformats.org/drawingml/2006/main">
            <a:r>
              <a:t>Resource: https://mguhlin.github.io/nspa/2026/prompting/demos.html#setup</a:t>
            </a:r>
          </a:p>
          <a:p xmlns:a="http://schemas.openxmlformats.org/drawingml/2006/main">
            <a:r>
              <a:t/>
            </a:r>
          </a:p>
          <a:p xmlns:a="http://schemas.openxmlformats.org/drawingml/2006/main">
            <a:r>
              <a:t>Source: ChatGPT Projects</a:t>
            </a:r>
          </a:p>
          <a:p xmlns:a="http://schemas.openxmlformats.org/drawingml/2006/main">
            <a:r>
              <a:t>https://learn.chatgpt.com/docs/projects?surface=app</a:t>
            </a:r>
          </a:p>
          <a:p xmlns:a="http://schemas.openxmlformats.org/drawingml/2006/main">
            <a:r>
              <a:t/>
            </a:r>
          </a:p>
          <a:p xmlns:a="http://schemas.openxmlformats.org/drawingml/2006/main">
            <a:r>
              <a:t>Source: ChatGPT prompting guide</a:t>
            </a:r>
          </a:p>
          <a:p xmlns:a="http://schemas.openxmlformats.org/drawingml/2006/main">
            <a:r>
              <a:t>https://learn.chatgpt.com/docs/prompting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the plain-language task. The practice page has the full prompt, including the fields and limits. I will attach manifest dot csv and applications dot csv, then copy that full prompt. We expect one row for each of the three applicant codes. We also expect every one of the twelve entries on the file list to remain accounted for. AI may point out a missing listing, but it cannot tell us that an unavailable document meets the rules. I will ask participants to count the applicant codes and check one row against the original list.</a:t>
            </a:r>
          </a:p>
          <a:p xmlns:a="http://schemas.openxmlformats.org/drawingml/2006/main">
            <a:r>
              <a:t/>
            </a:r>
          </a:p>
          <a:p xmlns:a="http://schemas.openxmlformats.org/drawingml/2006/main">
            <a:r>
              <a:t>Resource: https://mguhlin.github.io/nspa/2026/prompting/demos.html#organize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highlights what to check in the organization result. It is a shortened prepared example, not the complete inventory and not a captured AI response. The full prepared example on the practice page includes source locations. A17 has the required document types listed. A18 has no reference listed. A19 has no transcript listed and has an exception request, meaning a request for extra time or another allowed change. The complete inventory should still preserve the other listed files, including each application record. I will open the original list and verify those statements with the group.</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second demonstration, I will add the program rules as well as the file list and application records. The made-up deadline is October 1, 2026. The rules require a statement, a transcript, and at least one reference. The task is to compare the records with those rules and flag questions. It is not to accept or reject applications. I will look for the exact rule and the row supporting each concern. If the tool cannot read a file, it needs to identify that problem rather than continue as if it had seen the contents.</a:t>
            </a:r>
          </a:p>
          <a:p xmlns:a="http://schemas.openxmlformats.org/drawingml/2006/main">
            <a:r>
              <a:t/>
            </a:r>
          </a:p>
          <a:p xmlns:a="http://schemas.openxmlformats.org/drawingml/2006/main">
            <a:r>
              <a:t>Resource: https://mguhlin.github.io/nspa/2026/prompting/demos.html#completeness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focus on A19, our made-up applicant who submitted after the deadline and requested an exception. The recorded date is October 2. AI can report that the date is later than October 1 and that an exception request exists. It can also report that the file list has no transcript entry. A staff member must check the actual records and decide whether the rules allow extra time or another exception. I will watch for an answer that rejects A19 automatically. That would go beyond the task, even if the tool copied the date correctly.</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made-up scoring guide for the third demonstration. Zero means the statement describes no relevant activity. One means an activity appears, but the applicant’s role is unclear. Two means the applicant describes a specific contribution. Three requires that contribution and a supported result. The guide judges contribution, so polished language alone does not earn extra points. I will read these descriptions aloud before asking for any score. We need the actual descriptions available to the model, and a human reviewer must check the suggested match against both the guide and the original statement.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supply the statements and the complete rubric, then copy the full prompt from the practice page. We are comparing A17 and A18, which are our made-up applicant codes. I want the original quotation, its section, the suggested score, and an explanation using the guide. I also want to know what evidence is missing for the next score. The prompt calls the score provisional, which means a person must check it. We should not infer character or rank the applicants from these excerpts. I will verify each quoted word before discussing the suggested score.</a:t>
            </a:r>
          </a:p>
          <a:p xmlns:a="http://schemas.openxmlformats.org/drawingml/2006/main">
            <a:r>
              <a:t/>
            </a:r>
          </a:p>
          <a:p xmlns:a="http://schemas.openxmlformats.org/drawingml/2006/main">
            <a:r>
              <a:t>Resource: https://mguhlin.github.io/nspa/2026/prompting/demos.html#rubric</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statements use different wording for equivalent contribution evidence. Both describe twelve tutoring sessions or days and recruiting two volunteers. Under this guide, both support a suggested score of two. Neither excerpt supplies a supported result, so we do not have the evidence needed for three. The comparison is prepared teaching material, and these shortened phrases are summaries; the original wording is in statements dot md. I will compare the actual quotations there. If AI gives different scores, I will ask which fact in the contribution guide explains the difference. Writing polish alone cannot supply a greater contribution.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Project is a way to keep related work together. Instead of providing the same practice files and standing instructions in every new chat, I can put them in a practice Project when the account supports that feature. Each task can still have its own chat. The Project does not guarantee that the answer is correct, and it does not give us permission to upload applicant data. I will use the fictional packet and name the sources needed for each task. If Projects are unavailable, the fresh-chat method we already used remains a useful way to practice.</a:t>
            </a:r>
          </a:p>
          <a:p xmlns:a="http://schemas.openxmlformats.org/drawingml/2006/main">
            <a:r>
              <a:t/>
            </a:r>
          </a:p>
          <a:p xmlns:a="http://schemas.openxmlformats.org/drawingml/2006/main">
            <a:r>
              <a:t>Source: ChatGPT Projects</a:t>
            </a:r>
          </a:p>
          <a:p xmlns:a="http://schemas.openxmlformats.org/drawingml/2006/main">
            <a:r>
              <a:t>https://learn.chatgpt.com/docs/projects?surface=app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Instructions are rules for how the work should happen. This short example explains the most important ideas in the complete practice instructions. A prompt tells the tool what I need on this occasion. Project instructions keep relevant rules with the ongoing practice work. Personal custom instructions can express preferences across chats, but private program details should stay with the appropriate task or Project. I will inspect every answer even when instructions are saved. If a source document contains a request to ignore our rules, that is part of the source text to examine, not permission to change the review process.</a:t>
            </a:r>
          </a:p>
          <a:p xmlns:a="http://schemas.openxmlformats.org/drawingml/2006/main">
            <a:r>
              <a:t/>
            </a:r>
          </a:p>
          <a:p xmlns:a="http://schemas.openxmlformats.org/drawingml/2006/main">
            <a:r>
              <a:t>Resource: https://mguhlin.github.io/nspa/2026/prompting/demos.html#setup</a:t>
            </a:r>
          </a:p>
          <a:p xmlns:a="http://schemas.openxmlformats.org/drawingml/2006/main">
            <a:r>
              <a:t/>
            </a:r>
          </a:p>
          <a:p xmlns:a="http://schemas.openxmlformats.org/drawingml/2006/main">
            <a:r>
              <a:t>Source: ChatGPT prompting guide</a:t>
            </a:r>
          </a:p>
          <a:p xmlns:a="http://schemas.openxmlformats.org/drawingml/2006/main">
            <a:r>
              <a:t>https://learn.chatgpt.com/docs/prompting</a:t>
            </a:r>
          </a:p>
          <a:p xmlns:a="http://schemas.openxmlformats.org/drawingml/2006/main">
            <a:r>
              <a:t/>
            </a:r>
          </a:p>
          <a:p xmlns:a="http://schemas.openxmlformats.org/drawingml/2006/main">
            <a:r>
              <a:t>Source: ChatGPT Projects</a:t>
            </a:r>
          </a:p>
          <a:p xmlns:a="http://schemas.openxmlformats.org/drawingml/2006/main">
            <a:r>
              <a:t>https://learn.chatgpt.com/docs/projects?surface=app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think of a skill as a reusable recipe. This builds on the reusable-instruction steps on pages 61, 62, and 70 of my earlier deck. It describes what information is needed, how to carry out the task, and how to check the result. Our evidence-review skill asks for a statement and a scoring guide, then returns quotations, a suggested match, and missing information for a person to check. We can try the written procedure manually in a chat. Tools differ in how they install and run skills, so I do not assume one installation method works everywhere. Before relying on it, I will try known examples, missing information, and a misleading instruction inside a source.</a:t>
            </a:r>
          </a:p>
          <a:p xmlns:a="http://schemas.openxmlformats.org/drawingml/2006/main">
            <a:r>
              <a:t/>
            </a:r>
          </a:p>
          <a:p xmlns:a="http://schemas.openxmlformats.org/drawingml/2006/main">
            <a:r>
              <a:t>Resource: https://mguhlin.github.io/nspa/2026/prompting/demos.html#skill</a:t>
            </a:r>
          </a:p>
          <a:p xmlns:a="http://schemas.openxmlformats.org/drawingml/2006/main">
            <a:r>
              <a:t/>
            </a:r>
          </a:p>
          <a:p xmlns:a="http://schemas.openxmlformats.org/drawingml/2006/main">
            <a:r>
              <a:t>Source: Building skills in ChatGPT</a:t>
            </a:r>
          </a:p>
          <a:p xmlns:a="http://schemas.openxmlformats.org/drawingml/2006/main">
            <a:r>
              <a:t>https://learn.chatgpt.com/docs/build-skills</a:t>
            </a:r>
          </a:p>
          <a:p xmlns:a="http://schemas.openxmlformats.org/drawingml/2006/main">
            <a:r>
              <a:t/>
            </a:r>
          </a:p>
          <a:p xmlns:a="http://schemas.openxmlformats.org/drawingml/2006/main">
            <a:r>
              <a:t>Source: The Skills Library</a:t>
            </a:r>
          </a:p>
          <a:p xmlns:a="http://schemas.openxmlformats.org/drawingml/2006/main">
            <a:r>
              <a:t>https://mguhlin.github.io/creations/architect/skills/</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review process also needs clear expectations for applicants. We should publish what kinds of help are allowed and how applicants should disclose that help. If a detection tool flags an essay, the flag does not prove who wrote it or that a rule was broken. An unflagged essay is not proof either. Staff should examine the concern under the published policy, give the applicant a fair chance to explain, and record the decision. The practice page includes sample language for local discussion. Each organization still needs to decide its own rules and how someone can request another review.</a:t>
            </a:r>
          </a:p>
          <a:p xmlns:a="http://schemas.openxmlformats.org/drawingml/2006/main">
            <a:r>
              <a:t/>
            </a:r>
          </a:p>
          <a:p xmlns:a="http://schemas.openxmlformats.org/drawingml/2006/main">
            <a:r>
              <a:t>Resource: https://mguhlin.github.io/nspa/2026/prompting/demos.html#policy</a:t>
            </a:r>
          </a:p>
          <a:p xmlns:a="http://schemas.openxmlformats.org/drawingml/2006/main">
            <a:r>
              <a:t/>
            </a:r>
          </a:p>
          <a:p xmlns:a="http://schemas.openxmlformats.org/drawingml/2006/main">
            <a:r>
              <a:t>Source: Turnitin AI Writing Report guidance</a:t>
            </a:r>
          </a:p>
          <a:p xmlns:a="http://schemas.openxmlformats.org/drawingml/2006/main">
            <a:r>
              <a:t>https://guides.turnitin.com/hc/en-us/articles/22774058814093-Using-the-AI-Writing-Report</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invite you to choose one small task to try after the session. You can use the reminder example, the file-list demonstration, or one statement and the scoring guide. Write down the result you want and what you will check before you send the request. After the answer appears, compare it with the original. Keep a note of anything you changed, including a false detail, a missing item, or an unclear instruction. Then try again with that improvement. You can revisit the self-check and choose one next step. There is no need to master every feature before practicing one useful task.</a:t>
            </a:r>
          </a:p>
          <a:p xmlns:a="http://schemas.openxmlformats.org/drawingml/2006/main">
            <a:r>
              <a:t/>
            </a:r>
          </a:p>
          <a:p xmlns:a="http://schemas.openxmlformats.org/drawingml/2006/main">
            <a:r>
              <a:t>Resource: https://mguhlin.github.io/nspa/2026/assessment.html</a:t>
            </a:r>
          </a:p>
          <a:p xmlns:a="http://schemas.openxmlformats.org/drawingml/2006/main">
            <a:r>
              <a:t/>
            </a:r>
          </a:p>
          <a:p xmlns:a="http://schemas.openxmlformats.org/drawingml/2006/main">
            <a:r>
              <a:t>Source: Creating with Generative AI — Miguel Guhlin</a:t>
            </a:r>
          </a:p>
          <a:p xmlns:a="http://schemas.openxmlformats.org/drawingml/2006/main">
            <a:r>
              <a:t>https://drive.google.com/file/d/1xQLXylvdtJVG775282uvm2uYgJnO609z/view</a:t>
            </a:r>
          </a:p>
          <a:p xmlns:a="http://schemas.openxmlformats.org/drawingml/2006/main">
            <a:r>
              <a:t/>
            </a:r>
          </a:p>
          <a:p xmlns:a="http://schemas.openxmlformats.org/drawingml/2006/main">
            <a:r>
              <a:t>Source: ChatGPT prompting guide</a:t>
            </a:r>
          </a:p>
          <a:p xmlns:a="http://schemas.openxmlformats.org/drawingml/2006/main">
            <a:r>
              <a:t>https://learn.chatgpt.com/docs/prompting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participant page contains the presentation PDF, a word guide, the three demonstrations, and the fictional practice packet. Each demonstration names the files it needs, supplies a copyable prompt, and includes a prepared example for comparison. The awareness self-check gives a small next step if you want more practice. The QR code leads to the broader NSPA resource post, and the direct practice link opens this collection. You can also explore The Prompt Library and The Skills Library when you want more examples. I encourage you to begin with one task whose answer you can check, then build from what you learn.</a:t>
            </a:r>
          </a:p>
          <a:p xmlns:a="http://schemas.openxmlformats.org/drawingml/2006/main">
            <a:r>
              <a:t/>
            </a:r>
          </a:p>
          <a:p xmlns:a="http://schemas.openxmlformats.org/drawingml/2006/main">
            <a:r>
              <a:t>Resource: https://mguhlin.github.io/nspa/2026/prompting/</a:t>
            </a:r>
          </a:p>
          <a:p xmlns:a="http://schemas.openxmlformats.org/drawingml/2006/main">
            <a:r>
              <a:t/>
            </a:r>
          </a:p>
          <a:p xmlns:a="http://schemas.openxmlformats.org/drawingml/2006/main">
            <a:r>
              <a:t>Source: The Prompt Library</a:t>
            </a:r>
          </a:p>
          <a:p xmlns:a="http://schemas.openxmlformats.org/drawingml/2006/main">
            <a:r>
              <a:t>https://mguhlin.github.io/creations/architect/index.html</a:t>
            </a:r>
          </a:p>
          <a:p xmlns:a="http://schemas.openxmlformats.org/drawingml/2006/main">
            <a:r>
              <a:t/>
            </a:r>
          </a:p>
          <a:p xmlns:a="http://schemas.openxmlformats.org/drawingml/2006/main">
            <a:r>
              <a:t>Source: The Skills Library</a:t>
            </a:r>
          </a:p>
          <a:p xmlns:a="http://schemas.openxmlformats.org/drawingml/2006/main">
            <a:r>
              <a:t>https://mguhlin.github.io/creations/architect/skills/</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e947fcb23e4b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e535c361934e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95d442e99746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3f3ac6a85647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0b32f8b1f043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daf42f2252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3AB291-1659-4A6E-BE3E-8874E4199F0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56DE53-D0FA-4931-BB36-1C272AE6DC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B18932-AD6E-4DCF-940B-E5CFC79283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6BF05D-22F2-4735-A245-DEC7E42DB8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603866-32CF-4855-89A6-AA0326F7F1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B8B7F05-73DC-40E6-9867-57AF113DD1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0E7D4A-4922-4353-AC71-9CBA3392DB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031387-0BC6-4544-B385-B06798E616D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1B4758-70D8-44A3-8349-7C903E4259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DDA49C-51AD-4F1A-B592-0D71317DD4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db69fd98a44447" /><Relationship Type="http://schemas.openxmlformats.org/officeDocument/2006/relationships/slideLayout" Target="/ppt/slideLayouts/slideLayout1.xml" Id="Rfb78076d4c264477" /><Relationship Type="http://schemas.openxmlformats.org/officeDocument/2006/relationships/slideLayout" Target="/ppt/slideLayouts/slideLayout2.xml" Id="R5bbb9ac8a1274532" /><Relationship Type="http://schemas.openxmlformats.org/officeDocument/2006/relationships/slideLayout" Target="/ppt/slideLayouts/slideLayout3.xml" Id="Rf934e727edb746cc" /><Relationship Type="http://schemas.openxmlformats.org/officeDocument/2006/relationships/slideLayout" Target="/ppt/slideLayouts/slideLayout4.xml" Id="Rb0169ad59cd54221" /><Relationship Type="http://schemas.openxmlformats.org/officeDocument/2006/relationships/slideLayout" Target="/ppt/slideLayouts/slideLayout5.xml" Id="R04f9fa1b0203425d" /><Relationship Type="http://schemas.openxmlformats.org/officeDocument/2006/relationships/slideLayout" Target="/ppt/slideLayouts/slideLayout6.xml" Id="R0cd8039c5e4a47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78076d4c264477"/>
    <p:sldLayoutId xmlns:r="http://schemas.openxmlformats.org/officeDocument/2006/relationships" id="2147483650" r:id="R5bbb9ac8a1274532"/>
    <p:sldLayoutId xmlns:r="http://schemas.openxmlformats.org/officeDocument/2006/relationships" id="2147483651" r:id="Rf934e727edb746cc"/>
    <p:sldLayoutId xmlns:r="http://schemas.openxmlformats.org/officeDocument/2006/relationships" id="2147483652" r:id="Rb0169ad59cd54221"/>
    <p:sldLayoutId xmlns:r="http://schemas.openxmlformats.org/officeDocument/2006/relationships" id="2147483653" r:id="R04f9fa1b0203425d"/>
    <p:sldLayoutId xmlns:r="http://schemas.openxmlformats.org/officeDocument/2006/relationships" id="2147483654" r:id="R0cd8039c5e4a47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f7ca25ce9645fd" /><Relationship Type="http://schemas.openxmlformats.org/officeDocument/2006/relationships/image" Target="/ppt/media/image.png" Id="Rc8e2ce9db4d74f9c" /><Relationship Type="http://schemas.openxmlformats.org/officeDocument/2006/relationships/notesSlide" Target="/ppt/notesSlides/notesSlide1.xml" Id="R6f6d7947ebd945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123da07db44a85" /><Relationship Type="http://schemas.openxmlformats.org/officeDocument/2006/relationships/image" Target="/ppt/media/image2.png" Id="Rc380ccd2b10b404e" /><Relationship Type="http://schemas.openxmlformats.org/officeDocument/2006/relationships/hyperlink" Target="https://mguhlin.github.io/nspa/2026/assessment.html" TargetMode="External" Id="Rddb674d70a954c68" /><Relationship Type="http://schemas.openxmlformats.org/officeDocument/2006/relationships/notesSlide" Target="/ppt/notesSlides/notesSlide2.xml" Id="R34c38cb9e8df4f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bdfa96b25946b6" /><Relationship Type="http://schemas.openxmlformats.org/officeDocument/2006/relationships/image" Target="/ppt/media/image3.png" Id="Rb7b24686e1d14429" /><Relationship Type="http://schemas.openxmlformats.org/officeDocument/2006/relationships/image" Target="/ppt/media/image.bin" Id="R8688246b78964a8b" /><Relationship Type="http://schemas.openxmlformats.org/officeDocument/2006/relationships/notesSlide" Target="/ppt/notesSlides/notesSlide3.xml" Id="Rcb00b4666c3045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dc5e660b2b4f5e" /><Relationship Type="http://schemas.openxmlformats.org/officeDocument/2006/relationships/image" Target="/ppt/media/image4.png" Id="R02f7ea62013d421f" /><Relationship Type="http://schemas.openxmlformats.org/officeDocument/2006/relationships/notesSlide" Target="/ppt/notesSlides/notesSlide4.xml" Id="Rc35ac04d2d6847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84551fb2eb4c5f" /><Relationship Type="http://schemas.openxmlformats.org/officeDocument/2006/relationships/image" Target="/ppt/media/image5.png" Id="R891446bd5abb4a0e" /><Relationship Type="http://schemas.openxmlformats.org/officeDocument/2006/relationships/hyperlink" Target="https://mguhlin.github.io/nspa/2026/prompting/demos.html#first-prompt" TargetMode="External" Id="R2c397b03561b45c6" /><Relationship Type="http://schemas.openxmlformats.org/officeDocument/2006/relationships/notesSlide" Target="/ppt/notesSlides/notesSlide5.xml" Id="R0c949fc2497f45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1896790ccc4c62" /><Relationship Type="http://schemas.openxmlformats.org/officeDocument/2006/relationships/image" Target="/ppt/media/image6.png" Id="R8100a52ff0854c9c" /><Relationship Type="http://schemas.openxmlformats.org/officeDocument/2006/relationships/notesSlide" Target="/ppt/notesSlides/notesSlide6.xml" Id="R3e3c65b2e72b48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f1ce4bfe814417" /><Relationship Type="http://schemas.openxmlformats.org/officeDocument/2006/relationships/image" Target="/ppt/media/image7.png" Id="R68620201c0a54c89" /><Relationship Type="http://schemas.openxmlformats.org/officeDocument/2006/relationships/notesSlide" Target="/ppt/notesSlides/notesSlide7.xml" Id="R33534082a8fa45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bee59948334455" /><Relationship Type="http://schemas.openxmlformats.org/officeDocument/2006/relationships/image" Target="/ppt/media/image8.png" Id="R5ab6acf7fd80410d" /><Relationship Type="http://schemas.openxmlformats.org/officeDocument/2006/relationships/notesSlide" Target="/ppt/notesSlides/notesSlide8.xml" Id="R7bf5fb7dbca949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ace8d1dc044d40" /><Relationship Type="http://schemas.openxmlformats.org/officeDocument/2006/relationships/image" Target="/ppt/media/image9.png" Id="R7540c24b8d224a4a" /><Relationship Type="http://schemas.openxmlformats.org/officeDocument/2006/relationships/notesSlide" Target="/ppt/notesSlides/notesSlide9.xml" Id="Rbb9b091230a04d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89c7705e0664ab9" /><Relationship Type="http://schemas.openxmlformats.org/officeDocument/2006/relationships/image" Target="/ppt/media/image10.png" Id="Rb48f6836151c485b" /><Relationship Type="http://schemas.openxmlformats.org/officeDocument/2006/relationships/notesSlide" Target="/ppt/notesSlides/notesSlide10.xml" Id="Rce299a421d6344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054335ac6d49c2" /><Relationship Type="http://schemas.openxmlformats.org/officeDocument/2006/relationships/image" Target="/ppt/media/image11.png" Id="Rf248ab2a9a6d4b7f" /><Relationship Type="http://schemas.openxmlformats.org/officeDocument/2006/relationships/image" Target="/ppt/media/image2.bin" Id="Rd487a94d47dd40b0" /><Relationship Type="http://schemas.openxmlformats.org/officeDocument/2006/relationships/notesSlide" Target="/ppt/notesSlides/notesSlide11.xml" Id="R1a1202d3619f4b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c5acc57d514588" /><Relationship Type="http://schemas.openxmlformats.org/officeDocument/2006/relationships/image" Target="/ppt/media/image12.png" Id="Rb598ef1c1da246aa" /><Relationship Type="http://schemas.openxmlformats.org/officeDocument/2006/relationships/notesSlide" Target="/ppt/notesSlides/notesSlide12.xml" Id="R5b91a37b193848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9610905140a4a15" /><Relationship Type="http://schemas.openxmlformats.org/officeDocument/2006/relationships/image" Target="/ppt/media/image13.png" Id="R5af16b5060444b91" /><Relationship Type="http://schemas.openxmlformats.org/officeDocument/2006/relationships/image" Target="/ppt/media/image3.bin" Id="Rc9f72e180542414c" /><Relationship Type="http://schemas.openxmlformats.org/officeDocument/2006/relationships/notesSlide" Target="/ppt/notesSlides/notesSlide13.xml" Id="R24f7817e7c2f43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56c9012b5064483" /><Relationship Type="http://schemas.openxmlformats.org/officeDocument/2006/relationships/image" Target="/ppt/media/image14.png" Id="R94bf4a08f7e54fb0" /><Relationship Type="http://schemas.openxmlformats.org/officeDocument/2006/relationships/image" Target="/ppt/media/image4.bin" Id="R21eb729685434db1" /><Relationship Type="http://schemas.openxmlformats.org/officeDocument/2006/relationships/notesSlide" Target="/ppt/notesSlides/notesSlide14.xml" Id="R1b82a72778a245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38f8ca271b0490e" /><Relationship Type="http://schemas.openxmlformats.org/officeDocument/2006/relationships/image" Target="/ppt/media/image15.png" Id="R255638f7d3004961" /><Relationship Type="http://schemas.openxmlformats.org/officeDocument/2006/relationships/image" Target="/ppt/media/image5.bin" Id="R94e930dc02da40a2" /><Relationship Type="http://schemas.openxmlformats.org/officeDocument/2006/relationships/notesSlide" Target="/ppt/notesSlides/notesSlide15.xml" Id="R05a9a05399a443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c2bf68a81cd4be6" /><Relationship Type="http://schemas.openxmlformats.org/officeDocument/2006/relationships/image" Target="/ppt/media/image16.png" Id="R2cbe73d40daa429c" /><Relationship Type="http://schemas.openxmlformats.org/officeDocument/2006/relationships/notesSlide" Target="/ppt/notesSlides/notesSlide16.xml" Id="Rc992a9ae5d894f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86df7a2a4384298" /><Relationship Type="http://schemas.openxmlformats.org/officeDocument/2006/relationships/image" Target="/ppt/media/image17.png" Id="R71a06f701b9b47e2" /><Relationship Type="http://schemas.openxmlformats.org/officeDocument/2006/relationships/hyperlink" Target="https://mguhlin.github.io/nspa/2026/prompting/demos.html" TargetMode="External" Id="Rf500a291530b41fb" /><Relationship Type="http://schemas.openxmlformats.org/officeDocument/2006/relationships/notesSlide" Target="/ppt/notesSlides/notesSlide17.xml" Id="R4ad297b0d01b41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d88ca514766417d" /><Relationship Type="http://schemas.openxmlformats.org/officeDocument/2006/relationships/image" Target="/ppt/media/image18.png" Id="R05910557d35d4a40" /><Relationship Type="http://schemas.openxmlformats.org/officeDocument/2006/relationships/hyperlink" Target="https://mguhlin.github.io/nspa/2026/prompting/demos.html#setup" TargetMode="External" Id="R27bcb3f077024384" /><Relationship Type="http://schemas.openxmlformats.org/officeDocument/2006/relationships/notesSlide" Target="/ppt/notesSlides/notesSlide18.xml" Id="Rd328774c67d74c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01a6a074c9d409d" /><Relationship Type="http://schemas.openxmlformats.org/officeDocument/2006/relationships/image" Target="/ppt/media/image19.png" Id="R4f4b0de22b14440c" /><Relationship Type="http://schemas.openxmlformats.org/officeDocument/2006/relationships/hyperlink" Target="https://mguhlin.github.io/nspa/2026/prompting/demos.html#organize" TargetMode="External" Id="R4f62266534884fd7" /><Relationship Type="http://schemas.openxmlformats.org/officeDocument/2006/relationships/notesSlide" Target="/ppt/notesSlides/notesSlide19.xml" Id="R8fee7396b2b24f2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33a72f1252c4213" /><Relationship Type="http://schemas.openxmlformats.org/officeDocument/2006/relationships/image" Target="/ppt/media/image20.png" Id="Rcb1fad9ff88c4ee5" /><Relationship Type="http://schemas.openxmlformats.org/officeDocument/2006/relationships/notesSlide" Target="/ppt/notesSlides/notesSlide20.xml" Id="R5a6e5ed88e584a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5c86de2e30549ad" /><Relationship Type="http://schemas.openxmlformats.org/officeDocument/2006/relationships/image" Target="/ppt/media/image21.png" Id="Re48a61a6861742ca" /><Relationship Type="http://schemas.openxmlformats.org/officeDocument/2006/relationships/hyperlink" Target="https://mguhlin.github.io/nspa/2026/prompting/demos.html#completeness" TargetMode="External" Id="R7fb859cd37ab47b1" /><Relationship Type="http://schemas.openxmlformats.org/officeDocument/2006/relationships/notesSlide" Target="/ppt/notesSlides/notesSlide21.xml" Id="R91a6b89c7f9140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617ee7daaa940dc" /><Relationship Type="http://schemas.openxmlformats.org/officeDocument/2006/relationships/image" Target="/ppt/media/image22.png" Id="R48c0bcc9f11a4464" /><Relationship Type="http://schemas.openxmlformats.org/officeDocument/2006/relationships/notesSlide" Target="/ppt/notesSlides/notesSlide22.xml" Id="R4f0c4acaf2144f3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a82f3c1cf8e4f89" /><Relationship Type="http://schemas.openxmlformats.org/officeDocument/2006/relationships/image" Target="/ppt/media/image23.png" Id="Rb58714da792b4b3e" /><Relationship Type="http://schemas.openxmlformats.org/officeDocument/2006/relationships/notesSlide" Target="/ppt/notesSlides/notesSlide23.xml" Id="Rc0148c5bcfd14c4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a9d040d87c24c74" /><Relationship Type="http://schemas.openxmlformats.org/officeDocument/2006/relationships/image" Target="/ppt/media/image24.png" Id="Rbf690bc6c0b247fd" /><Relationship Type="http://schemas.openxmlformats.org/officeDocument/2006/relationships/hyperlink" Target="https://mguhlin.github.io/nspa/2026/prompting/demos.html#rubric" TargetMode="External" Id="R2eb3af8c108f4615" /><Relationship Type="http://schemas.openxmlformats.org/officeDocument/2006/relationships/notesSlide" Target="/ppt/notesSlides/notesSlide24.xml" Id="R525e292a553147a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26b1ef822464d64" /><Relationship Type="http://schemas.openxmlformats.org/officeDocument/2006/relationships/image" Target="/ppt/media/image25.png" Id="R2b0d0cd48895478f" /><Relationship Type="http://schemas.openxmlformats.org/officeDocument/2006/relationships/notesSlide" Target="/ppt/notesSlides/notesSlide25.xml" Id="R12f2c75eeea544c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a45f9daba3b442e" /><Relationship Type="http://schemas.openxmlformats.org/officeDocument/2006/relationships/image" Target="/ppt/media/image26.png" Id="R6d0f8b69819144d7" /><Relationship Type="http://schemas.openxmlformats.org/officeDocument/2006/relationships/notesSlide" Target="/ppt/notesSlides/notesSlide26.xml" Id="Rb7dafdf0a1b64a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94dceb9112448f5" /><Relationship Type="http://schemas.openxmlformats.org/officeDocument/2006/relationships/image" Target="/ppt/media/image27.png" Id="Rbae4357d7b204395" /><Relationship Type="http://schemas.openxmlformats.org/officeDocument/2006/relationships/hyperlink" Target="https://mguhlin.github.io/nspa/2026/prompting/demos.html#setup" TargetMode="External" Id="Re0c4eae1e23741b6" /><Relationship Type="http://schemas.openxmlformats.org/officeDocument/2006/relationships/notesSlide" Target="/ppt/notesSlides/notesSlide27.xml" Id="R88cd65acf9cb482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492e81e7b554d98" /><Relationship Type="http://schemas.openxmlformats.org/officeDocument/2006/relationships/image" Target="/ppt/media/image28.png" Id="Rb09d5d02c307414c" /><Relationship Type="http://schemas.openxmlformats.org/officeDocument/2006/relationships/hyperlink" Target="https://mguhlin.github.io/nspa/2026/prompting/demos.html#skill" TargetMode="External" Id="R44492a57d811425f" /><Relationship Type="http://schemas.openxmlformats.org/officeDocument/2006/relationships/notesSlide" Target="/ppt/notesSlides/notesSlide28.xml" Id="Ra6f904167a154f3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ce04095425b4454" /><Relationship Type="http://schemas.openxmlformats.org/officeDocument/2006/relationships/image" Target="/ppt/media/image29.png" Id="R27ebad31cee44332" /><Relationship Type="http://schemas.openxmlformats.org/officeDocument/2006/relationships/hyperlink" Target="https://mguhlin.github.io/nspa/2026/prompting/demos.html#policy" TargetMode="External" Id="Ra12da2d28b1742f2" /><Relationship Type="http://schemas.openxmlformats.org/officeDocument/2006/relationships/notesSlide" Target="/ppt/notesSlides/notesSlide29.xml" Id="Rb4574b1c3f6d40f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2c279a660d74259" /><Relationship Type="http://schemas.openxmlformats.org/officeDocument/2006/relationships/image" Target="/ppt/media/image30.png" Id="R26641d452b4a4aac" /><Relationship Type="http://schemas.openxmlformats.org/officeDocument/2006/relationships/hyperlink" Target="https://mguhlin.github.io/nspa/2026/assessment.html" TargetMode="External" Id="R8505ab650d584bcb" /><Relationship Type="http://schemas.openxmlformats.org/officeDocument/2006/relationships/notesSlide" Target="/ppt/notesSlides/notesSlide30.xml" Id="R305a4fdbb1fb48e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9d849086b0f497a" /><Relationship Type="http://schemas.openxmlformats.org/officeDocument/2006/relationships/image" Target="/ppt/media/image31.png" Id="Ra1bc20c047bc4c57" /><Relationship Type="http://schemas.openxmlformats.org/officeDocument/2006/relationships/image" Target="/ppt/media/image32.png" Id="R4f66a95a3b454f30" /><Relationship Type="http://schemas.openxmlformats.org/officeDocument/2006/relationships/hyperlink" Target="https://mguhlin.github.io/nspa/2026/prompting/" TargetMode="External" Id="R6f57fdf0c91743f4" /><Relationship Type="http://schemas.openxmlformats.org/officeDocument/2006/relationships/notesSlide" Target="/ppt/notesSlides/notesSlide31.xml" Id="Rfd3a425821ca4f1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F4C4E80-C6D7-4C02-B03F-8CA88E7E7C84}"/>
              </a:ext>
            </a:extLst>
          </p:cNvPr>
          <p:cNvPicPr>
            <a:picLocks xmlns:a="http://schemas.openxmlformats.org/drawingml/2006/main" noChangeAspect="1"/>
          </p:cNvPicPr>
          <p:nvPr/>
        </p:nvPicPr>
        <p:blipFill>
          <a:blip xmlns:r="http://schemas.openxmlformats.org/officeDocument/2006/relationships" xmlns:a="http://schemas.openxmlformats.org/drawingml/2006/main" r:embed="Rc8e2ce9db4d74f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E26D360C-8F29-40B9-8C86-58C2D9A35E4F}"/>
              </a:ext>
            </a:extLst>
          </p:cNvPr>
          <p:cNvSpPr>
            <a:spLocks xmlns:a="http://schemas.openxmlformats.org/drawingml/2006/main" noGrp="1"/>
          </p:cNvSpPr>
          <p:nvPr/>
        </p:nvSpPr>
        <p:spPr>
          <a:xfrm xmlns:a="http://schemas.openxmlformats.org/drawingml/2006/main">
            <a:off x="609600" y="714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18EFC4D8-B6E2-4145-B1A0-CD31A95C0E88}"/>
              </a:ext>
            </a:extLst>
          </p:cNvPr>
          <p:cNvSpPr>
            <a:spLocks xmlns:a="http://schemas.openxmlformats.org/drawingml/2006/main" noGrp="1"/>
          </p:cNvSpPr>
          <p:nvPr/>
        </p:nvSpPr>
        <p:spPr>
          <a:xfrm xmlns:a="http://schemas.openxmlformats.org/drawingml/2006/main">
            <a:off x="609600" y="1381125"/>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2E4F66"/>
                </a:solidFill>
                <a:latin typeface="Poppins"/>
                <a:ea typeface="Poppins"/>
                <a:cs typeface="Poppins"/>
              </a:defRPr>
            </a:defPPr>
            <a:lvl1pPr>
              <a:defRPr sz="4800" b="1">
                <a:solidFill>
                  <a:srgbClr val="2E4F66"/>
                </a:solidFill>
                <a:latin typeface="Poppins"/>
                <a:ea typeface="Poppins"/>
                <a:cs typeface="Poppins"/>
              </a:defRPr>
            </a:lvl1pPr>
            <a:lvl2pPr>
              <a:defRPr sz="4800" b="1">
                <a:solidFill>
                  <a:srgbClr val="2E4F66"/>
                </a:solidFill>
                <a:latin typeface="Poppins"/>
                <a:ea typeface="Poppins"/>
                <a:cs typeface="Poppins"/>
              </a:defRPr>
            </a:lvl2pPr>
            <a:lvl3pPr>
              <a:defRPr sz="4800" b="1">
                <a:solidFill>
                  <a:srgbClr val="2E4F66"/>
                </a:solidFill>
                <a:latin typeface="Poppins"/>
                <a:ea typeface="Poppins"/>
                <a:cs typeface="Poppins"/>
              </a:defRPr>
            </a:lvl3pPr>
            <a:lvl4pPr>
              <a:defRPr sz="4800" b="1">
                <a:solidFill>
                  <a:srgbClr val="2E4F66"/>
                </a:solidFill>
                <a:latin typeface="Poppins"/>
                <a:ea typeface="Poppins"/>
                <a:cs typeface="Poppins"/>
              </a:defRPr>
            </a:lvl4pPr>
            <a:lvl5pPr>
              <a:defRPr sz="4800" b="1">
                <a:solidFill>
                  <a:srgbClr val="2E4F66"/>
                </a:solidFill>
                <a:latin typeface="Poppins"/>
                <a:ea typeface="Poppins"/>
                <a:cs typeface="Poppins"/>
              </a:defRPr>
            </a:lvl5pPr>
            <a:lvl6pPr>
              <a:defRPr sz="4800" b="1">
                <a:solidFill>
                  <a:srgbClr val="2E4F66"/>
                </a:solidFill>
                <a:latin typeface="Poppins"/>
                <a:ea typeface="Poppins"/>
                <a:cs typeface="Poppins"/>
              </a:defRPr>
            </a:lvl6pPr>
            <a:lvl7pPr>
              <a:defRPr sz="4800" b="1">
                <a:solidFill>
                  <a:srgbClr val="2E4F66"/>
                </a:solidFill>
                <a:latin typeface="Poppins"/>
                <a:ea typeface="Poppins"/>
                <a:cs typeface="Poppins"/>
              </a:defRPr>
            </a:lvl7pPr>
            <a:lvl8pPr>
              <a:defRPr sz="4800" b="1">
                <a:solidFill>
                  <a:srgbClr val="2E4F66"/>
                </a:solidFill>
                <a:latin typeface="Poppins"/>
                <a:ea typeface="Poppins"/>
                <a:cs typeface="Poppins"/>
              </a:defRPr>
            </a:lvl8pPr>
            <a:lvl9pPr>
              <a:defRPr sz="4800" b="1">
                <a:solidFill>
                  <a:srgbClr val="2E4F66"/>
                </a:solidFill>
                <a:latin typeface="Poppins"/>
                <a:ea typeface="Poppins"/>
                <a:cs typeface="Poppins"/>
              </a:defRPr>
            </a:lvl9pPr>
          </a:lstStyle>
          <a:p xmlns:a="http://schemas.openxmlformats.org/drawingml/2006/main">
            <a:pPr>
              <a:defRPr sz="4800" b="1">
                <a:solidFill>
                  <a:srgbClr val="2E4F66"/>
                </a:solidFill>
                <a:latin typeface="Poppins"/>
                <a:ea typeface="Poppins"/>
                <a:cs typeface="Poppins"/>
              </a:defRPr>
            </a:pPr>
            <a:r>
              <a:rPr sz="4800" b="1">
                <a:solidFill>
                  <a:srgbClr val="2E4F66"/>
                </a:solidFill>
                <a:latin typeface="Poppins"/>
                <a:ea typeface="Poppins"/>
                <a:cs typeface="Poppins"/>
              </a:rPr>
              <a:t>AI Prompting for Scholarship Review</a:t>
            </a:r>
          </a:p>
        </p:txBody>
      </p:sp>
      <p:sp>
        <p:nvSpPr>
          <p:cNvPr id="4" name="Text">
            <a:extLst xmlns:a="http://schemas.openxmlformats.org/drawingml/2006/main">
              <a:ext uri="{FF2B5EF4-FFF2-40B4-BE49-F238E27FC236}">
                <a16:creationId xmlns:a16="http://schemas.microsoft.com/office/drawing/2014/main" id="{14CADBD9-3765-49FE-B403-DAA616FB5ACC}"/>
              </a:ext>
            </a:extLst>
          </p:cNvPr>
          <p:cNvSpPr>
            <a:spLocks xmlns:a="http://schemas.openxmlformats.org/drawingml/2006/main" noGrp="1"/>
          </p:cNvSpPr>
          <p:nvPr/>
        </p:nvSpPr>
        <p:spPr>
          <a:xfrm xmlns:a="http://schemas.openxmlformats.org/drawingml/2006/main">
            <a:off x="609600" y="3095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Everyday language, clear examples, and practice in ChatGPT</a:t>
            </a:r>
          </a:p>
        </p:txBody>
      </p:sp>
      <p:sp>
        <p:nvSpPr>
          <p:cNvPr id="5" name="Supporting text">
            <a:extLst xmlns:a="http://schemas.openxmlformats.org/drawingml/2006/main">
              <a:ext uri="{FF2B5EF4-FFF2-40B4-BE49-F238E27FC236}">
                <a16:creationId xmlns:a16="http://schemas.microsoft.com/office/drawing/2014/main" id="{204093C3-8970-43A8-ACFC-1DF2DD85D5E7}"/>
              </a:ext>
            </a:extLst>
          </p:cNvPr>
          <p:cNvSpPr>
            <a:spLocks xmlns:a="http://schemas.openxmlformats.org/drawingml/2006/main" noGrp="1"/>
          </p:cNvSpPr>
          <p:nvPr/>
        </p:nvSpPr>
        <p:spPr>
          <a:xfrm xmlns:a="http://schemas.openxmlformats.org/drawingml/2006/main">
            <a:off x="609600" y="37147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E4F66"/>
                </a:solidFill>
                <a:latin typeface="Poppins"/>
                <a:ea typeface="Poppins"/>
                <a:cs typeface="Poppins"/>
              </a:defRPr>
            </a:defPPr>
            <a:lvl1pPr>
              <a:defRPr sz="2100" b="0">
                <a:solidFill>
                  <a:srgbClr val="2E4F66"/>
                </a:solidFill>
                <a:latin typeface="Poppins"/>
                <a:ea typeface="Poppins"/>
                <a:cs typeface="Poppins"/>
              </a:defRPr>
            </a:lvl1pPr>
            <a:lvl2pPr>
              <a:defRPr sz="2100" b="0">
                <a:solidFill>
                  <a:srgbClr val="2E4F66"/>
                </a:solidFill>
                <a:latin typeface="Poppins"/>
                <a:ea typeface="Poppins"/>
                <a:cs typeface="Poppins"/>
              </a:defRPr>
            </a:lvl2pPr>
            <a:lvl3pPr>
              <a:defRPr sz="2100" b="0">
                <a:solidFill>
                  <a:srgbClr val="2E4F66"/>
                </a:solidFill>
                <a:latin typeface="Poppins"/>
                <a:ea typeface="Poppins"/>
                <a:cs typeface="Poppins"/>
              </a:defRPr>
            </a:lvl3pPr>
            <a:lvl4pPr>
              <a:defRPr sz="2100" b="0">
                <a:solidFill>
                  <a:srgbClr val="2E4F66"/>
                </a:solidFill>
                <a:latin typeface="Poppins"/>
                <a:ea typeface="Poppins"/>
                <a:cs typeface="Poppins"/>
              </a:defRPr>
            </a:lvl4pPr>
            <a:lvl5pPr>
              <a:defRPr sz="2100" b="0">
                <a:solidFill>
                  <a:srgbClr val="2E4F66"/>
                </a:solidFill>
                <a:latin typeface="Poppins"/>
                <a:ea typeface="Poppins"/>
                <a:cs typeface="Poppins"/>
              </a:defRPr>
            </a:lvl5pPr>
            <a:lvl6pPr>
              <a:defRPr sz="2100" b="0">
                <a:solidFill>
                  <a:srgbClr val="2E4F66"/>
                </a:solidFill>
                <a:latin typeface="Poppins"/>
                <a:ea typeface="Poppins"/>
                <a:cs typeface="Poppins"/>
              </a:defRPr>
            </a:lvl6pPr>
            <a:lvl7pPr>
              <a:defRPr sz="2100" b="0">
                <a:solidFill>
                  <a:srgbClr val="2E4F66"/>
                </a:solidFill>
                <a:latin typeface="Poppins"/>
                <a:ea typeface="Poppins"/>
                <a:cs typeface="Poppins"/>
              </a:defRPr>
            </a:lvl7pPr>
            <a:lvl8pPr>
              <a:defRPr sz="2100" b="0">
                <a:solidFill>
                  <a:srgbClr val="2E4F66"/>
                </a:solidFill>
                <a:latin typeface="Poppins"/>
                <a:ea typeface="Poppins"/>
                <a:cs typeface="Poppins"/>
              </a:defRPr>
            </a:lvl8pPr>
            <a:lvl9pPr>
              <a:defRPr sz="2100" b="0">
                <a:solidFill>
                  <a:srgbClr val="2E4F66"/>
                </a:solidFill>
                <a:latin typeface="Poppins"/>
                <a:ea typeface="Poppins"/>
                <a:cs typeface="Poppins"/>
              </a:defRPr>
            </a:lvl9pPr>
          </a:lstStyle>
          <a:p xmlns:a="http://schemas.openxmlformats.org/drawingml/2006/main">
            <a:pPr>
              <a:defRPr sz="2100" b="0">
                <a:solidFill>
                  <a:srgbClr val="2E4F66"/>
                </a:solidFill>
                <a:latin typeface="Poppins"/>
                <a:ea typeface="Poppins"/>
                <a:cs typeface="Poppins"/>
              </a:defRPr>
            </a:pPr>
            <a:r>
              <a:rPr sz="2100" b="0">
                <a:solidFill>
                  <a:srgbClr val="2E4F66"/>
                </a:solidFill>
                <a:latin typeface="Poppins"/>
                <a:ea typeface="Poppins"/>
                <a:cs typeface="Poppins"/>
              </a:rPr>
              <a:t>Miguel Guhlin</a:t>
            </a:r>
          </a:p>
        </p:txBody>
      </p:sp>
      <p:sp>
        <p:nvSpPr>
          <p:cNvPr id="6" name="Supporting text">
            <a:extLst xmlns:a="http://schemas.openxmlformats.org/drawingml/2006/main">
              <a:ext uri="{FF2B5EF4-FFF2-40B4-BE49-F238E27FC236}">
                <a16:creationId xmlns:a16="http://schemas.microsoft.com/office/drawing/2014/main" id="{D413E2B1-C5AF-46CC-846D-11D8224A9B96}"/>
              </a:ext>
            </a:extLst>
          </p:cNvPr>
          <p:cNvSpPr>
            <a:spLocks xmlns:a="http://schemas.openxmlformats.org/drawingml/2006/main" noGrp="1"/>
          </p:cNvSpPr>
          <p:nvPr/>
        </p:nvSpPr>
        <p:spPr>
          <a:xfrm xmlns:a="http://schemas.openxmlformats.org/drawingml/2006/main">
            <a:off x="609600" y="41719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E4F66"/>
                </a:solidFill>
                <a:latin typeface="Poppins"/>
                <a:ea typeface="Poppins"/>
                <a:cs typeface="Poppins"/>
              </a:defRPr>
            </a:defPPr>
            <a:lvl1pPr>
              <a:defRPr sz="2100" b="0">
                <a:solidFill>
                  <a:srgbClr val="2E4F66"/>
                </a:solidFill>
                <a:latin typeface="Poppins"/>
                <a:ea typeface="Poppins"/>
                <a:cs typeface="Poppins"/>
              </a:defRPr>
            </a:lvl1pPr>
            <a:lvl2pPr>
              <a:defRPr sz="2100" b="0">
                <a:solidFill>
                  <a:srgbClr val="2E4F66"/>
                </a:solidFill>
                <a:latin typeface="Poppins"/>
                <a:ea typeface="Poppins"/>
                <a:cs typeface="Poppins"/>
              </a:defRPr>
            </a:lvl2pPr>
            <a:lvl3pPr>
              <a:defRPr sz="2100" b="0">
                <a:solidFill>
                  <a:srgbClr val="2E4F66"/>
                </a:solidFill>
                <a:latin typeface="Poppins"/>
                <a:ea typeface="Poppins"/>
                <a:cs typeface="Poppins"/>
              </a:defRPr>
            </a:lvl3pPr>
            <a:lvl4pPr>
              <a:defRPr sz="2100" b="0">
                <a:solidFill>
                  <a:srgbClr val="2E4F66"/>
                </a:solidFill>
                <a:latin typeface="Poppins"/>
                <a:ea typeface="Poppins"/>
                <a:cs typeface="Poppins"/>
              </a:defRPr>
            </a:lvl4pPr>
            <a:lvl5pPr>
              <a:defRPr sz="2100" b="0">
                <a:solidFill>
                  <a:srgbClr val="2E4F66"/>
                </a:solidFill>
                <a:latin typeface="Poppins"/>
                <a:ea typeface="Poppins"/>
                <a:cs typeface="Poppins"/>
              </a:defRPr>
            </a:lvl5pPr>
            <a:lvl6pPr>
              <a:defRPr sz="2100" b="0">
                <a:solidFill>
                  <a:srgbClr val="2E4F66"/>
                </a:solidFill>
                <a:latin typeface="Poppins"/>
                <a:ea typeface="Poppins"/>
                <a:cs typeface="Poppins"/>
              </a:defRPr>
            </a:lvl6pPr>
            <a:lvl7pPr>
              <a:defRPr sz="2100" b="0">
                <a:solidFill>
                  <a:srgbClr val="2E4F66"/>
                </a:solidFill>
                <a:latin typeface="Poppins"/>
                <a:ea typeface="Poppins"/>
                <a:cs typeface="Poppins"/>
              </a:defRPr>
            </a:lvl7pPr>
            <a:lvl8pPr>
              <a:defRPr sz="2100" b="0">
                <a:solidFill>
                  <a:srgbClr val="2E4F66"/>
                </a:solidFill>
                <a:latin typeface="Poppins"/>
                <a:ea typeface="Poppins"/>
                <a:cs typeface="Poppins"/>
              </a:defRPr>
            </a:lvl8pPr>
            <a:lvl9pPr>
              <a:defRPr sz="2100" b="0">
                <a:solidFill>
                  <a:srgbClr val="2E4F66"/>
                </a:solidFill>
                <a:latin typeface="Poppins"/>
                <a:ea typeface="Poppins"/>
                <a:cs typeface="Poppins"/>
              </a:defRPr>
            </a:lvl9pPr>
          </a:lstStyle>
          <a:p xmlns:a="http://schemas.openxmlformats.org/drawingml/2006/main">
            <a:pPr>
              <a:defRPr sz="2100" b="0">
                <a:solidFill>
                  <a:srgbClr val="2E4F66"/>
                </a:solidFill>
                <a:latin typeface="Poppins"/>
                <a:ea typeface="Poppins"/>
                <a:cs typeface="Poppins"/>
              </a:defRPr>
            </a:pPr>
            <a:r>
              <a:rPr sz="2100" b="0">
                <a:solidFill>
                  <a:srgbClr val="2E4F66"/>
                </a:solidFill>
                <a:latin typeface="Poppins"/>
                <a:ea typeface="Poppins"/>
                <a:cs typeface="Poppins"/>
              </a:rPr>
              <a:t>NSPA 2026 · October 21</a:t>
            </a:r>
          </a:p>
        </p:txBody>
      </p:sp>
      <p:sp>
        <p:nvSpPr>
          <p:cNvPr id="7" name="Footer">
            <a:extLst xmlns:a="http://schemas.openxmlformats.org/drawingml/2006/main">
              <a:ext uri="{FF2B5EF4-FFF2-40B4-BE49-F238E27FC236}">
                <a16:creationId xmlns:a16="http://schemas.microsoft.com/office/drawing/2014/main" id="{41B10AC2-5B97-4B3D-8D07-7AADE34BDA37}"/>
              </a:ext>
            </a:extLst>
          </p:cNvPr>
          <p:cNvSpPr>
            <a:spLocks xmlns:a="http://schemas.openxmlformats.org/drawingml/2006/main" noGrp="1"/>
          </p:cNvSpPr>
          <p:nvPr/>
        </p:nvSpPr>
        <p:spPr>
          <a:xfrm xmlns:a="http://schemas.openxmlformats.org/drawingml/2006/main">
            <a:off x="8096250" y="646747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Poppins"/>
                <a:ea typeface="Poppins"/>
                <a:cs typeface="Poppins"/>
              </a:defRPr>
            </a:defPPr>
            <a:lvl1pPr>
              <a:defRPr sz="1200" b="0">
                <a:solidFill>
                  <a:srgbClr val="FFFFFF"/>
                </a:solidFill>
                <a:latin typeface="Poppins"/>
                <a:ea typeface="Poppins"/>
                <a:cs typeface="Poppins"/>
              </a:defRPr>
            </a:lvl1pPr>
            <a:lvl2pPr>
              <a:defRPr sz="1200" b="0">
                <a:solidFill>
                  <a:srgbClr val="FFFFFF"/>
                </a:solidFill>
                <a:latin typeface="Poppins"/>
                <a:ea typeface="Poppins"/>
                <a:cs typeface="Poppins"/>
              </a:defRPr>
            </a:lvl2pPr>
            <a:lvl3pPr>
              <a:defRPr sz="1200" b="0">
                <a:solidFill>
                  <a:srgbClr val="FFFFFF"/>
                </a:solidFill>
                <a:latin typeface="Poppins"/>
                <a:ea typeface="Poppins"/>
                <a:cs typeface="Poppins"/>
              </a:defRPr>
            </a:lvl3pPr>
            <a:lvl4pPr>
              <a:defRPr sz="1200" b="0">
                <a:solidFill>
                  <a:srgbClr val="FFFFFF"/>
                </a:solidFill>
                <a:latin typeface="Poppins"/>
                <a:ea typeface="Poppins"/>
                <a:cs typeface="Poppins"/>
              </a:defRPr>
            </a:lvl4pPr>
            <a:lvl5pPr>
              <a:defRPr sz="1200" b="0">
                <a:solidFill>
                  <a:srgbClr val="FFFFFF"/>
                </a:solidFill>
                <a:latin typeface="Poppins"/>
                <a:ea typeface="Poppins"/>
                <a:cs typeface="Poppins"/>
              </a:defRPr>
            </a:lvl5pPr>
            <a:lvl6pPr>
              <a:defRPr sz="1200" b="0">
                <a:solidFill>
                  <a:srgbClr val="FFFFFF"/>
                </a:solidFill>
                <a:latin typeface="Poppins"/>
                <a:ea typeface="Poppins"/>
                <a:cs typeface="Poppins"/>
              </a:defRPr>
            </a:lvl6pPr>
            <a:lvl7pPr>
              <a:defRPr sz="1200" b="0">
                <a:solidFill>
                  <a:srgbClr val="FFFFFF"/>
                </a:solidFill>
                <a:latin typeface="Poppins"/>
                <a:ea typeface="Poppins"/>
                <a:cs typeface="Poppins"/>
              </a:defRPr>
            </a:lvl7pPr>
            <a:lvl8pPr>
              <a:defRPr sz="1200" b="0">
                <a:solidFill>
                  <a:srgbClr val="FFFFFF"/>
                </a:solidFill>
                <a:latin typeface="Poppins"/>
                <a:ea typeface="Poppins"/>
                <a:cs typeface="Poppins"/>
              </a:defRPr>
            </a:lvl8pPr>
            <a:lvl9pPr>
              <a:defRPr sz="1200" b="0">
                <a:solidFill>
                  <a:srgbClr val="FFFFFF"/>
                </a:solidFill>
                <a:latin typeface="Poppins"/>
                <a:ea typeface="Poppins"/>
                <a:cs typeface="Poppins"/>
              </a:defRPr>
            </a:lvl9pPr>
          </a:lstStyle>
          <a:p xmlns:a="http://schemas.openxmlformats.org/drawingml/2006/main">
            <a:pPr>
              <a:defRPr sz="1200" b="0">
                <a:solidFill>
                  <a:srgbClr val="FFFFFF"/>
                </a:solidFill>
                <a:latin typeface="Poppins"/>
                <a:ea typeface="Poppins"/>
                <a:cs typeface="Poppins"/>
              </a:defRPr>
            </a:pPr>
            <a:r>
              <a:rPr sz="1200" b="0">
                <a:solidFill>
                  <a:srgbClr val="FFFFFF"/>
                </a:solidFill>
                <a:latin typeface="Poppins"/>
                <a:ea typeface="Poppins"/>
                <a:cs typeface="Poppins"/>
              </a:rPr>
              <a:t>01 / 31</a:t>
            </a:r>
          </a:p>
        </p:txBody>
      </p:sp>
    </p:spTree>
    <p:extLst>
      <p:ext uri="{BB962C8B-B14F-4D97-AF65-F5344CB8AC3E}">
        <p14:creationId xmlns:p14="http://schemas.microsoft.com/office/powerpoint/2010/main" val="12259758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6C1CEEE-CA88-4AC2-B4DE-95FED3A9236F}"/>
              </a:ext>
            </a:extLst>
          </p:cNvPr>
          <p:cNvPicPr>
            <a:picLocks xmlns:a="http://schemas.openxmlformats.org/drawingml/2006/main" noChangeAspect="1"/>
          </p:cNvPicPr>
          <p:nvPr/>
        </p:nvPicPr>
        <p:blipFill>
          <a:blip xmlns:r="http://schemas.openxmlformats.org/officeDocument/2006/relationships" xmlns:a="http://schemas.openxmlformats.org/drawingml/2006/main" r:embed="Rc380ccd2b10b404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2EC5C074-BD58-43BE-9102-86AC848F43E9}"/>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92CD9011-0DD2-43CA-81F9-044141800706}"/>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My starting point</a:t>
            </a:r>
          </a:p>
        </p:txBody>
      </p:sp>
      <p:sp>
        <p:nvSpPr>
          <p:cNvPr id="4" name="Text">
            <a:extLst xmlns:a="http://schemas.openxmlformats.org/drawingml/2006/main">
              <a:ext uri="{FF2B5EF4-FFF2-40B4-BE49-F238E27FC236}">
                <a16:creationId xmlns:a16="http://schemas.microsoft.com/office/drawing/2014/main" id="{474C308C-03DD-4FAA-8E75-F22B6384CF75}"/>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Eight short situations and one next step</a:t>
            </a:r>
          </a:p>
        </p:txBody>
      </p:sp>
      <p:sp>
        <p:nvSpPr>
          <p:cNvPr id="5" name="Supporting text">
            <a:extLst xmlns:a="http://schemas.openxmlformats.org/drawingml/2006/main">
              <a:ext uri="{FF2B5EF4-FFF2-40B4-BE49-F238E27FC236}">
                <a16:creationId xmlns:a16="http://schemas.microsoft.com/office/drawing/2014/main" id="{BC217630-1337-4E63-BC54-70B954A66F6F}"/>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What would I do in each situation?</a:t>
            </a:r>
          </a:p>
        </p:txBody>
      </p:sp>
      <p:sp>
        <p:nvSpPr>
          <p:cNvPr id="6" name="Supporting text">
            <a:extLst xmlns:a="http://schemas.openxmlformats.org/drawingml/2006/main">
              <a:ext uri="{FF2B5EF4-FFF2-40B4-BE49-F238E27FC236}">
                <a16:creationId xmlns:a16="http://schemas.microsoft.com/office/drawing/2014/main" id="{BC08B630-FBF4-4AD4-8E76-3FA33904A1CA}"/>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Which idea would I like to practice?</a:t>
            </a:r>
          </a:p>
        </p:txBody>
      </p:sp>
      <p:sp>
        <p:nvSpPr>
          <p:cNvPr id="7" name="Resource link">
            <a:extLst xmlns:a="http://schemas.openxmlformats.org/drawingml/2006/main">
              <a:ext uri="{FF2B5EF4-FFF2-40B4-BE49-F238E27FC236}">
                <a16:creationId xmlns:a16="http://schemas.microsoft.com/office/drawing/2014/main" id="{B8646493-0598-4C8F-BF24-9844F6244945}"/>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ddb674d70a954c68"/>
              </a:rPr>
              <a:t>Open my awareness self-check</a:t>
            </a:r>
          </a:p>
        </p:txBody>
      </p:sp>
      <p:sp>
        <p:nvSpPr>
          <p:cNvPr id="8" name="Footer">
            <a:extLst xmlns:a="http://schemas.openxmlformats.org/drawingml/2006/main">
              <a:ext uri="{FF2B5EF4-FFF2-40B4-BE49-F238E27FC236}">
                <a16:creationId xmlns:a16="http://schemas.microsoft.com/office/drawing/2014/main" id="{2146D886-45DF-436E-8561-7A4D027D32F0}"/>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02 / 31</a:t>
            </a:r>
          </a:p>
        </p:txBody>
      </p:sp>
    </p:spTree>
    <p:extLst>
      <p:ext uri="{BB962C8B-B14F-4D97-AF65-F5344CB8AC3E}">
        <p14:creationId xmlns:p14="http://schemas.microsoft.com/office/powerpoint/2010/main" val="6266767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CE31CE4-C42C-45E7-91F9-02141F1BD2BC}"/>
              </a:ext>
            </a:extLst>
          </p:cNvPr>
          <p:cNvPicPr>
            <a:picLocks xmlns:a="http://schemas.openxmlformats.org/drawingml/2006/main" noChangeAspect="1"/>
          </p:cNvPicPr>
          <p:nvPr/>
        </p:nvPicPr>
        <p:blipFill>
          <a:blip xmlns:r="http://schemas.openxmlformats.org/officeDocument/2006/relationships" xmlns:a="http://schemas.openxmlformats.org/drawingml/2006/main" r:embed="Rb7b24686e1d1442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A982C745-A760-45FF-B097-5F94B29D2913}"/>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68515227-55FB-4289-9C6F-A4EC00C9E84B}"/>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What generative AI does</a:t>
            </a:r>
          </a:p>
        </p:txBody>
      </p:sp>
      <p:sp>
        <p:nvSpPr>
          <p:cNvPr id="4" name="Text">
            <a:extLst xmlns:a="http://schemas.openxmlformats.org/drawingml/2006/main">
              <a:ext uri="{FF2B5EF4-FFF2-40B4-BE49-F238E27FC236}">
                <a16:creationId xmlns:a16="http://schemas.microsoft.com/office/drawing/2014/main" id="{12721CDA-FDE8-45CA-8764-8E2631776877}"/>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It creates a draft from your request and the information available to it.</a:t>
            </a:r>
          </a:p>
        </p:txBody>
      </p:sp>
      <p:sp>
        <p:nvSpPr>
          <p:cNvPr id="5" name="Supporting text">
            <a:extLst xmlns:a="http://schemas.openxmlformats.org/drawingml/2006/main">
              <a:ext uri="{FF2B5EF4-FFF2-40B4-BE49-F238E27FC236}">
                <a16:creationId xmlns:a16="http://schemas.microsoft.com/office/drawing/2014/main" id="{3890AAE2-A79F-4585-B8EC-85BF22292C53}"/>
              </a:ext>
            </a:extLst>
          </p:cNvPr>
          <p:cNvSpPr>
            <a:spLocks xmlns:a="http://schemas.openxmlformats.org/drawingml/2006/main" noGrp="1"/>
          </p:cNvSpPr>
          <p:nvPr/>
        </p:nvSpPr>
        <p:spPr>
          <a:xfrm xmlns:a="http://schemas.openxmlformats.org/drawingml/2006/main">
            <a:off x="609600" y="242887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It can help write, summarize, and organize.</a:t>
            </a:r>
          </a:p>
        </p:txBody>
      </p:sp>
      <p:sp>
        <p:nvSpPr>
          <p:cNvPr id="6" name="Supporting text">
            <a:extLst xmlns:a="http://schemas.openxmlformats.org/drawingml/2006/main">
              <a:ext uri="{FF2B5EF4-FFF2-40B4-BE49-F238E27FC236}">
                <a16:creationId xmlns:a16="http://schemas.microsoft.com/office/drawing/2014/main" id="{21C65C3D-28BE-4952-BFF3-31248ACDAF3C}"/>
              </a:ext>
            </a:extLst>
          </p:cNvPr>
          <p:cNvSpPr>
            <a:spLocks xmlns:a="http://schemas.openxmlformats.org/drawingml/2006/main" noGrp="1"/>
          </p:cNvSpPr>
          <p:nvPr/>
        </p:nvSpPr>
        <p:spPr>
          <a:xfrm xmlns:a="http://schemas.openxmlformats.org/drawingml/2006/main">
            <a:off x="609600" y="320992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It can also leave things out or add incorrect details.</a:t>
            </a:r>
          </a:p>
        </p:txBody>
      </p:sp>
      <p:pic>
        <p:nvPicPr>
          <p:cNvPr id="7" name="">
            <a:extLst xmlns:a="http://schemas.openxmlformats.org/drawingml/2006/main">
              <a:ext uri="{FF2B5EF4-FFF2-40B4-BE49-F238E27FC236}">
                <a16:creationId xmlns:a16="http://schemas.microsoft.com/office/drawing/2014/main" id="{61DA0765-2DCC-43CB-8599-7F316A24A019}"/>
              </a:ext>
            </a:extLst>
          </p:cNvPr>
          <p:cNvPicPr>
            <a:picLocks xmlns:a="http://schemas.openxmlformats.org/drawingml/2006/main" noChangeAspect="1"/>
          </p:cNvPicPr>
          <p:nvPr/>
        </p:nvPicPr>
        <p:blipFill>
          <a:blip xmlns:r="http://schemas.openxmlformats.org/officeDocument/2006/relationships" xmlns:a="http://schemas.openxmlformats.org/drawingml/2006/main" r:embed="R8688246b78964a8b"/>
          <a:stretch xmlns:a="http://schemas.openxmlformats.org/drawingml/2006/main"/>
        </p:blipFill>
        <p:spPr>
          <a:xfrm xmlns:a="http://schemas.openxmlformats.org/drawingml/2006/main">
            <a:off x="6596063" y="2857500"/>
            <a:ext cx="4714875" cy="3143250"/>
          </a:xfrm>
          <a:prstGeom xmlns:a="http://schemas.openxmlformats.org/drawingml/2006/main" prst="rect">
            <a:avLst/>
          </a:prstGeom>
        </p:spPr>
      </p:pic>
      <p:sp>
        <p:nvSpPr>
          <p:cNvPr id="8" name="Footer">
            <a:extLst xmlns:a="http://schemas.openxmlformats.org/drawingml/2006/main">
              <a:ext uri="{FF2B5EF4-FFF2-40B4-BE49-F238E27FC236}">
                <a16:creationId xmlns:a16="http://schemas.microsoft.com/office/drawing/2014/main" id="{95E1F762-0346-4182-A121-D22640659617}"/>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03 / 31</a:t>
            </a:r>
          </a:p>
        </p:txBody>
      </p:sp>
    </p:spTree>
    <p:extLst>
      <p:ext uri="{BB962C8B-B14F-4D97-AF65-F5344CB8AC3E}">
        <p14:creationId xmlns:p14="http://schemas.microsoft.com/office/powerpoint/2010/main" val="3217011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2FD038E-0FCD-4375-9144-0F7B32FD3CEA}"/>
              </a:ext>
            </a:extLst>
          </p:cNvPr>
          <p:cNvPicPr>
            <a:picLocks xmlns:a="http://schemas.openxmlformats.org/drawingml/2006/main" noChangeAspect="1"/>
          </p:cNvPicPr>
          <p:nvPr/>
        </p:nvPicPr>
        <p:blipFill>
          <a:blip xmlns:r="http://schemas.openxmlformats.org/officeDocument/2006/relationships" xmlns:a="http://schemas.openxmlformats.org/drawingml/2006/main" r:embed="R02f7ea62013d421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CC154946-639A-42D5-BC4C-505CBEF30877}"/>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BC7C7E8B-C93C-452C-9546-6052305968AE}"/>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Words for our first chat</a:t>
            </a:r>
          </a:p>
        </p:txBody>
      </p:sp>
      <p:sp>
        <p:nvSpPr>
          <p:cNvPr id="4" name="Text">
            <a:extLst xmlns:a="http://schemas.openxmlformats.org/drawingml/2006/main">
              <a:ext uri="{FF2B5EF4-FFF2-40B4-BE49-F238E27FC236}">
                <a16:creationId xmlns:a16="http://schemas.microsoft.com/office/drawing/2014/main" id="{BEB2AAD5-3CE2-4EE4-8C25-15E98D30F4F3}"/>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prompt is simply your request.</a:t>
            </a:r>
          </a:p>
        </p:txBody>
      </p:sp>
      <p:graphicFrame>
        <p:nvGraphicFramePr>
          <p:cNvPr id="5" name="">
            <a:extLst xmlns:a="http://schemas.openxmlformats.org/drawingml/2006/main">
              <a:ext uri="{FF2B5EF4-FFF2-40B4-BE49-F238E27FC236}">
                <a16:creationId xmlns:a16="http://schemas.microsoft.com/office/drawing/2014/main" id="{EF5FF403-01E7-4C02-85C7-9B133805F736}"/>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571750"/>
                <a:gridCol w="8401050"/>
              </a:tblGrid>
              <a:tr h="628650">
                <a:tc>
                  <a:txBody>
                    <a:bodyPr/>
                    <a:lstStyle/>
                    <a:p>
                      <a:r>
                        <a:rPr sz="1800" b="1">
                          <a:solidFill>
                            <a:srgbClr val="FFFFFF"/>
                          </a:solidFill>
                          <a:latin typeface="Poppins"/>
                          <a:ea typeface="Poppins"/>
                          <a:cs typeface="Poppins"/>
                        </a:rPr>
                        <a:t>Word</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Everyday meaning</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Chatbot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The app you talk with, such as ChatGPT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Model</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The AI system the app uses to create an answer</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Prompt / input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Your request and the information you give it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Response / output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The answer or draft you receive</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3DB31B00-6284-4801-A065-E1AA368C7878}"/>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04 / 31</a:t>
            </a:r>
          </a:p>
        </p:txBody>
      </p:sp>
    </p:spTree>
    <p:extLst>
      <p:ext uri="{BB962C8B-B14F-4D97-AF65-F5344CB8AC3E}">
        <p14:creationId xmlns:p14="http://schemas.microsoft.com/office/powerpoint/2010/main" val="3446326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A0860D8-539A-48BB-9D24-DCB365B2E59C}"/>
              </a:ext>
            </a:extLst>
          </p:cNvPr>
          <p:cNvPicPr>
            <a:picLocks xmlns:a="http://schemas.openxmlformats.org/drawingml/2006/main" noChangeAspect="1"/>
          </p:cNvPicPr>
          <p:nvPr/>
        </p:nvPicPr>
        <p:blipFill>
          <a:blip xmlns:r="http://schemas.openxmlformats.org/officeDocument/2006/relationships" xmlns:a="http://schemas.openxmlformats.org/drawingml/2006/main" r:embed="R891446bd5abb4a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EF471298-1E50-4F2A-A729-C396B9C0C94D}"/>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266C50D4-6EB9-4A46-B2BA-4ED72F23573D}"/>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first request</a:t>
            </a:r>
          </a:p>
        </p:txBody>
      </p:sp>
      <p:sp>
        <p:nvSpPr>
          <p:cNvPr id="4" name="Text">
            <a:extLst xmlns:a="http://schemas.openxmlformats.org/drawingml/2006/main">
              <a:ext uri="{FF2B5EF4-FFF2-40B4-BE49-F238E27FC236}">
                <a16:creationId xmlns:a16="http://schemas.microsoft.com/office/drawing/2014/main" id="{E28767CB-CCD5-4AFF-B6B6-8C60BD2CDE93}"/>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One small job using a made-up note</a:t>
            </a:r>
          </a:p>
        </p:txBody>
      </p:sp>
      <p:sp>
        <p:nvSpPr>
          <p:cNvPr id="5" name="Source or prompt excerpt">
            <a:extLst xmlns:a="http://schemas.openxmlformats.org/drawingml/2006/main">
              <a:ext uri="{FF2B5EF4-FFF2-40B4-BE49-F238E27FC236}">
                <a16:creationId xmlns:a16="http://schemas.microsoft.com/office/drawing/2014/main" id="{F51E72F3-0539-4057-8F92-4F3ED38DA79B}"/>
              </a:ext>
            </a:extLst>
          </p:cNvPr>
          <p:cNvSpPr>
            <a:spLocks xmlns:a="http://schemas.openxmlformats.org/drawingml/2006/main" noGrp="1"/>
          </p:cNvSpPr>
          <p:nvPr/>
        </p:nvSpPr>
        <p:spPr>
          <a:xfrm xmlns:a="http://schemas.openxmlformats.org/drawingml/2006/main">
            <a:off x="838200" y="242887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Using this note only, write a friendly one-sentence reminder: “Applications close October 1.”</a:t>
            </a:r>
          </a:p>
        </p:txBody>
      </p:sp>
      <p:sp>
        <p:nvSpPr>
          <p:cNvPr id="6" name="Supporting text">
            <a:extLst xmlns:a="http://schemas.openxmlformats.org/drawingml/2006/main">
              <a:ext uri="{FF2B5EF4-FFF2-40B4-BE49-F238E27FC236}">
                <a16:creationId xmlns:a16="http://schemas.microsoft.com/office/drawing/2014/main" id="{F30061C1-619F-4738-B746-58287E0D6EB5}"/>
              </a:ext>
            </a:extLst>
          </p:cNvPr>
          <p:cNvSpPr>
            <a:spLocks xmlns:a="http://schemas.openxmlformats.org/drawingml/2006/main" noGrp="1"/>
          </p:cNvSpPr>
          <p:nvPr/>
        </p:nvSpPr>
        <p:spPr>
          <a:xfrm xmlns:a="http://schemas.openxmlformats.org/drawingml/2006/main">
            <a:off x="609600" y="36861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No real applicant information is needed.</a:t>
            </a:r>
          </a:p>
        </p:txBody>
      </p:sp>
      <p:sp>
        <p:nvSpPr>
          <p:cNvPr id="7" name="Supporting text">
            <a:extLst xmlns:a="http://schemas.openxmlformats.org/drawingml/2006/main">
              <a:ext uri="{FF2B5EF4-FFF2-40B4-BE49-F238E27FC236}">
                <a16:creationId xmlns:a16="http://schemas.microsoft.com/office/drawing/2014/main" id="{250244C8-136B-45E5-826B-4A2E4F982B6C}"/>
              </a:ext>
            </a:extLst>
          </p:cNvPr>
          <p:cNvSpPr>
            <a:spLocks xmlns:a="http://schemas.openxmlformats.org/drawingml/2006/main" noGrp="1"/>
          </p:cNvSpPr>
          <p:nvPr/>
        </p:nvSpPr>
        <p:spPr>
          <a:xfrm xmlns:a="http://schemas.openxmlformats.org/drawingml/2006/main">
            <a:off x="609600" y="41529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I can check the date and length myself.</a:t>
            </a:r>
          </a:p>
        </p:txBody>
      </p:sp>
      <p:sp>
        <p:nvSpPr>
          <p:cNvPr id="8" name="Resource link">
            <a:extLst xmlns:a="http://schemas.openxmlformats.org/drawingml/2006/main">
              <a:ext uri="{FF2B5EF4-FFF2-40B4-BE49-F238E27FC236}">
                <a16:creationId xmlns:a16="http://schemas.microsoft.com/office/drawing/2014/main" id="{06D488F5-30BE-48DC-81FF-56159A9B74A2}"/>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2c397b03561b45c6"/>
              </a:rPr>
              <a:t>Try the first request</a:t>
            </a:r>
          </a:p>
        </p:txBody>
      </p:sp>
      <p:sp>
        <p:nvSpPr>
          <p:cNvPr id="9" name="Footer">
            <a:extLst xmlns:a="http://schemas.openxmlformats.org/drawingml/2006/main">
              <a:ext uri="{FF2B5EF4-FFF2-40B4-BE49-F238E27FC236}">
                <a16:creationId xmlns:a16="http://schemas.microsoft.com/office/drawing/2014/main" id="{298AD460-9816-4D27-A58C-45DBEEF94EDB}"/>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05 / 31</a:t>
            </a:r>
          </a:p>
        </p:txBody>
      </p:sp>
    </p:spTree>
    <p:extLst>
      <p:ext uri="{BB962C8B-B14F-4D97-AF65-F5344CB8AC3E}">
        <p14:creationId xmlns:p14="http://schemas.microsoft.com/office/powerpoint/2010/main" val="171872582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7E52BC4-BE08-4413-92E1-20EB0E8E1392}"/>
              </a:ext>
            </a:extLst>
          </p:cNvPr>
          <p:cNvPicPr>
            <a:picLocks xmlns:a="http://schemas.openxmlformats.org/drawingml/2006/main" noChangeAspect="1"/>
          </p:cNvPicPr>
          <p:nvPr/>
        </p:nvPicPr>
        <p:blipFill>
          <a:blip xmlns:r="http://schemas.openxmlformats.org/officeDocument/2006/relationships" xmlns:a="http://schemas.openxmlformats.org/drawingml/2006/main" r:embed="R8100a52ff0854c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AA7C74ED-9C65-47E1-A04D-070990D94510}"/>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90BD8D49-59AD-4A1B-AF10-87918357DE4A}"/>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Useful background information</a:t>
            </a:r>
          </a:p>
        </p:txBody>
      </p:sp>
      <p:sp>
        <p:nvSpPr>
          <p:cNvPr id="4" name="Text">
            <a:extLst xmlns:a="http://schemas.openxmlformats.org/drawingml/2006/main">
              <a:ext uri="{FF2B5EF4-FFF2-40B4-BE49-F238E27FC236}">
                <a16:creationId xmlns:a16="http://schemas.microsoft.com/office/drawing/2014/main" id="{64531FDA-4253-4448-8E77-BFA97D1A2311}"/>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Context means the information that helps AI do the job.</a:t>
            </a:r>
          </a:p>
        </p:txBody>
      </p:sp>
      <p:graphicFrame>
        <p:nvGraphicFramePr>
          <p:cNvPr id="5" name="">
            <a:extLst xmlns:a="http://schemas.openxmlformats.org/drawingml/2006/main">
              <a:ext uri="{FF2B5EF4-FFF2-40B4-BE49-F238E27FC236}">
                <a16:creationId xmlns:a16="http://schemas.microsoft.com/office/drawing/2014/main" id="{7C12D6A5-61CC-4445-AA4F-3B92B9C56D6C}"/>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571750"/>
                <a:gridCol w="8401050"/>
              </a:tblGrid>
              <a:tr h="628650">
                <a:tc>
                  <a:txBody>
                    <a:bodyPr/>
                    <a:lstStyle/>
                    <a:p>
                      <a:r>
                        <a:rPr sz="1800" b="1">
                          <a:solidFill>
                            <a:srgbClr val="FFFFFF"/>
                          </a:solidFill>
                          <a:latin typeface="Poppins"/>
                          <a:ea typeface="Poppins"/>
                          <a:cs typeface="Poppins"/>
                        </a:rPr>
                        <a:t>Detail</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Our reminder example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Audience: who will read it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Students applying for a scholarship</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Tone: how it should sound</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Friendly and direct</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Source: where facts come from</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The supplied deadline note</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Limit: what it must avoid</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No invented dates, links, or promises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65C03B9E-ABE2-41F8-93FE-677FBF63B131}"/>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06 / 31</a:t>
            </a:r>
          </a:p>
        </p:txBody>
      </p:sp>
    </p:spTree>
    <p:extLst>
      <p:ext uri="{BB962C8B-B14F-4D97-AF65-F5344CB8AC3E}">
        <p14:creationId xmlns:p14="http://schemas.microsoft.com/office/powerpoint/2010/main" val="8080561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2F7BA04-BCAB-4B20-B0DC-B88F79763AA7}"/>
              </a:ext>
            </a:extLst>
          </p:cNvPr>
          <p:cNvPicPr>
            <a:picLocks xmlns:a="http://schemas.openxmlformats.org/drawingml/2006/main" noChangeAspect="1"/>
          </p:cNvPicPr>
          <p:nvPr/>
        </p:nvPicPr>
        <p:blipFill>
          <a:blip xmlns:r="http://schemas.openxmlformats.org/officeDocument/2006/relationships" xmlns:a="http://schemas.openxmlformats.org/drawingml/2006/main" r:embed="R68620201c0a54c8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565A3A40-04AD-4F30-AEFC-8E22102F1B80}"/>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0A5FE99A-E0A5-4C57-9327-5204330E3F59}"/>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clearer request</a:t>
            </a:r>
          </a:p>
        </p:txBody>
      </p:sp>
      <p:sp>
        <p:nvSpPr>
          <p:cNvPr id="4" name="Text">
            <a:extLst xmlns:a="http://schemas.openxmlformats.org/drawingml/2006/main">
              <a:ext uri="{FF2B5EF4-FFF2-40B4-BE49-F238E27FC236}">
                <a16:creationId xmlns:a16="http://schemas.microsoft.com/office/drawing/2014/main" id="{AFE463BE-84A1-4BE8-9DC3-B6CB39FC9E04}"/>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same job with the useful details included</a:t>
            </a:r>
          </a:p>
        </p:txBody>
      </p:sp>
      <p:sp>
        <p:nvSpPr>
          <p:cNvPr id="5" name="Source or prompt excerpt">
            <a:extLst xmlns:a="http://schemas.openxmlformats.org/drawingml/2006/main">
              <a:ext uri="{FF2B5EF4-FFF2-40B4-BE49-F238E27FC236}">
                <a16:creationId xmlns:a16="http://schemas.microsoft.com/office/drawing/2014/main" id="{4A4F5E59-C008-4FA3-ABAE-BB7C1B090268}"/>
              </a:ext>
            </a:extLst>
          </p:cNvPr>
          <p:cNvSpPr>
            <a:spLocks xmlns:a="http://schemas.openxmlformats.org/drawingml/2006/main" noGrp="1"/>
          </p:cNvSpPr>
          <p:nvPr/>
        </p:nvSpPr>
        <p:spPr>
          <a:xfrm xmlns:a="http://schemas.openxmlformats.org/drawingml/2006/main">
            <a:off x="838200" y="2428875"/>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Write a friendly reminder for scholarship applicants. Use only this note: “Applications close October 1.” Write one sentence. Keep the date exactly as written. Do not add links or promises.</a:t>
            </a:r>
          </a:p>
        </p:txBody>
      </p:sp>
      <p:sp>
        <p:nvSpPr>
          <p:cNvPr id="6" name="Supporting text">
            <a:extLst xmlns:a="http://schemas.openxmlformats.org/drawingml/2006/main">
              <a:ext uri="{FF2B5EF4-FFF2-40B4-BE49-F238E27FC236}">
                <a16:creationId xmlns:a16="http://schemas.microsoft.com/office/drawing/2014/main" id="{88B20718-43C2-4C4E-B584-C7AEFB56B5E9}"/>
              </a:ext>
            </a:extLst>
          </p:cNvPr>
          <p:cNvSpPr>
            <a:spLocks xmlns:a="http://schemas.openxmlformats.org/drawingml/2006/main" noGrp="1"/>
          </p:cNvSpPr>
          <p:nvPr/>
        </p:nvSpPr>
        <p:spPr>
          <a:xfrm xmlns:a="http://schemas.openxmlformats.org/drawingml/2006/main">
            <a:off x="609600" y="41624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Job + source + audience + format + limits</a:t>
            </a:r>
          </a:p>
        </p:txBody>
      </p:sp>
      <p:sp>
        <p:nvSpPr>
          <p:cNvPr id="7" name="Footer">
            <a:extLst xmlns:a="http://schemas.openxmlformats.org/drawingml/2006/main">
              <a:ext uri="{FF2B5EF4-FFF2-40B4-BE49-F238E27FC236}">
                <a16:creationId xmlns:a16="http://schemas.microsoft.com/office/drawing/2014/main" id="{613CE558-CA38-44FF-901A-21A639AFA831}"/>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07 / 31</a:t>
            </a:r>
          </a:p>
        </p:txBody>
      </p:sp>
    </p:spTree>
    <p:extLst>
      <p:ext uri="{BB962C8B-B14F-4D97-AF65-F5344CB8AC3E}">
        <p14:creationId xmlns:p14="http://schemas.microsoft.com/office/powerpoint/2010/main" val="5122945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2785BB1-A62C-46F9-B3DD-E509067580F6}"/>
              </a:ext>
            </a:extLst>
          </p:cNvPr>
          <p:cNvPicPr>
            <a:picLocks xmlns:a="http://schemas.openxmlformats.org/drawingml/2006/main" noChangeAspect="1"/>
          </p:cNvPicPr>
          <p:nvPr/>
        </p:nvPicPr>
        <p:blipFill>
          <a:blip xmlns:r="http://schemas.openxmlformats.org/officeDocument/2006/relationships" xmlns:a="http://schemas.openxmlformats.org/drawingml/2006/main" r:embed="R5ab6acf7fd80410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D2240925-BC0B-45A9-B57E-9207EE2F2E3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B573B3E5-8088-4B8B-AE76-18D08964C0C3}"/>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What a good answer looks like</a:t>
            </a:r>
          </a:p>
        </p:txBody>
      </p:sp>
      <p:sp>
        <p:nvSpPr>
          <p:cNvPr id="4" name="Text">
            <a:extLst xmlns:a="http://schemas.openxmlformats.org/drawingml/2006/main">
              <a:ext uri="{FF2B5EF4-FFF2-40B4-BE49-F238E27FC236}">
                <a16:creationId xmlns:a16="http://schemas.microsoft.com/office/drawing/2014/main" id="{58BFB0A4-4FC2-48EC-9AAA-8693BDD1DBF3}"/>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Evaluation criteria are the checks we choose in advance.</a:t>
            </a:r>
          </a:p>
        </p:txBody>
      </p:sp>
      <p:sp>
        <p:nvSpPr>
          <p:cNvPr id="5" name="Source or prompt excerpt">
            <a:extLst xmlns:a="http://schemas.openxmlformats.org/drawingml/2006/main">
              <a:ext uri="{FF2B5EF4-FFF2-40B4-BE49-F238E27FC236}">
                <a16:creationId xmlns:a16="http://schemas.microsoft.com/office/drawing/2014/main" id="{C394A168-E4D1-4209-A7F9-65C509F1939D}"/>
              </a:ext>
            </a:extLst>
          </p:cNvPr>
          <p:cNvSpPr>
            <a:spLocks xmlns:a="http://schemas.openxmlformats.org/drawingml/2006/main" noGrp="1"/>
          </p:cNvSpPr>
          <p:nvPr/>
        </p:nvSpPr>
        <p:spPr>
          <a:xfrm xmlns:a="http://schemas.openxmlformats.org/drawingml/2006/main">
            <a:off x="838200" y="242887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Prepared example: “A friendly reminder: scholarship applications close October 1.”</a:t>
            </a:r>
          </a:p>
        </p:txBody>
      </p:sp>
      <p:sp>
        <p:nvSpPr>
          <p:cNvPr id="6" name="Supporting text">
            <a:extLst xmlns:a="http://schemas.openxmlformats.org/drawingml/2006/main">
              <a:ext uri="{FF2B5EF4-FFF2-40B4-BE49-F238E27FC236}">
                <a16:creationId xmlns:a16="http://schemas.microsoft.com/office/drawing/2014/main" id="{A00CFC9B-105B-402E-848E-C3221182BCC1}"/>
              </a:ext>
            </a:extLst>
          </p:cNvPr>
          <p:cNvSpPr>
            <a:spLocks xmlns:a="http://schemas.openxmlformats.org/drawingml/2006/main" noGrp="1"/>
          </p:cNvSpPr>
          <p:nvPr/>
        </p:nvSpPr>
        <p:spPr>
          <a:xfrm xmlns:a="http://schemas.openxmlformats.org/drawingml/2006/main">
            <a:off x="609600" y="36861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Correct date: October 1</a:t>
            </a:r>
          </a:p>
        </p:txBody>
      </p:sp>
      <p:sp>
        <p:nvSpPr>
          <p:cNvPr id="7" name="Supporting text">
            <a:extLst xmlns:a="http://schemas.openxmlformats.org/drawingml/2006/main">
              <a:ext uri="{FF2B5EF4-FFF2-40B4-BE49-F238E27FC236}">
                <a16:creationId xmlns:a16="http://schemas.microsoft.com/office/drawing/2014/main" id="{F0A86680-B80A-4CC1-9DB5-AB36BE1A0D8E}"/>
              </a:ext>
            </a:extLst>
          </p:cNvPr>
          <p:cNvSpPr>
            <a:spLocks xmlns:a="http://schemas.openxmlformats.org/drawingml/2006/main" noGrp="1"/>
          </p:cNvSpPr>
          <p:nvPr/>
        </p:nvSpPr>
        <p:spPr>
          <a:xfrm xmlns:a="http://schemas.openxmlformats.org/drawingml/2006/main">
            <a:off x="609600" y="41529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Requested format: one sentence</a:t>
            </a:r>
          </a:p>
        </p:txBody>
      </p:sp>
      <p:sp>
        <p:nvSpPr>
          <p:cNvPr id="8" name="Supporting text">
            <a:extLst xmlns:a="http://schemas.openxmlformats.org/drawingml/2006/main">
              <a:ext uri="{FF2B5EF4-FFF2-40B4-BE49-F238E27FC236}">
                <a16:creationId xmlns:a16="http://schemas.microsoft.com/office/drawing/2014/main" id="{C447563F-DA81-47E9-AADB-DDC0A4E6965D}"/>
              </a:ext>
            </a:extLst>
          </p:cNvPr>
          <p:cNvSpPr>
            <a:spLocks xmlns:a="http://schemas.openxmlformats.org/drawingml/2006/main" noGrp="1"/>
          </p:cNvSpPr>
          <p:nvPr/>
        </p:nvSpPr>
        <p:spPr>
          <a:xfrm xmlns:a="http://schemas.openxmlformats.org/drawingml/2006/main">
            <a:off x="609600" y="46196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No added rules, links, or promises</a:t>
            </a:r>
          </a:p>
        </p:txBody>
      </p:sp>
      <p:sp>
        <p:nvSpPr>
          <p:cNvPr id="9" name="Footer">
            <a:extLst xmlns:a="http://schemas.openxmlformats.org/drawingml/2006/main">
              <a:ext uri="{FF2B5EF4-FFF2-40B4-BE49-F238E27FC236}">
                <a16:creationId xmlns:a16="http://schemas.microsoft.com/office/drawing/2014/main" id="{5E6699D0-EB65-4088-86B1-A483AA9FC8F2}"/>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08 / 31</a:t>
            </a:r>
          </a:p>
        </p:txBody>
      </p:sp>
    </p:spTree>
    <p:extLst>
      <p:ext uri="{BB962C8B-B14F-4D97-AF65-F5344CB8AC3E}">
        <p14:creationId xmlns:p14="http://schemas.microsoft.com/office/powerpoint/2010/main" val="125894317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FDC8C2A-F410-41E1-B749-B9F01D7255B0}"/>
              </a:ext>
            </a:extLst>
          </p:cNvPr>
          <p:cNvPicPr>
            <a:picLocks xmlns:a="http://schemas.openxmlformats.org/drawingml/2006/main" noChangeAspect="1"/>
          </p:cNvPicPr>
          <p:nvPr/>
        </p:nvPicPr>
        <p:blipFill>
          <a:blip xmlns:r="http://schemas.openxmlformats.org/officeDocument/2006/relationships" xmlns:a="http://schemas.openxmlformats.org/drawingml/2006/main" r:embed="R7540c24b8d224a4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7712B094-81C6-473E-BB56-29A664FFC623}"/>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75AFCBDB-AFB2-4CDD-9CBB-C67A5DBAB6CE}"/>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Improving a request</a:t>
            </a:r>
          </a:p>
        </p:txBody>
      </p:sp>
      <p:sp>
        <p:nvSpPr>
          <p:cNvPr id="4" name="Text">
            <a:extLst xmlns:a="http://schemas.openxmlformats.org/drawingml/2006/main">
              <a:ext uri="{FF2B5EF4-FFF2-40B4-BE49-F238E27FC236}">
                <a16:creationId xmlns:a16="http://schemas.microsoft.com/office/drawing/2014/main" id="{1CD1CF34-38BE-4288-A207-729802D8C442}"/>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short practice cycle</a:t>
            </a:r>
          </a:p>
        </p:txBody>
      </p:sp>
      <p:graphicFrame>
        <p:nvGraphicFramePr>
          <p:cNvPr id="5" name="">
            <a:extLst xmlns:a="http://schemas.openxmlformats.org/drawingml/2006/main">
              <a:ext uri="{FF2B5EF4-FFF2-40B4-BE49-F238E27FC236}">
                <a16:creationId xmlns:a16="http://schemas.microsoft.com/office/drawing/2014/main" id="{A8698B9D-BADD-4991-8441-B99B07C5BB45}"/>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571750"/>
                <a:gridCol w="8401050"/>
              </a:tblGrid>
              <a:tr h="628650">
                <a:tc>
                  <a:txBody>
                    <a:bodyPr/>
                    <a:lstStyle/>
                    <a:p>
                      <a:r>
                        <a:rPr sz="1800" b="1">
                          <a:solidFill>
                            <a:srgbClr val="FFFFFF"/>
                          </a:solidFill>
                          <a:latin typeface="Poppins"/>
                          <a:ea typeface="Poppins"/>
                          <a:cs typeface="Poppins"/>
                        </a:rPr>
                        <a:t>Step</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I do</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1. Choose the task</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Name one result I need</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2. Write a request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Add the facts and limits that matter</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3. Try and check</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Compare the answer with my checks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4. Improve and save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Fix a problem; keep the useful request</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1A112781-749E-4993-827D-E2877A0C37CF}"/>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09 / 31</a:t>
            </a:r>
          </a:p>
        </p:txBody>
      </p:sp>
    </p:spTree>
    <p:extLst>
      <p:ext uri="{BB962C8B-B14F-4D97-AF65-F5344CB8AC3E}">
        <p14:creationId xmlns:p14="http://schemas.microsoft.com/office/powerpoint/2010/main" val="3803608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FEB0E5F-336A-4722-899A-BD4AEC5B65AF}"/>
              </a:ext>
            </a:extLst>
          </p:cNvPr>
          <p:cNvPicPr>
            <a:picLocks xmlns:a="http://schemas.openxmlformats.org/drawingml/2006/main" noChangeAspect="1"/>
          </p:cNvPicPr>
          <p:nvPr/>
        </p:nvPicPr>
        <p:blipFill>
          <a:blip xmlns:r="http://schemas.openxmlformats.org/officeDocument/2006/relationships" xmlns:a="http://schemas.openxmlformats.org/drawingml/2006/main" r:embed="Rb48f6836151c485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F300CEE4-5CA6-4AD1-8DA9-E8970E8E3F97}"/>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79EC3B4F-FC0F-43EF-9A51-021437404E7F}"/>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Examples and follow-up requests</a:t>
            </a:r>
          </a:p>
        </p:txBody>
      </p:sp>
      <p:sp>
        <p:nvSpPr>
          <p:cNvPr id="4" name="Text">
            <a:extLst xmlns:a="http://schemas.openxmlformats.org/drawingml/2006/main">
              <a:ext uri="{FF2B5EF4-FFF2-40B4-BE49-F238E27FC236}">
                <a16:creationId xmlns:a16="http://schemas.microsoft.com/office/drawing/2014/main" id="{A62DB1CA-8EE7-419E-B0C0-C34BF1184C0E}"/>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You can show the style you want and ask for a change.</a:t>
            </a:r>
          </a:p>
        </p:txBody>
      </p:sp>
      <p:sp>
        <p:nvSpPr>
          <p:cNvPr id="5" name="Source or prompt excerpt">
            <a:extLst xmlns:a="http://schemas.openxmlformats.org/drawingml/2006/main">
              <a:ext uri="{FF2B5EF4-FFF2-40B4-BE49-F238E27FC236}">
                <a16:creationId xmlns:a16="http://schemas.microsoft.com/office/drawing/2014/main" id="{7CE84F35-B01F-4FC4-9221-CC07ED33EFFB}"/>
              </a:ext>
            </a:extLst>
          </p:cNvPr>
          <p:cNvSpPr>
            <a:spLocks xmlns:a="http://schemas.openxmlformats.org/drawingml/2006/main" noGrp="1"/>
          </p:cNvSpPr>
          <p:nvPr/>
        </p:nvSpPr>
        <p:spPr>
          <a:xfrm xmlns:a="http://schemas.openxmlformats.org/drawingml/2006/main">
            <a:off x="838200" y="242887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Follow-up: “Make it warmer. Keep one sentence and keep October 1 unchanged.”</a:t>
            </a:r>
          </a:p>
        </p:txBody>
      </p:sp>
      <p:sp>
        <p:nvSpPr>
          <p:cNvPr id="6" name="Supporting text">
            <a:extLst xmlns:a="http://schemas.openxmlformats.org/drawingml/2006/main">
              <a:ext uri="{FF2B5EF4-FFF2-40B4-BE49-F238E27FC236}">
                <a16:creationId xmlns:a16="http://schemas.microsoft.com/office/drawing/2014/main" id="{B0F8B50A-FE2A-4F60-ACBA-4E8CD9C9D44B}"/>
              </a:ext>
            </a:extLst>
          </p:cNvPr>
          <p:cNvSpPr>
            <a:spLocks xmlns:a="http://schemas.openxmlformats.org/drawingml/2006/main" noGrp="1"/>
          </p:cNvSpPr>
          <p:nvPr/>
        </p:nvSpPr>
        <p:spPr>
          <a:xfrm xmlns:a="http://schemas.openxmlformats.org/drawingml/2006/main">
            <a:off x="609600" y="36861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An example shows the kind of answer I want.</a:t>
            </a:r>
          </a:p>
        </p:txBody>
      </p:sp>
      <p:sp>
        <p:nvSpPr>
          <p:cNvPr id="7" name="Supporting text">
            <a:extLst xmlns:a="http://schemas.openxmlformats.org/drawingml/2006/main">
              <a:ext uri="{FF2B5EF4-FFF2-40B4-BE49-F238E27FC236}">
                <a16:creationId xmlns:a16="http://schemas.microsoft.com/office/drawing/2014/main" id="{6BEE651A-1251-4381-9B78-CB472402E54A}"/>
              </a:ext>
            </a:extLst>
          </p:cNvPr>
          <p:cNvSpPr>
            <a:spLocks xmlns:a="http://schemas.openxmlformats.org/drawingml/2006/main" noGrp="1"/>
          </p:cNvSpPr>
          <p:nvPr/>
        </p:nvSpPr>
        <p:spPr>
          <a:xfrm xmlns:a="http://schemas.openxmlformats.org/drawingml/2006/main">
            <a:off x="609600" y="41529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follow-up improves the answer I just received.</a:t>
            </a:r>
          </a:p>
        </p:txBody>
      </p:sp>
      <p:sp>
        <p:nvSpPr>
          <p:cNvPr id="8" name="Supporting text">
            <a:extLst xmlns:a="http://schemas.openxmlformats.org/drawingml/2006/main">
              <a:ext uri="{FF2B5EF4-FFF2-40B4-BE49-F238E27FC236}">
                <a16:creationId xmlns:a16="http://schemas.microsoft.com/office/drawing/2014/main" id="{1C1145D3-F2E7-4F98-9BFC-AC16F47247BA}"/>
              </a:ext>
            </a:extLst>
          </p:cNvPr>
          <p:cNvSpPr>
            <a:spLocks xmlns:a="http://schemas.openxmlformats.org/drawingml/2006/main" noGrp="1"/>
          </p:cNvSpPr>
          <p:nvPr/>
        </p:nvSpPr>
        <p:spPr>
          <a:xfrm xmlns:a="http://schemas.openxmlformats.org/drawingml/2006/main">
            <a:off x="609600" y="46196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sequence of small requests is often called prompt chaining.</a:t>
            </a:r>
          </a:p>
        </p:txBody>
      </p:sp>
      <p:sp>
        <p:nvSpPr>
          <p:cNvPr id="9" name="Footer">
            <a:extLst xmlns:a="http://schemas.openxmlformats.org/drawingml/2006/main">
              <a:ext uri="{FF2B5EF4-FFF2-40B4-BE49-F238E27FC236}">
                <a16:creationId xmlns:a16="http://schemas.microsoft.com/office/drawing/2014/main" id="{212CD0BC-615E-40DD-AD81-C7D20BCA0FDC}"/>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10 / 31</a:t>
            </a:r>
          </a:p>
        </p:txBody>
      </p:sp>
    </p:spTree>
    <p:extLst>
      <p:ext uri="{BB962C8B-B14F-4D97-AF65-F5344CB8AC3E}">
        <p14:creationId xmlns:p14="http://schemas.microsoft.com/office/powerpoint/2010/main" val="18751675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9FB7AAD-57E5-4B39-B921-F45435396102}"/>
              </a:ext>
            </a:extLst>
          </p:cNvPr>
          <p:cNvPicPr>
            <a:picLocks xmlns:a="http://schemas.openxmlformats.org/drawingml/2006/main" noChangeAspect="1"/>
          </p:cNvPicPr>
          <p:nvPr/>
        </p:nvPicPr>
        <p:blipFill>
          <a:blip xmlns:r="http://schemas.openxmlformats.org/officeDocument/2006/relationships" xmlns:a="http://schemas.openxmlformats.org/drawingml/2006/main" r:embed="Rf248ab2a9a6d4b7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1EFD7A72-620E-4145-840A-4A61B77C0F4B}"/>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CD384D39-5B13-4588-BBE0-2F5807BA528D}"/>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AI can add a false detail</a:t>
            </a:r>
          </a:p>
        </p:txBody>
      </p:sp>
      <p:sp>
        <p:nvSpPr>
          <p:cNvPr id="4" name="Text">
            <a:extLst xmlns:a="http://schemas.openxmlformats.org/drawingml/2006/main">
              <a:ext uri="{FF2B5EF4-FFF2-40B4-BE49-F238E27FC236}">
                <a16:creationId xmlns:a16="http://schemas.microsoft.com/office/drawing/2014/main" id="{DA7AACFD-A062-413A-A776-E6EFDB4A6015}"/>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confident answer still needs a fact check.</a:t>
            </a:r>
          </a:p>
        </p:txBody>
      </p:sp>
      <p:sp>
        <p:nvSpPr>
          <p:cNvPr id="5" name="Supporting text">
            <a:extLst xmlns:a="http://schemas.openxmlformats.org/drawingml/2006/main">
              <a:ext uri="{FF2B5EF4-FFF2-40B4-BE49-F238E27FC236}">
                <a16:creationId xmlns:a16="http://schemas.microsoft.com/office/drawing/2014/main" id="{D22321E2-5E19-44B6-AC28-258211FB283A}"/>
              </a:ext>
            </a:extLst>
          </p:cNvPr>
          <p:cNvSpPr>
            <a:spLocks xmlns:a="http://schemas.openxmlformats.org/drawingml/2006/main" noGrp="1"/>
          </p:cNvSpPr>
          <p:nvPr/>
        </p:nvSpPr>
        <p:spPr>
          <a:xfrm xmlns:a="http://schemas.openxmlformats.org/drawingml/2006/main">
            <a:off x="609600" y="242887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Original: “I ran 12 tutoring sessions.”</a:t>
            </a:r>
          </a:p>
        </p:txBody>
      </p:sp>
      <p:sp>
        <p:nvSpPr>
          <p:cNvPr id="6" name="Supporting text">
            <a:extLst xmlns:a="http://schemas.openxmlformats.org/drawingml/2006/main">
              <a:ext uri="{FF2B5EF4-FFF2-40B4-BE49-F238E27FC236}">
                <a16:creationId xmlns:a16="http://schemas.microsoft.com/office/drawing/2014/main" id="{FB70901D-BD25-450D-AFC0-0E20CF133562}"/>
              </a:ext>
            </a:extLst>
          </p:cNvPr>
          <p:cNvSpPr>
            <a:spLocks xmlns:a="http://schemas.openxmlformats.org/drawingml/2006/main" noGrp="1"/>
          </p:cNvSpPr>
          <p:nvPr/>
        </p:nvSpPr>
        <p:spPr>
          <a:xfrm xmlns:a="http://schemas.openxmlformats.org/drawingml/2006/main">
            <a:off x="609600" y="3209925"/>
            <a:ext cx="5286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AI added: “Grades improved by 20%.”</a:t>
            </a:r>
          </a:p>
        </p:txBody>
      </p:sp>
      <p:sp>
        <p:nvSpPr>
          <p:cNvPr id="7" name="Supporting text">
            <a:extLst xmlns:a="http://schemas.openxmlformats.org/drawingml/2006/main">
              <a:ext uri="{FF2B5EF4-FFF2-40B4-BE49-F238E27FC236}">
                <a16:creationId xmlns:a16="http://schemas.microsoft.com/office/drawing/2014/main" id="{BD3C3E20-B4A0-44E2-905F-3ADDFD247CA5}"/>
              </a:ext>
            </a:extLst>
          </p:cNvPr>
          <p:cNvSpPr>
            <a:spLocks xmlns:a="http://schemas.openxmlformats.org/drawingml/2006/main" noGrp="1"/>
          </p:cNvSpPr>
          <p:nvPr/>
        </p:nvSpPr>
        <p:spPr>
          <a:xfrm xmlns:a="http://schemas.openxmlformats.org/drawingml/2006/main">
            <a:off x="609600" y="367665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original does not support the added claim.</a:t>
            </a:r>
          </a:p>
        </p:txBody>
      </p:sp>
      <p:pic>
        <p:nvPicPr>
          <p:cNvPr id="8" name="">
            <a:extLst xmlns:a="http://schemas.openxmlformats.org/drawingml/2006/main">
              <a:ext uri="{FF2B5EF4-FFF2-40B4-BE49-F238E27FC236}">
                <a16:creationId xmlns:a16="http://schemas.microsoft.com/office/drawing/2014/main" id="{20E6DA75-CFB1-4265-BF7F-83C33885843D}"/>
              </a:ext>
            </a:extLst>
          </p:cNvPr>
          <p:cNvPicPr>
            <a:picLocks xmlns:a="http://schemas.openxmlformats.org/drawingml/2006/main" noChangeAspect="1"/>
          </p:cNvPicPr>
          <p:nvPr/>
        </p:nvPicPr>
        <p:blipFill>
          <a:blip xmlns:r="http://schemas.openxmlformats.org/officeDocument/2006/relationships" xmlns:a="http://schemas.openxmlformats.org/drawingml/2006/main" r:embed="Rd487a94d47dd40b0"/>
          <a:stretch xmlns:a="http://schemas.openxmlformats.org/drawingml/2006/main"/>
        </p:blipFill>
        <p:spPr>
          <a:xfrm xmlns:a="http://schemas.openxmlformats.org/drawingml/2006/main">
            <a:off x="6596063" y="2857500"/>
            <a:ext cx="4714875" cy="3143250"/>
          </a:xfrm>
          <a:prstGeom xmlns:a="http://schemas.openxmlformats.org/drawingml/2006/main" prst="rect">
            <a:avLst/>
          </a:prstGeom>
        </p:spPr>
      </p:pic>
      <p:sp>
        <p:nvSpPr>
          <p:cNvPr id="9" name="Footer">
            <a:extLst xmlns:a="http://schemas.openxmlformats.org/drawingml/2006/main">
              <a:ext uri="{FF2B5EF4-FFF2-40B4-BE49-F238E27FC236}">
                <a16:creationId xmlns:a16="http://schemas.microsoft.com/office/drawing/2014/main" id="{E7FED9A4-0422-40AB-A8D3-12B79168AD51}"/>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11 / 31</a:t>
            </a:r>
          </a:p>
        </p:txBody>
      </p:sp>
    </p:spTree>
    <p:extLst>
      <p:ext uri="{BB962C8B-B14F-4D97-AF65-F5344CB8AC3E}">
        <p14:creationId xmlns:p14="http://schemas.microsoft.com/office/powerpoint/2010/main" val="185236382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9778086-3423-49F3-994B-7C8AE07DA957}"/>
              </a:ext>
            </a:extLst>
          </p:cNvPr>
          <p:cNvPicPr>
            <a:picLocks xmlns:a="http://schemas.openxmlformats.org/drawingml/2006/main" noChangeAspect="1"/>
          </p:cNvPicPr>
          <p:nvPr/>
        </p:nvPicPr>
        <p:blipFill>
          <a:blip xmlns:r="http://schemas.openxmlformats.org/officeDocument/2006/relationships" xmlns:a="http://schemas.openxmlformats.org/drawingml/2006/main" r:embed="Rb598ef1c1da246a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9F94BE47-7875-4BAD-A234-1C63C5E682E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ADCA354B-0C12-4344-BBC5-F889FE47B579}"/>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Files in the practice packet</a:t>
            </a:r>
          </a:p>
        </p:txBody>
      </p:sp>
      <p:sp>
        <p:nvSpPr>
          <p:cNvPr id="4" name="Text">
            <a:extLst xmlns:a="http://schemas.openxmlformats.org/drawingml/2006/main">
              <a:ext uri="{FF2B5EF4-FFF2-40B4-BE49-F238E27FC236}">
                <a16:creationId xmlns:a16="http://schemas.microsoft.com/office/drawing/2014/main" id="{377A8240-700A-45A2-AC4A-4F5FC8D5A7FE}"/>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File endings tell us what kind of file we are opening.</a:t>
            </a:r>
          </a:p>
        </p:txBody>
      </p:sp>
      <p:graphicFrame>
        <p:nvGraphicFramePr>
          <p:cNvPr id="5" name="">
            <a:extLst xmlns:a="http://schemas.openxmlformats.org/drawingml/2006/main">
              <a:ext uri="{FF2B5EF4-FFF2-40B4-BE49-F238E27FC236}">
                <a16:creationId xmlns:a16="http://schemas.microsoft.com/office/drawing/2014/main" id="{CFA41CB1-5789-4EC3-BBE4-3DB283AD9EF3}"/>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571750"/>
                <a:gridCol w="8401050"/>
              </a:tblGrid>
              <a:tr h="628650">
                <a:tc>
                  <a:txBody>
                    <a:bodyPr/>
                    <a:lstStyle/>
                    <a:p>
                      <a:r>
                        <a:rPr sz="1800" b="1">
                          <a:solidFill>
                            <a:srgbClr val="FFFFFF"/>
                          </a:solidFill>
                          <a:latin typeface="Poppins"/>
                          <a:ea typeface="Poppins"/>
                          <a:cs typeface="Poppins"/>
                        </a:rPr>
                        <a:t>Ending</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it means here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.csv</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A simple table, such as the application records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.md</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Plain text with simple headings; called Markdown</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.txt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Plain text, such as a saved prompt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.pdf</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A document with a fixed page layout</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C0DA69CC-7625-462C-8125-BE489CC01C52}"/>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12 / 31</a:t>
            </a:r>
          </a:p>
        </p:txBody>
      </p:sp>
    </p:spTree>
    <p:extLst>
      <p:ext uri="{BB962C8B-B14F-4D97-AF65-F5344CB8AC3E}">
        <p14:creationId xmlns:p14="http://schemas.microsoft.com/office/powerpoint/2010/main" val="62054868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D073839-CB12-4692-8EB5-D037B8681287}"/>
              </a:ext>
            </a:extLst>
          </p:cNvPr>
          <p:cNvPicPr>
            <a:picLocks xmlns:a="http://schemas.openxmlformats.org/drawingml/2006/main" noChangeAspect="1"/>
          </p:cNvPicPr>
          <p:nvPr/>
        </p:nvPicPr>
        <p:blipFill>
          <a:blip xmlns:r="http://schemas.openxmlformats.org/officeDocument/2006/relationships" xmlns:a="http://schemas.openxmlformats.org/drawingml/2006/main" r:embed="R5af16b5060444b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4D5E4ED3-8499-4F3E-B1C0-31558897176E}"/>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B6D952D4-05EA-4F93-A8DE-928748883420}"/>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person owns the decision</a:t>
            </a:r>
          </a:p>
        </p:txBody>
      </p:sp>
      <p:sp>
        <p:nvSpPr>
          <p:cNvPr id="4" name="Text">
            <a:extLst xmlns:a="http://schemas.openxmlformats.org/drawingml/2006/main">
              <a:ext uri="{FF2B5EF4-FFF2-40B4-BE49-F238E27FC236}">
                <a16:creationId xmlns:a16="http://schemas.microsoft.com/office/drawing/2014/main" id="{05625E6F-76CF-4547-8275-F31CDF62F312}"/>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AI can prepare a checklist. Staff check it and decide.</a:t>
            </a:r>
          </a:p>
        </p:txBody>
      </p:sp>
      <p:sp>
        <p:nvSpPr>
          <p:cNvPr id="5" name="Supporting text">
            <a:extLst xmlns:a="http://schemas.openxmlformats.org/drawingml/2006/main">
              <a:ext uri="{FF2B5EF4-FFF2-40B4-BE49-F238E27FC236}">
                <a16:creationId xmlns:a16="http://schemas.microsoft.com/office/drawing/2014/main" id="{B00E8BBF-14E3-44B7-80B5-8A2AA6655BC9}"/>
              </a:ext>
            </a:extLst>
          </p:cNvPr>
          <p:cNvSpPr>
            <a:spLocks xmlns:a="http://schemas.openxmlformats.org/drawingml/2006/main" noGrp="1"/>
          </p:cNvSpPr>
          <p:nvPr/>
        </p:nvSpPr>
        <p:spPr>
          <a:xfrm xmlns:a="http://schemas.openxmlformats.org/drawingml/2006/main">
            <a:off x="609600" y="242887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Use the AI account and information your organization allows.</a:t>
            </a:r>
          </a:p>
        </p:txBody>
      </p:sp>
      <p:sp>
        <p:nvSpPr>
          <p:cNvPr id="6" name="Supporting text">
            <a:extLst xmlns:a="http://schemas.openxmlformats.org/drawingml/2006/main">
              <a:ext uri="{FF2B5EF4-FFF2-40B4-BE49-F238E27FC236}">
                <a16:creationId xmlns:a16="http://schemas.microsoft.com/office/drawing/2014/main" id="{536E6162-6453-4538-9525-92FDA952A4DE}"/>
              </a:ext>
            </a:extLst>
          </p:cNvPr>
          <p:cNvSpPr>
            <a:spLocks xmlns:a="http://schemas.openxmlformats.org/drawingml/2006/main" noGrp="1"/>
          </p:cNvSpPr>
          <p:nvPr/>
        </p:nvSpPr>
        <p:spPr>
          <a:xfrm xmlns:a="http://schemas.openxmlformats.org/drawingml/2006/main">
            <a:off x="609600" y="320992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Names removed from a file do not remove every identifying detail.</a:t>
            </a:r>
          </a:p>
        </p:txBody>
      </p:sp>
      <p:sp>
        <p:nvSpPr>
          <p:cNvPr id="7" name="Supporting text">
            <a:extLst xmlns:a="http://schemas.openxmlformats.org/drawingml/2006/main">
              <a:ext uri="{FF2B5EF4-FFF2-40B4-BE49-F238E27FC236}">
                <a16:creationId xmlns:a16="http://schemas.microsoft.com/office/drawing/2014/main" id="{8AF9071F-243E-4824-AA63-76112B202F72}"/>
              </a:ext>
            </a:extLst>
          </p:cNvPr>
          <p:cNvSpPr>
            <a:spLocks xmlns:a="http://schemas.openxmlformats.org/drawingml/2006/main" noGrp="1"/>
          </p:cNvSpPr>
          <p:nvPr/>
        </p:nvSpPr>
        <p:spPr>
          <a:xfrm xmlns:a="http://schemas.openxmlformats.org/drawingml/2006/main">
            <a:off x="609600" y="399097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Practice here uses made-up information.</a:t>
            </a:r>
          </a:p>
        </p:txBody>
      </p:sp>
      <p:pic>
        <p:nvPicPr>
          <p:cNvPr id="8" name="">
            <a:extLst xmlns:a="http://schemas.openxmlformats.org/drawingml/2006/main">
              <a:ext uri="{FF2B5EF4-FFF2-40B4-BE49-F238E27FC236}">
                <a16:creationId xmlns:a16="http://schemas.microsoft.com/office/drawing/2014/main" id="{02464470-DC62-42F4-A28A-E80A64B6E9D3}"/>
              </a:ext>
            </a:extLst>
          </p:cNvPr>
          <p:cNvPicPr>
            <a:picLocks xmlns:a="http://schemas.openxmlformats.org/drawingml/2006/main" noChangeAspect="1"/>
          </p:cNvPicPr>
          <p:nvPr/>
        </p:nvPicPr>
        <p:blipFill>
          <a:blip xmlns:r="http://schemas.openxmlformats.org/officeDocument/2006/relationships" xmlns:a="http://schemas.openxmlformats.org/drawingml/2006/main" r:embed="Rc9f72e180542414c"/>
          <a:stretch xmlns:a="http://schemas.openxmlformats.org/drawingml/2006/main"/>
        </p:blipFill>
        <p:spPr>
          <a:xfrm xmlns:a="http://schemas.openxmlformats.org/drawingml/2006/main">
            <a:off x="6596063" y="2857500"/>
            <a:ext cx="4714875" cy="3143250"/>
          </a:xfrm>
          <a:prstGeom xmlns:a="http://schemas.openxmlformats.org/drawingml/2006/main" prst="rect">
            <a:avLst/>
          </a:prstGeom>
        </p:spPr>
      </p:pic>
      <p:sp>
        <p:nvSpPr>
          <p:cNvPr id="9" name="Footer">
            <a:extLst xmlns:a="http://schemas.openxmlformats.org/drawingml/2006/main">
              <a:ext uri="{FF2B5EF4-FFF2-40B4-BE49-F238E27FC236}">
                <a16:creationId xmlns:a16="http://schemas.microsoft.com/office/drawing/2014/main" id="{643F76FE-E24E-4C3B-A318-B838AEE8B189}"/>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13 / 31</a:t>
            </a:r>
          </a:p>
        </p:txBody>
      </p:sp>
    </p:spTree>
    <p:extLst>
      <p:ext uri="{BB962C8B-B14F-4D97-AF65-F5344CB8AC3E}">
        <p14:creationId xmlns:p14="http://schemas.microsoft.com/office/powerpoint/2010/main" val="15333145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A299676-7FA9-43F6-BE44-048A01269117}"/>
              </a:ext>
            </a:extLst>
          </p:cNvPr>
          <p:cNvPicPr>
            <a:picLocks xmlns:a="http://schemas.openxmlformats.org/drawingml/2006/main" noChangeAspect="1"/>
          </p:cNvPicPr>
          <p:nvPr/>
        </p:nvPicPr>
        <p:blipFill>
          <a:blip xmlns:r="http://schemas.openxmlformats.org/officeDocument/2006/relationships" xmlns:a="http://schemas.openxmlformats.org/drawingml/2006/main" r:embed="R94bf4a08f7e54f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C5EF61D0-B99B-4D53-BE3E-6C174F04FF5C}"/>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9E400DC5-BE33-426E-BEF5-F08BFFA85416}"/>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Applicant codes in our examples</a:t>
            </a:r>
          </a:p>
        </p:txBody>
      </p:sp>
      <p:sp>
        <p:nvSpPr>
          <p:cNvPr id="4" name="Text">
            <a:extLst xmlns:a="http://schemas.openxmlformats.org/drawingml/2006/main">
              <a:ext uri="{FF2B5EF4-FFF2-40B4-BE49-F238E27FC236}">
                <a16:creationId xmlns:a16="http://schemas.microsoft.com/office/drawing/2014/main" id="{6424F1A2-C16C-4EDA-9A2F-D3B2BD770693}"/>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A17, A18, and A19 are made-up labels used instead of names.</a:t>
            </a:r>
          </a:p>
        </p:txBody>
      </p:sp>
      <p:sp>
        <p:nvSpPr>
          <p:cNvPr id="5" name="Supporting text">
            <a:extLst xmlns:a="http://schemas.openxmlformats.org/drawingml/2006/main">
              <a:ext uri="{FF2B5EF4-FFF2-40B4-BE49-F238E27FC236}">
                <a16:creationId xmlns:a16="http://schemas.microsoft.com/office/drawing/2014/main" id="{44181413-E421-400A-ACA1-BEE816527574}"/>
              </a:ext>
            </a:extLst>
          </p:cNvPr>
          <p:cNvSpPr>
            <a:spLocks xmlns:a="http://schemas.openxmlformats.org/drawingml/2006/main" noGrp="1"/>
          </p:cNvSpPr>
          <p:nvPr/>
        </p:nvSpPr>
        <p:spPr>
          <a:xfrm xmlns:a="http://schemas.openxmlformats.org/drawingml/2006/main">
            <a:off x="609600" y="242887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same code connects one applicant’s records.</a:t>
            </a:r>
          </a:p>
        </p:txBody>
      </p:sp>
      <p:sp>
        <p:nvSpPr>
          <p:cNvPr id="6" name="Supporting text">
            <a:extLst xmlns:a="http://schemas.openxmlformats.org/drawingml/2006/main">
              <a:ext uri="{FF2B5EF4-FFF2-40B4-BE49-F238E27FC236}">
                <a16:creationId xmlns:a16="http://schemas.microsoft.com/office/drawing/2014/main" id="{452444D4-3DF0-421F-82AD-B81494B2E1FE}"/>
              </a:ext>
            </a:extLst>
          </p:cNvPr>
          <p:cNvSpPr>
            <a:spLocks xmlns:a="http://schemas.openxmlformats.org/drawingml/2006/main" noGrp="1"/>
          </p:cNvSpPr>
          <p:nvPr/>
        </p:nvSpPr>
        <p:spPr>
          <a:xfrm xmlns:a="http://schemas.openxmlformats.org/drawingml/2006/main">
            <a:off x="609600" y="320992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A17-transcript.pdf means the transcript file for applicant A17.</a:t>
            </a:r>
          </a:p>
        </p:txBody>
      </p:sp>
      <p:sp>
        <p:nvSpPr>
          <p:cNvPr id="7" name="Supporting text">
            <a:extLst xmlns:a="http://schemas.openxmlformats.org/drawingml/2006/main">
              <a:ext uri="{FF2B5EF4-FFF2-40B4-BE49-F238E27FC236}">
                <a16:creationId xmlns:a16="http://schemas.microsoft.com/office/drawing/2014/main" id="{EB4640BC-DF66-4E46-BFEB-6B1257594DE7}"/>
              </a:ext>
            </a:extLst>
          </p:cNvPr>
          <p:cNvSpPr>
            <a:spLocks xmlns:a="http://schemas.openxmlformats.org/drawingml/2006/main" noGrp="1"/>
          </p:cNvSpPr>
          <p:nvPr/>
        </p:nvSpPr>
        <p:spPr>
          <a:xfrm xmlns:a="http://schemas.openxmlformats.org/drawingml/2006/main">
            <a:off x="609600" y="399097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code alone does not make real information anonymous.</a:t>
            </a:r>
          </a:p>
        </p:txBody>
      </p:sp>
      <p:pic>
        <p:nvPicPr>
          <p:cNvPr id="8" name="">
            <a:extLst xmlns:a="http://schemas.openxmlformats.org/drawingml/2006/main">
              <a:ext uri="{FF2B5EF4-FFF2-40B4-BE49-F238E27FC236}">
                <a16:creationId xmlns:a16="http://schemas.microsoft.com/office/drawing/2014/main" id="{B74BF5CC-8BB7-46E5-9271-A1B45985839B}"/>
              </a:ext>
            </a:extLst>
          </p:cNvPr>
          <p:cNvPicPr>
            <a:picLocks xmlns:a="http://schemas.openxmlformats.org/drawingml/2006/main" noChangeAspect="1"/>
          </p:cNvPicPr>
          <p:nvPr/>
        </p:nvPicPr>
        <p:blipFill>
          <a:blip xmlns:r="http://schemas.openxmlformats.org/officeDocument/2006/relationships" xmlns:a="http://schemas.openxmlformats.org/drawingml/2006/main" r:embed="R21eb729685434db1"/>
          <a:stretch xmlns:a="http://schemas.openxmlformats.org/drawingml/2006/main"/>
        </p:blipFill>
        <p:spPr>
          <a:xfrm xmlns:a="http://schemas.openxmlformats.org/drawingml/2006/main">
            <a:off x="6596063" y="2857500"/>
            <a:ext cx="4714875" cy="3143250"/>
          </a:xfrm>
          <a:prstGeom xmlns:a="http://schemas.openxmlformats.org/drawingml/2006/main" prst="rect">
            <a:avLst/>
          </a:prstGeom>
        </p:spPr>
      </p:pic>
      <p:sp>
        <p:nvSpPr>
          <p:cNvPr id="9" name="Footer">
            <a:extLst xmlns:a="http://schemas.openxmlformats.org/drawingml/2006/main">
              <a:ext uri="{FF2B5EF4-FFF2-40B4-BE49-F238E27FC236}">
                <a16:creationId xmlns:a16="http://schemas.microsoft.com/office/drawing/2014/main" id="{E79A2F6E-A8F0-48E8-8E12-A302B3E8B401}"/>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14 / 31</a:t>
            </a:r>
          </a:p>
        </p:txBody>
      </p:sp>
    </p:spTree>
    <p:extLst>
      <p:ext uri="{BB962C8B-B14F-4D97-AF65-F5344CB8AC3E}">
        <p14:creationId xmlns:p14="http://schemas.microsoft.com/office/powerpoint/2010/main" val="138732227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167A739-5FC6-4E7A-95E8-17DE2DE8CF7C}"/>
              </a:ext>
            </a:extLst>
          </p:cNvPr>
          <p:cNvPicPr>
            <a:picLocks xmlns:a="http://schemas.openxmlformats.org/drawingml/2006/main" noChangeAspect="1"/>
          </p:cNvPicPr>
          <p:nvPr/>
        </p:nvPicPr>
        <p:blipFill>
          <a:blip xmlns:r="http://schemas.openxmlformats.org/officeDocument/2006/relationships" xmlns:a="http://schemas.openxmlformats.org/drawingml/2006/main" r:embed="R255638f7d300496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DB8824D4-ECA7-4201-9CCD-21CD5969AA32}"/>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A7CD18B6-34C6-4CEF-9CA4-492068C66387}"/>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manifest is a file list</a:t>
            </a:r>
          </a:p>
        </p:txBody>
      </p:sp>
      <p:sp>
        <p:nvSpPr>
          <p:cNvPr id="4" name="Text">
            <a:extLst xmlns:a="http://schemas.openxmlformats.org/drawingml/2006/main">
              <a:ext uri="{FF2B5EF4-FFF2-40B4-BE49-F238E27FC236}">
                <a16:creationId xmlns:a16="http://schemas.microsoft.com/office/drawing/2014/main" id="{A4A73E2F-4978-4EEC-AB90-25AF78E1B7EB}"/>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listed file name tells us what to look for.</a:t>
            </a:r>
          </a:p>
        </p:txBody>
      </p:sp>
      <p:sp>
        <p:nvSpPr>
          <p:cNvPr id="5" name="Supporting text">
            <a:extLst xmlns:a="http://schemas.openxmlformats.org/drawingml/2006/main">
              <a:ext uri="{FF2B5EF4-FFF2-40B4-BE49-F238E27FC236}">
                <a16:creationId xmlns:a16="http://schemas.microsoft.com/office/drawing/2014/main" id="{481C34AC-6445-44B1-B700-D0B3FB0187C7}"/>
              </a:ext>
            </a:extLst>
          </p:cNvPr>
          <p:cNvSpPr>
            <a:spLocks xmlns:a="http://schemas.openxmlformats.org/drawingml/2006/main" noGrp="1"/>
          </p:cNvSpPr>
          <p:nvPr/>
        </p:nvSpPr>
        <p:spPr>
          <a:xfrm xmlns:a="http://schemas.openxmlformats.org/drawingml/2006/main">
            <a:off x="609600" y="2428875"/>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manifest.csv lists pretend document names.</a:t>
            </a:r>
          </a:p>
        </p:txBody>
      </p:sp>
      <p:sp>
        <p:nvSpPr>
          <p:cNvPr id="6" name="Supporting text">
            <a:extLst xmlns:a="http://schemas.openxmlformats.org/drawingml/2006/main">
              <a:ext uri="{FF2B5EF4-FFF2-40B4-BE49-F238E27FC236}">
                <a16:creationId xmlns:a16="http://schemas.microsoft.com/office/drawing/2014/main" id="{2B07386D-6AF9-4E90-AD4D-33D9FA8BD03A}"/>
              </a:ext>
            </a:extLst>
          </p:cNvPr>
          <p:cNvSpPr>
            <a:spLocks xmlns:a="http://schemas.openxmlformats.org/drawingml/2006/main" noGrp="1"/>
          </p:cNvSpPr>
          <p:nvPr/>
        </p:nvSpPr>
        <p:spPr>
          <a:xfrm xmlns:a="http://schemas.openxmlformats.org/drawingml/2006/main">
            <a:off x="609600" y="3209925"/>
            <a:ext cx="5286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pretend PDFs are not included.</a:t>
            </a:r>
          </a:p>
        </p:txBody>
      </p:sp>
      <p:sp>
        <p:nvSpPr>
          <p:cNvPr id="7" name="Supporting text">
            <a:extLst xmlns:a="http://schemas.openxmlformats.org/drawingml/2006/main">
              <a:ext uri="{FF2B5EF4-FFF2-40B4-BE49-F238E27FC236}">
                <a16:creationId xmlns:a16="http://schemas.microsoft.com/office/drawing/2014/main" id="{55F118DF-1BA2-4A01-A7D5-B8F0308E2179}"/>
              </a:ext>
            </a:extLst>
          </p:cNvPr>
          <p:cNvSpPr>
            <a:spLocks xmlns:a="http://schemas.openxmlformats.org/drawingml/2006/main" noGrp="1"/>
          </p:cNvSpPr>
          <p:nvPr/>
        </p:nvSpPr>
        <p:spPr>
          <a:xfrm xmlns:a="http://schemas.openxmlformats.org/drawingml/2006/main">
            <a:off x="609600" y="367665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person must open an actual document to check its contents.</a:t>
            </a:r>
          </a:p>
        </p:txBody>
      </p:sp>
      <p:pic>
        <p:nvPicPr>
          <p:cNvPr id="8" name="">
            <a:extLst xmlns:a="http://schemas.openxmlformats.org/drawingml/2006/main">
              <a:ext uri="{FF2B5EF4-FFF2-40B4-BE49-F238E27FC236}">
                <a16:creationId xmlns:a16="http://schemas.microsoft.com/office/drawing/2014/main" id="{51F27A55-8530-4298-8536-2E73A2996311}"/>
              </a:ext>
            </a:extLst>
          </p:cNvPr>
          <p:cNvPicPr>
            <a:picLocks xmlns:a="http://schemas.openxmlformats.org/drawingml/2006/main" noChangeAspect="1"/>
          </p:cNvPicPr>
          <p:nvPr/>
        </p:nvPicPr>
        <p:blipFill>
          <a:blip xmlns:r="http://schemas.openxmlformats.org/officeDocument/2006/relationships" xmlns:a="http://schemas.openxmlformats.org/drawingml/2006/main" r:embed="R94e930dc02da40a2"/>
          <a:stretch xmlns:a="http://schemas.openxmlformats.org/drawingml/2006/main"/>
        </p:blipFill>
        <p:spPr>
          <a:xfrm xmlns:a="http://schemas.openxmlformats.org/drawingml/2006/main">
            <a:off x="6596063" y="2857500"/>
            <a:ext cx="4714875" cy="3143250"/>
          </a:xfrm>
          <a:prstGeom xmlns:a="http://schemas.openxmlformats.org/drawingml/2006/main" prst="rect">
            <a:avLst/>
          </a:prstGeom>
        </p:spPr>
      </p:pic>
      <p:sp>
        <p:nvSpPr>
          <p:cNvPr id="9" name="Footer">
            <a:extLst xmlns:a="http://schemas.openxmlformats.org/drawingml/2006/main">
              <a:ext uri="{FF2B5EF4-FFF2-40B4-BE49-F238E27FC236}">
                <a16:creationId xmlns:a16="http://schemas.microsoft.com/office/drawing/2014/main" id="{318BEBB5-D6EC-4288-881D-45E6557DB5CF}"/>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15 / 31</a:t>
            </a:r>
          </a:p>
        </p:txBody>
      </p:sp>
    </p:spTree>
    <p:extLst>
      <p:ext uri="{BB962C8B-B14F-4D97-AF65-F5344CB8AC3E}">
        <p14:creationId xmlns:p14="http://schemas.microsoft.com/office/powerpoint/2010/main" val="773572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FC1AE2F-9BC3-4291-A0B2-C9BF7E2E11C0}"/>
              </a:ext>
            </a:extLst>
          </p:cNvPr>
          <p:cNvPicPr>
            <a:picLocks xmlns:a="http://schemas.openxmlformats.org/drawingml/2006/main" noChangeAspect="1"/>
          </p:cNvPicPr>
          <p:nvPr/>
        </p:nvPicPr>
        <p:blipFill>
          <a:blip xmlns:r="http://schemas.openxmlformats.org/officeDocument/2006/relationships" xmlns:a="http://schemas.openxmlformats.org/drawingml/2006/main" r:embed="R2cbe73d40daa42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2FCAF062-060D-46F1-839F-6E7AC454A576}"/>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B0BF7B19-2414-429F-9A4C-FE3D38C656FE}"/>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Words in a scoring guide</a:t>
            </a:r>
          </a:p>
        </p:txBody>
      </p:sp>
      <p:sp>
        <p:nvSpPr>
          <p:cNvPr id="4" name="Text">
            <a:extLst xmlns:a="http://schemas.openxmlformats.org/drawingml/2006/main">
              <a:ext uri="{FF2B5EF4-FFF2-40B4-BE49-F238E27FC236}">
                <a16:creationId xmlns:a16="http://schemas.microsoft.com/office/drawing/2014/main" id="{274C0A0B-E32A-43C0-B21A-BC5838937B31}"/>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rubric describes how to award points.</a:t>
            </a:r>
          </a:p>
        </p:txBody>
      </p:sp>
      <p:graphicFrame>
        <p:nvGraphicFramePr>
          <p:cNvPr id="5" name="">
            <a:extLst xmlns:a="http://schemas.openxmlformats.org/drawingml/2006/main">
              <a:ext uri="{FF2B5EF4-FFF2-40B4-BE49-F238E27FC236}">
                <a16:creationId xmlns:a16="http://schemas.microsoft.com/office/drawing/2014/main" id="{B5365213-2394-44DF-8084-92F5A6539CA7}"/>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571750"/>
                <a:gridCol w="8401050"/>
              </a:tblGrid>
              <a:tr h="628650">
                <a:tc>
                  <a:txBody>
                    <a:bodyPr/>
                    <a:lstStyle/>
                    <a:p>
                      <a:r>
                        <a:rPr sz="1800" b="1">
                          <a:solidFill>
                            <a:srgbClr val="FFFFFF"/>
                          </a:solidFill>
                          <a:latin typeface="Poppins"/>
                          <a:ea typeface="Poppins"/>
                          <a:cs typeface="Poppins"/>
                        </a:rPr>
                        <a:t>Word</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it means</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Criterion</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The part we are judging, such as community contribution</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Anchor</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The description of what earns a particular score</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Evidence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The original words or facts supporting a score</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Provisional score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A suggested score for a person to check</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AD29C052-FCE3-4509-9626-CDB898C1F3E9}"/>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16 / 31</a:t>
            </a:r>
          </a:p>
        </p:txBody>
      </p:sp>
    </p:spTree>
    <p:extLst>
      <p:ext uri="{BB962C8B-B14F-4D97-AF65-F5344CB8AC3E}">
        <p14:creationId xmlns:p14="http://schemas.microsoft.com/office/powerpoint/2010/main" val="48826383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4AF3195-1C93-4B4B-AEDE-FB1E06F3509E}"/>
              </a:ext>
            </a:extLst>
          </p:cNvPr>
          <p:cNvPicPr>
            <a:picLocks xmlns:a="http://schemas.openxmlformats.org/drawingml/2006/main" noChangeAspect="1"/>
          </p:cNvPicPr>
          <p:nvPr/>
        </p:nvPicPr>
        <p:blipFill>
          <a:blip xmlns:r="http://schemas.openxmlformats.org/officeDocument/2006/relationships" xmlns:a="http://schemas.openxmlformats.org/drawingml/2006/main" r:embed="R71a06f701b9b47e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001FE1E8-86DF-481A-BA59-ADBA3A053B9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8F5F2A3F-D955-4CDA-AA86-CFBB78C95E5F}"/>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Our three ChatGPT demonstrations</a:t>
            </a:r>
          </a:p>
        </p:txBody>
      </p:sp>
      <p:sp>
        <p:nvSpPr>
          <p:cNvPr id="4" name="Text">
            <a:extLst xmlns:a="http://schemas.openxmlformats.org/drawingml/2006/main">
              <a:ext uri="{FF2B5EF4-FFF2-40B4-BE49-F238E27FC236}">
                <a16:creationId xmlns:a16="http://schemas.microsoft.com/office/drawing/2014/main" id="{88094772-2F83-4A41-9C2A-8EEF042142E0}"/>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One task at a time, with a person checking the answer</a:t>
            </a:r>
          </a:p>
        </p:txBody>
      </p:sp>
      <p:graphicFrame>
        <p:nvGraphicFramePr>
          <p:cNvPr id="5" name="">
            <a:extLst xmlns:a="http://schemas.openxmlformats.org/drawingml/2006/main">
              <a:ext uri="{FF2B5EF4-FFF2-40B4-BE49-F238E27FC236}">
                <a16:creationId xmlns:a16="http://schemas.microsoft.com/office/drawing/2014/main" id="{DF5782FE-BB92-45D2-88F5-A75EE11D10A5}"/>
              </a:ext>
            </a:extLst>
          </p:cNvPr>
          <p:cNvGraphicFramePr/>
          <p:nvPr/>
        </p:nvGraphicFramePr>
        <p:xfrm>
          <a:off xmlns:a="http://schemas.openxmlformats.org/drawingml/2006/main" x="609600" y="2428875"/>
          <a:ext xmlns:a="http://schemas.openxmlformats.org/drawingml/2006/main" cx="10972800" cy="3124200"/>
        </p:xfrm>
        <a:graphic xmlns:a="http://schemas.openxmlformats.org/drawingml/2006/main">
          <a:graphicData uri="http://schemas.openxmlformats.org/drawingml/2006/table">
            <a:tbl>
              <a:tblPr firstRow="1" bandRow="0"/>
              <a:tblGrid>
                <a:gridCol w="2476500"/>
                <a:gridCol w="4286250"/>
                <a:gridCol w="4210050"/>
              </a:tblGrid>
              <a:tr h="781050">
                <a:tc>
                  <a:txBody>
                    <a:bodyPr/>
                    <a:lstStyle/>
                    <a:p>
                      <a:r>
                        <a:rPr sz="1800" b="1">
                          <a:solidFill>
                            <a:srgbClr val="FFFFFF"/>
                          </a:solidFill>
                          <a:latin typeface="Poppins"/>
                          <a:ea typeface="Poppins"/>
                          <a:cs typeface="Poppins"/>
                        </a:rPr>
                        <a:t>Task</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AI prepares</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staff check</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781050">
                <a:tc>
                  <a:txBody>
                    <a:bodyPr/>
                    <a:lstStyle/>
                    <a:p>
                      <a:r>
                        <a:rPr sz="1800" b="0">
                          <a:solidFill>
                            <a:srgbClr val="2E4F66"/>
                          </a:solidFill>
                          <a:latin typeface="Poppins"/>
                          <a:ea typeface="Poppins"/>
                          <a:cs typeface="Poppins"/>
                        </a:rPr>
                        <a:t>Organize files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A list for each applicant</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Every item on the original file list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781050">
                <a:tc>
                  <a:txBody>
                    <a:bodyPr/>
                    <a:lstStyle/>
                    <a:p>
                      <a:r>
                        <a:rPr sz="1800" b="0">
                          <a:solidFill>
                            <a:srgbClr val="2E4F66"/>
                          </a:solidFill>
                          <a:latin typeface="Poppins"/>
                          <a:ea typeface="Poppins"/>
                          <a:cs typeface="Poppins"/>
                        </a:rPr>
                        <a:t>Check office records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Missing items and late dates</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Actual records and any exceptions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781050">
                <a:tc>
                  <a:txBody>
                    <a:bodyPr/>
                    <a:lstStyle/>
                    <a:p>
                      <a:r>
                        <a:rPr sz="1800" b="0">
                          <a:solidFill>
                            <a:srgbClr val="2E4F66"/>
                          </a:solidFill>
                          <a:latin typeface="Poppins"/>
                          <a:ea typeface="Poppins"/>
                          <a:cs typeface="Poppins"/>
                        </a:rPr>
                        <a:t>Use a scoring guide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Quotes and a suggested score</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Original words and the scoring rule</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Resource link">
            <a:extLst xmlns:a="http://schemas.openxmlformats.org/drawingml/2006/main">
              <a:ext uri="{FF2B5EF4-FFF2-40B4-BE49-F238E27FC236}">
                <a16:creationId xmlns:a16="http://schemas.microsoft.com/office/drawing/2014/main" id="{C55FC926-E3D1-4A8A-851C-C9FEDAE1E5A9}"/>
              </a:ext>
            </a:extLst>
          </p:cNvPr>
          <p:cNvSpPr>
            <a:spLocks xmlns:a="http://schemas.openxmlformats.org/drawingml/2006/main" noGrp="1"/>
          </p:cNvSpPr>
          <p:nvPr/>
        </p:nvSpPr>
        <p:spPr>
          <a:xfrm xmlns:a="http://schemas.openxmlformats.org/drawingml/2006/main">
            <a:off x="609600" y="5715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f500a291530b41fb"/>
              </a:rPr>
              <a:t>Open the three demonstrations</a:t>
            </a:r>
          </a:p>
        </p:txBody>
      </p:sp>
      <p:sp>
        <p:nvSpPr>
          <p:cNvPr id="7" name="Footer">
            <a:extLst xmlns:a="http://schemas.openxmlformats.org/drawingml/2006/main">
              <a:ext uri="{FF2B5EF4-FFF2-40B4-BE49-F238E27FC236}">
                <a16:creationId xmlns:a16="http://schemas.microsoft.com/office/drawing/2014/main" id="{78BA6EEB-869F-4944-9D5C-58D5B7909F4F}"/>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17 / 31</a:t>
            </a:r>
          </a:p>
        </p:txBody>
      </p:sp>
    </p:spTree>
    <p:extLst>
      <p:ext uri="{BB962C8B-B14F-4D97-AF65-F5344CB8AC3E}">
        <p14:creationId xmlns:p14="http://schemas.microsoft.com/office/powerpoint/2010/main" val="1142400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2EFBA09-B92D-4390-9AE5-E7823705F2CC}"/>
              </a:ext>
            </a:extLst>
          </p:cNvPr>
          <p:cNvPicPr>
            <a:picLocks xmlns:a="http://schemas.openxmlformats.org/drawingml/2006/main" noChangeAspect="1"/>
          </p:cNvPicPr>
          <p:nvPr/>
        </p:nvPicPr>
        <p:blipFill>
          <a:blip xmlns:r="http://schemas.openxmlformats.org/officeDocument/2006/relationships" xmlns:a="http://schemas.openxmlformats.org/drawingml/2006/main" r:embed="R05910557d35d4a4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C364BAAA-1D7B-47CC-960A-46114F339AA1}"/>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125454EE-AD7A-40B6-9A4A-C34BE364BAC1}"/>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Starting the practice in ChatGPT</a:t>
            </a:r>
          </a:p>
        </p:txBody>
      </p:sp>
      <p:sp>
        <p:nvSpPr>
          <p:cNvPr id="4" name="Text">
            <a:extLst xmlns:a="http://schemas.openxmlformats.org/drawingml/2006/main">
              <a:ext uri="{FF2B5EF4-FFF2-40B4-BE49-F238E27FC236}">
                <a16:creationId xmlns:a16="http://schemas.microsoft.com/office/drawing/2014/main" id="{50FE5930-EE5B-42E2-8337-C50D84937B16}"/>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fresh chat is enough for these exercises.</a:t>
            </a:r>
          </a:p>
        </p:txBody>
      </p:sp>
      <p:sp>
        <p:nvSpPr>
          <p:cNvPr id="5" name="Supporting text">
            <a:extLst xmlns:a="http://schemas.openxmlformats.org/drawingml/2006/main">
              <a:ext uri="{FF2B5EF4-FFF2-40B4-BE49-F238E27FC236}">
                <a16:creationId xmlns:a16="http://schemas.microsoft.com/office/drawing/2014/main" id="{92BECFA7-D62E-4BCA-9B59-89AFA2349D27}"/>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Download and unzip the practice packet.</a:t>
            </a:r>
          </a:p>
        </p:txBody>
      </p:sp>
      <p:sp>
        <p:nvSpPr>
          <p:cNvPr id="6" name="Supporting text">
            <a:extLst xmlns:a="http://schemas.openxmlformats.org/drawingml/2006/main">
              <a:ext uri="{FF2B5EF4-FFF2-40B4-BE49-F238E27FC236}">
                <a16:creationId xmlns:a16="http://schemas.microsoft.com/office/drawing/2014/main" id="{E2FB2C54-CB5C-4D8E-8755-7D5D2FF86498}"/>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Start a new chat and supply only the files named for that task.</a:t>
            </a:r>
          </a:p>
        </p:txBody>
      </p:sp>
      <p:sp>
        <p:nvSpPr>
          <p:cNvPr id="7" name="Supporting text">
            <a:extLst xmlns:a="http://schemas.openxmlformats.org/drawingml/2006/main">
              <a:ext uri="{FF2B5EF4-FFF2-40B4-BE49-F238E27FC236}">
                <a16:creationId xmlns:a16="http://schemas.microsoft.com/office/drawing/2014/main" id="{2BBE274F-9CE9-4667-8728-15ADBE67A836}"/>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Paste the supplied instructions, then the task prompt.</a:t>
            </a:r>
          </a:p>
        </p:txBody>
      </p:sp>
      <p:sp>
        <p:nvSpPr>
          <p:cNvPr id="8" name="Supporting text">
            <a:extLst xmlns:a="http://schemas.openxmlformats.org/drawingml/2006/main">
              <a:ext uri="{FF2B5EF4-FFF2-40B4-BE49-F238E27FC236}">
                <a16:creationId xmlns:a16="http://schemas.microsoft.com/office/drawing/2014/main" id="{12B28092-EE5C-4C74-BBAD-A769C349D0D8}"/>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Compare the answer with the original files.</a:t>
            </a:r>
          </a:p>
        </p:txBody>
      </p:sp>
      <p:sp>
        <p:nvSpPr>
          <p:cNvPr id="9" name="Resource link">
            <a:extLst xmlns:a="http://schemas.openxmlformats.org/drawingml/2006/main">
              <a:ext uri="{FF2B5EF4-FFF2-40B4-BE49-F238E27FC236}">
                <a16:creationId xmlns:a16="http://schemas.microsoft.com/office/drawing/2014/main" id="{A1B0461E-58C3-4560-80C3-8330C18E05EA}"/>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27bcb3f077024384"/>
              </a:rPr>
              <a:t>Open the setup steps</a:t>
            </a:r>
          </a:p>
        </p:txBody>
      </p:sp>
      <p:sp>
        <p:nvSpPr>
          <p:cNvPr id="10" name="Footer">
            <a:extLst xmlns:a="http://schemas.openxmlformats.org/drawingml/2006/main">
              <a:ext uri="{FF2B5EF4-FFF2-40B4-BE49-F238E27FC236}">
                <a16:creationId xmlns:a16="http://schemas.microsoft.com/office/drawing/2014/main" id="{7181229F-17D7-4C37-BB71-1C6B60C5BA4E}"/>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18 / 31</a:t>
            </a:r>
          </a:p>
        </p:txBody>
      </p:sp>
    </p:spTree>
    <p:extLst>
      <p:ext uri="{BB962C8B-B14F-4D97-AF65-F5344CB8AC3E}">
        <p14:creationId xmlns:p14="http://schemas.microsoft.com/office/powerpoint/2010/main" val="109200709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51F2B0D-C12A-4F69-9C4A-0AF5F8722A1F}"/>
              </a:ext>
            </a:extLst>
          </p:cNvPr>
          <p:cNvPicPr>
            <a:picLocks xmlns:a="http://schemas.openxmlformats.org/drawingml/2006/main" noChangeAspect="1"/>
          </p:cNvPicPr>
          <p:nvPr/>
        </p:nvPicPr>
        <p:blipFill>
          <a:blip xmlns:r="http://schemas.openxmlformats.org/officeDocument/2006/relationships" xmlns:a="http://schemas.openxmlformats.org/drawingml/2006/main" r:embed="R4f4b0de22b14440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7B83BD56-D496-45CA-A74D-AA4C6BDAD465}"/>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7E851472-C887-492B-A825-3D3873EBE1A7}"/>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Demo 1: organizing application files</a:t>
            </a:r>
          </a:p>
        </p:txBody>
      </p:sp>
      <p:sp>
        <p:nvSpPr>
          <p:cNvPr id="4" name="Text">
            <a:extLst xmlns:a="http://schemas.openxmlformats.org/drawingml/2006/main">
              <a:ext uri="{FF2B5EF4-FFF2-40B4-BE49-F238E27FC236}">
                <a16:creationId xmlns:a16="http://schemas.microsoft.com/office/drawing/2014/main" id="{EC1DC053-DD66-43A9-B49B-1125DA2F97E2}"/>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job is to make the file list easier to inspect.</a:t>
            </a:r>
          </a:p>
        </p:txBody>
      </p:sp>
      <p:sp>
        <p:nvSpPr>
          <p:cNvPr id="5" name="Source or prompt excerpt">
            <a:extLst xmlns:a="http://schemas.openxmlformats.org/drawingml/2006/main">
              <a:ext uri="{FF2B5EF4-FFF2-40B4-BE49-F238E27FC236}">
                <a16:creationId xmlns:a16="http://schemas.microsoft.com/office/drawing/2014/main" id="{87BE55FF-7AC5-480A-A4FE-31656B2D86E6}"/>
              </a:ext>
            </a:extLst>
          </p:cNvPr>
          <p:cNvSpPr>
            <a:spLocks xmlns:a="http://schemas.openxmlformats.org/drawingml/2006/main" noGrp="1"/>
          </p:cNvSpPr>
          <p:nvPr/>
        </p:nvSpPr>
        <p:spPr>
          <a:xfrm xmlns:a="http://schemas.openxmlformats.org/drawingml/2006/main">
            <a:off x="838200" y="242887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For each applicant code, list the file names, note any gaps in the list, and show where you found the information. Do not decide who qualifies.</a:t>
            </a:r>
          </a:p>
        </p:txBody>
      </p:sp>
      <p:sp>
        <p:nvSpPr>
          <p:cNvPr id="6" name="Supporting text">
            <a:extLst xmlns:a="http://schemas.openxmlformats.org/drawingml/2006/main">
              <a:ext uri="{FF2B5EF4-FFF2-40B4-BE49-F238E27FC236}">
                <a16:creationId xmlns:a16="http://schemas.microsoft.com/office/drawing/2014/main" id="{DC076244-23FC-4511-8D43-2B34D891EDEF}"/>
              </a:ext>
            </a:extLst>
          </p:cNvPr>
          <p:cNvSpPr>
            <a:spLocks xmlns:a="http://schemas.openxmlformats.org/drawingml/2006/main" noGrp="1"/>
          </p:cNvSpPr>
          <p:nvPr/>
        </p:nvSpPr>
        <p:spPr>
          <a:xfrm xmlns:a="http://schemas.openxmlformats.org/drawingml/2006/main">
            <a:off x="609600" y="36861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Files: manifest.csv and applications.csv</a:t>
            </a:r>
          </a:p>
        </p:txBody>
      </p:sp>
      <p:sp>
        <p:nvSpPr>
          <p:cNvPr id="7" name="Supporting text">
            <a:extLst xmlns:a="http://schemas.openxmlformats.org/drawingml/2006/main">
              <a:ext uri="{FF2B5EF4-FFF2-40B4-BE49-F238E27FC236}">
                <a16:creationId xmlns:a16="http://schemas.microsoft.com/office/drawing/2014/main" id="{90422C70-CD1B-4A00-A5B9-03226D4C5484}"/>
              </a:ext>
            </a:extLst>
          </p:cNvPr>
          <p:cNvSpPr>
            <a:spLocks xmlns:a="http://schemas.openxmlformats.org/drawingml/2006/main" noGrp="1"/>
          </p:cNvSpPr>
          <p:nvPr/>
        </p:nvSpPr>
        <p:spPr>
          <a:xfrm xmlns:a="http://schemas.openxmlformats.org/drawingml/2006/main">
            <a:off x="609600" y="41529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practice page provides the full copyable prompt.</a:t>
            </a:r>
          </a:p>
        </p:txBody>
      </p:sp>
      <p:sp>
        <p:nvSpPr>
          <p:cNvPr id="8" name="Resource link">
            <a:extLst xmlns:a="http://schemas.openxmlformats.org/drawingml/2006/main">
              <a:ext uri="{FF2B5EF4-FFF2-40B4-BE49-F238E27FC236}">
                <a16:creationId xmlns:a16="http://schemas.microsoft.com/office/drawing/2014/main" id="{70A5A0C8-694D-4CC7-9D5B-01E90C26AB12}"/>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4f62266534884fd7"/>
              </a:rPr>
              <a:t>Open and copy the full organization prompt</a:t>
            </a:r>
          </a:p>
        </p:txBody>
      </p:sp>
      <p:sp>
        <p:nvSpPr>
          <p:cNvPr id="9" name="Footer">
            <a:extLst xmlns:a="http://schemas.openxmlformats.org/drawingml/2006/main">
              <a:ext uri="{FF2B5EF4-FFF2-40B4-BE49-F238E27FC236}">
                <a16:creationId xmlns:a16="http://schemas.microsoft.com/office/drawing/2014/main" id="{7FD61732-E546-4EF6-AADA-F421808B9B45}"/>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19 / 31</a:t>
            </a:r>
          </a:p>
        </p:txBody>
      </p:sp>
    </p:spTree>
    <p:extLst>
      <p:ext uri="{BB962C8B-B14F-4D97-AF65-F5344CB8AC3E}">
        <p14:creationId xmlns:p14="http://schemas.microsoft.com/office/powerpoint/2010/main" val="148972601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2D7CE80-E5C8-416F-B6E5-C1FA84097FE8}"/>
              </a:ext>
            </a:extLst>
          </p:cNvPr>
          <p:cNvPicPr>
            <a:picLocks xmlns:a="http://schemas.openxmlformats.org/drawingml/2006/main" noChangeAspect="1"/>
          </p:cNvPicPr>
          <p:nvPr/>
        </p:nvPicPr>
        <p:blipFill>
          <a:blip xmlns:r="http://schemas.openxmlformats.org/officeDocument/2006/relationships" xmlns:a="http://schemas.openxmlformats.org/drawingml/2006/main" r:embed="Rcb1fad9ff88c4e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41444F98-7613-4889-8E18-253EA4560066}"/>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40DF71AC-BEC5-45BF-841A-443E966613A6}"/>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Demo 1: checking the file list</a:t>
            </a:r>
          </a:p>
        </p:txBody>
      </p:sp>
      <p:sp>
        <p:nvSpPr>
          <p:cNvPr id="4" name="Text">
            <a:extLst xmlns:a="http://schemas.openxmlformats.org/drawingml/2006/main">
              <a:ext uri="{FF2B5EF4-FFF2-40B4-BE49-F238E27FC236}">
                <a16:creationId xmlns:a16="http://schemas.microsoft.com/office/drawing/2014/main" id="{73B734BA-2797-4D0B-ACFB-B744DCE4A3FB}"/>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Prepared teaching example; compare your actual answer with the files.</a:t>
            </a:r>
          </a:p>
        </p:txBody>
      </p:sp>
      <p:graphicFrame>
        <p:nvGraphicFramePr>
          <p:cNvPr id="5" name="">
            <a:extLst xmlns:a="http://schemas.openxmlformats.org/drawingml/2006/main">
              <a:ext uri="{FF2B5EF4-FFF2-40B4-BE49-F238E27FC236}">
                <a16:creationId xmlns:a16="http://schemas.microsoft.com/office/drawing/2014/main" id="{DD03C57E-286E-4EED-9E1D-5DE1E24DA292}"/>
              </a:ext>
            </a:extLst>
          </p:cNvPr>
          <p:cNvGraphicFramePr/>
          <p:nvPr/>
        </p:nvGraphicFramePr>
        <p:xfrm>
          <a:off xmlns:a="http://schemas.openxmlformats.org/drawingml/2006/main" x="609600" y="2428875"/>
          <a:ext xmlns:a="http://schemas.openxmlformats.org/drawingml/2006/main" cx="10972800" cy="3124200"/>
        </p:xfrm>
        <a:graphic xmlns:a="http://schemas.openxmlformats.org/drawingml/2006/main">
          <a:graphicData uri="http://schemas.openxmlformats.org/drawingml/2006/table">
            <a:tbl>
              <a:tblPr firstRow="1" bandRow="0"/>
              <a:tblGrid>
                <a:gridCol w="1238250"/>
                <a:gridCol w="5429250"/>
                <a:gridCol w="4305300"/>
              </a:tblGrid>
              <a:tr h="781050">
                <a:tc>
                  <a:txBody>
                    <a:bodyPr/>
                    <a:lstStyle/>
                    <a:p>
                      <a:r>
                        <a:rPr sz="1800" b="1">
                          <a:solidFill>
                            <a:srgbClr val="FFFFFF"/>
                          </a:solidFill>
                          <a:latin typeface="Poppins"/>
                          <a:ea typeface="Poppins"/>
                          <a:cs typeface="Poppins"/>
                        </a:rPr>
                        <a:t>Code</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the list shows</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Staff follow-up</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781050">
                <a:tc>
                  <a:txBody>
                    <a:bodyPr/>
                    <a:lstStyle/>
                    <a:p>
                      <a:r>
                        <a:rPr sz="1800" b="0">
                          <a:solidFill>
                            <a:srgbClr val="2E4F66"/>
                          </a:solidFill>
                          <a:latin typeface="Poppins"/>
                          <a:ea typeface="Poppins"/>
                          <a:cs typeface="Poppins"/>
                        </a:rPr>
                        <a:t>A17</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Statement, transcript, reference</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Open and check the documents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781050">
                <a:tc>
                  <a:txBody>
                    <a:bodyPr/>
                    <a:lstStyle/>
                    <a:p>
                      <a:r>
                        <a:rPr sz="1800" b="0">
                          <a:solidFill>
                            <a:srgbClr val="2E4F66"/>
                          </a:solidFill>
                          <a:latin typeface="Poppins"/>
                          <a:ea typeface="Poppins"/>
                          <a:cs typeface="Poppins"/>
                        </a:rPr>
                        <a:t>A18</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No reference listed</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Check the actual records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781050">
                <a:tc>
                  <a:txBody>
                    <a:bodyPr/>
                    <a:lstStyle/>
                    <a:p>
                      <a:r>
                        <a:rPr sz="1800" b="0">
                          <a:solidFill>
                            <a:srgbClr val="2E4F66"/>
                          </a:solidFill>
                          <a:latin typeface="Poppins"/>
                          <a:ea typeface="Poppins"/>
                          <a:cs typeface="Poppins"/>
                        </a:rPr>
                        <a:t>A19</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No transcript listed; extra-time request</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Check records and the request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Footer">
            <a:extLst xmlns:a="http://schemas.openxmlformats.org/drawingml/2006/main">
              <a:ext uri="{FF2B5EF4-FFF2-40B4-BE49-F238E27FC236}">
                <a16:creationId xmlns:a16="http://schemas.microsoft.com/office/drawing/2014/main" id="{65D3A847-E3A6-41B1-ACDF-BB479BDC802E}"/>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20 / 31</a:t>
            </a:r>
          </a:p>
        </p:txBody>
      </p:sp>
    </p:spTree>
    <p:extLst>
      <p:ext uri="{BB962C8B-B14F-4D97-AF65-F5344CB8AC3E}">
        <p14:creationId xmlns:p14="http://schemas.microsoft.com/office/powerpoint/2010/main" val="93519650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88C0089-0086-4B11-90B8-E102AE5C4A9E}"/>
              </a:ext>
            </a:extLst>
          </p:cNvPr>
          <p:cNvPicPr>
            <a:picLocks xmlns:a="http://schemas.openxmlformats.org/drawingml/2006/main" noChangeAspect="1"/>
          </p:cNvPicPr>
          <p:nvPr/>
        </p:nvPicPr>
        <p:blipFill>
          <a:blip xmlns:r="http://schemas.openxmlformats.org/officeDocument/2006/relationships" xmlns:a="http://schemas.openxmlformats.org/drawingml/2006/main" r:embed="Re48a61a6861742c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ACC77679-B3A8-4B05-AFE7-F395EF2104C3}"/>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CEEF26A8-7629-4872-BD54-41FD9B19E837}"/>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Demo 2: checking office records</a:t>
            </a:r>
          </a:p>
        </p:txBody>
      </p:sp>
      <p:sp>
        <p:nvSpPr>
          <p:cNvPr id="4" name="Text">
            <a:extLst xmlns:a="http://schemas.openxmlformats.org/drawingml/2006/main">
              <a:ext uri="{FF2B5EF4-FFF2-40B4-BE49-F238E27FC236}">
                <a16:creationId xmlns:a16="http://schemas.microsoft.com/office/drawing/2014/main" id="{31EBCAC3-E550-493D-8DE7-AC8F6A6D96BF}"/>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AI can flag a missing item or late date for staff.</a:t>
            </a:r>
          </a:p>
        </p:txBody>
      </p:sp>
      <p:sp>
        <p:nvSpPr>
          <p:cNvPr id="5" name="Source or prompt excerpt">
            <a:extLst xmlns:a="http://schemas.openxmlformats.org/drawingml/2006/main">
              <a:ext uri="{FF2B5EF4-FFF2-40B4-BE49-F238E27FC236}">
                <a16:creationId xmlns:a16="http://schemas.microsoft.com/office/drawing/2014/main" id="{426CE38D-53E5-41D7-A4EE-A47D43185259}"/>
              </a:ext>
            </a:extLst>
          </p:cNvPr>
          <p:cNvSpPr>
            <a:spLocks xmlns:a="http://schemas.openxmlformats.org/drawingml/2006/main" noGrp="1"/>
          </p:cNvSpPr>
          <p:nvPr/>
        </p:nvSpPr>
        <p:spPr>
          <a:xfrm xmlns:a="http://schemas.openxmlformats.org/drawingml/2006/main">
            <a:off x="838200" y="2428875"/>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Compare the listed items and application dates with the program rules. Show the rule and the original record for each concern. Staff decide what happens next.</a:t>
            </a:r>
          </a:p>
        </p:txBody>
      </p:sp>
      <p:sp>
        <p:nvSpPr>
          <p:cNvPr id="6" name="Supporting text">
            <a:extLst xmlns:a="http://schemas.openxmlformats.org/drawingml/2006/main">
              <a:ext uri="{FF2B5EF4-FFF2-40B4-BE49-F238E27FC236}">
                <a16:creationId xmlns:a16="http://schemas.microsoft.com/office/drawing/2014/main" id="{0EA2C59C-8727-4FEE-9A86-C9DCDD5A4A87}"/>
              </a:ext>
            </a:extLst>
          </p:cNvPr>
          <p:cNvSpPr>
            <a:spLocks xmlns:a="http://schemas.openxmlformats.org/drawingml/2006/main" noGrp="1"/>
          </p:cNvSpPr>
          <p:nvPr/>
        </p:nvSpPr>
        <p:spPr>
          <a:xfrm xmlns:a="http://schemas.openxmlformats.org/drawingml/2006/main">
            <a:off x="609600" y="41624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Files: program-rules.md, manifest.csv, applications.csv</a:t>
            </a:r>
          </a:p>
        </p:txBody>
      </p:sp>
      <p:sp>
        <p:nvSpPr>
          <p:cNvPr id="7" name="Supporting text">
            <a:extLst xmlns:a="http://schemas.openxmlformats.org/drawingml/2006/main">
              <a:ext uri="{FF2B5EF4-FFF2-40B4-BE49-F238E27FC236}">
                <a16:creationId xmlns:a16="http://schemas.microsoft.com/office/drawing/2014/main" id="{8C81D16C-D5E8-4074-906C-0720E76071DD}"/>
              </a:ext>
            </a:extLst>
          </p:cNvPr>
          <p:cNvSpPr>
            <a:spLocks xmlns:a="http://schemas.openxmlformats.org/drawingml/2006/main" noGrp="1"/>
          </p:cNvSpPr>
          <p:nvPr/>
        </p:nvSpPr>
        <p:spPr>
          <a:xfrm xmlns:a="http://schemas.openxmlformats.org/drawingml/2006/main">
            <a:off x="609600" y="46291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Fictional deadline: October 1, 2026</a:t>
            </a:r>
          </a:p>
        </p:txBody>
      </p:sp>
      <p:sp>
        <p:nvSpPr>
          <p:cNvPr id="8" name="Resource link">
            <a:extLst xmlns:a="http://schemas.openxmlformats.org/drawingml/2006/main">
              <a:ext uri="{FF2B5EF4-FFF2-40B4-BE49-F238E27FC236}">
                <a16:creationId xmlns:a16="http://schemas.microsoft.com/office/drawing/2014/main" id="{BAD3BD27-A901-4255-8F38-F6E16EB6E2EE}"/>
              </a:ext>
            </a:extLst>
          </p:cNvPr>
          <p:cNvSpPr>
            <a:spLocks xmlns:a="http://schemas.openxmlformats.org/drawingml/2006/main" noGrp="1"/>
          </p:cNvSpPr>
          <p:nvPr/>
        </p:nvSpPr>
        <p:spPr>
          <a:xfrm xmlns:a="http://schemas.openxmlformats.org/drawingml/2006/main">
            <a:off x="609600" y="51720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7fb859cd37ab47b1"/>
              </a:rPr>
              <a:t>Open and copy the full administrative prompt</a:t>
            </a:r>
          </a:p>
        </p:txBody>
      </p:sp>
      <p:sp>
        <p:nvSpPr>
          <p:cNvPr id="9" name="Footer">
            <a:extLst xmlns:a="http://schemas.openxmlformats.org/drawingml/2006/main">
              <a:ext uri="{FF2B5EF4-FFF2-40B4-BE49-F238E27FC236}">
                <a16:creationId xmlns:a16="http://schemas.microsoft.com/office/drawing/2014/main" id="{12439DD6-264C-4C54-9BE7-53D2F197BACE}"/>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21 / 31</a:t>
            </a:r>
          </a:p>
        </p:txBody>
      </p:sp>
    </p:spTree>
    <p:extLst>
      <p:ext uri="{BB962C8B-B14F-4D97-AF65-F5344CB8AC3E}">
        <p14:creationId xmlns:p14="http://schemas.microsoft.com/office/powerpoint/2010/main" val="12839862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11D5A94-EB20-45FF-A084-8A76ADE6F33E}"/>
              </a:ext>
            </a:extLst>
          </p:cNvPr>
          <p:cNvPicPr>
            <a:picLocks xmlns:a="http://schemas.openxmlformats.org/drawingml/2006/main" noChangeAspect="1"/>
          </p:cNvPicPr>
          <p:nvPr/>
        </p:nvPicPr>
        <p:blipFill>
          <a:blip xmlns:r="http://schemas.openxmlformats.org/officeDocument/2006/relationships" xmlns:a="http://schemas.openxmlformats.org/drawingml/2006/main" r:embed="R48c0bcc9f11a446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A25D8C98-CEDB-4EC1-82B5-5F107416BE47}"/>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64D775F2-0C75-49F5-9283-B1104E600764}"/>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Demo 2: the late application</a:t>
            </a:r>
          </a:p>
        </p:txBody>
      </p:sp>
      <p:sp>
        <p:nvSpPr>
          <p:cNvPr id="4" name="Text">
            <a:extLst xmlns:a="http://schemas.openxmlformats.org/drawingml/2006/main">
              <a:ext uri="{FF2B5EF4-FFF2-40B4-BE49-F238E27FC236}">
                <a16:creationId xmlns:a16="http://schemas.microsoft.com/office/drawing/2014/main" id="{46F08FF9-EC0E-4527-A353-74D31944DB07}"/>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A19 is the applicant code for this made-up case.</a:t>
            </a:r>
          </a:p>
        </p:txBody>
      </p:sp>
      <p:graphicFrame>
        <p:nvGraphicFramePr>
          <p:cNvPr id="5" name="">
            <a:extLst xmlns:a="http://schemas.openxmlformats.org/drawingml/2006/main">
              <a:ext uri="{FF2B5EF4-FFF2-40B4-BE49-F238E27FC236}">
                <a16:creationId xmlns:a16="http://schemas.microsoft.com/office/drawing/2014/main" id="{C3BBA3EB-DDC9-49C3-B128-D5E5B2A75FC6}"/>
              </a:ext>
            </a:extLst>
          </p:cNvPr>
          <p:cNvGraphicFramePr/>
          <p:nvPr/>
        </p:nvGraphicFramePr>
        <p:xfrm>
          <a:off xmlns:a="http://schemas.openxmlformats.org/drawingml/2006/main" x="609600" y="2428875"/>
          <a:ext xmlns:a="http://schemas.openxmlformats.org/drawingml/2006/main" cx="10972800" cy="2743200"/>
        </p:xfrm>
        <a:graphic xmlns:a="http://schemas.openxmlformats.org/drawingml/2006/main">
          <a:graphicData uri="http://schemas.openxmlformats.org/drawingml/2006/table">
            <a:tbl>
              <a:tblPr firstRow="1" bandRow="0"/>
              <a:tblGrid>
                <a:gridCol w="2571750"/>
                <a:gridCol w="8401050"/>
              </a:tblGrid>
              <a:tr h="685800">
                <a:tc>
                  <a:txBody>
                    <a:bodyPr/>
                    <a:lstStyle/>
                    <a:p>
                      <a:r>
                        <a:rPr sz="1800" b="1">
                          <a:solidFill>
                            <a:srgbClr val="FFFFFF"/>
                          </a:solidFill>
                          <a:latin typeface="Poppins"/>
                          <a:ea typeface="Poppins"/>
                          <a:cs typeface="Poppins"/>
                        </a:rPr>
                        <a:t>Original record</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it tells us</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85800">
                <a:tc>
                  <a:txBody>
                    <a:bodyPr/>
                    <a:lstStyle/>
                    <a:p>
                      <a:r>
                        <a:rPr sz="1800" b="0">
                          <a:solidFill>
                            <a:srgbClr val="2E4F66"/>
                          </a:solidFill>
                          <a:latin typeface="Poppins"/>
                          <a:ea typeface="Poppins"/>
                          <a:cs typeface="Poppins"/>
                        </a:rPr>
                        <a:t>Recorded date: October 2</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After the October 1 deadline</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85800">
                <a:tc>
                  <a:txBody>
                    <a:bodyPr/>
                    <a:lstStyle/>
                    <a:p>
                      <a:r>
                        <a:rPr sz="1800" b="0">
                          <a:solidFill>
                            <a:srgbClr val="2E4F66"/>
                          </a:solidFill>
                          <a:latin typeface="Poppins"/>
                          <a:ea typeface="Poppins"/>
                          <a:cs typeface="Poppins"/>
                        </a:rPr>
                        <a:t>Extra time requested</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Staff need to review the request</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85800">
                <a:tc>
                  <a:txBody>
                    <a:bodyPr/>
                    <a:lstStyle/>
                    <a:p>
                      <a:r>
                        <a:rPr sz="1800" b="0">
                          <a:solidFill>
                            <a:srgbClr val="2E4F66"/>
                          </a:solidFill>
                          <a:latin typeface="Poppins"/>
                          <a:ea typeface="Poppins"/>
                          <a:cs typeface="Poppins"/>
                        </a:rPr>
                        <a:t>No transcript on the list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Staff need to check the actual records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Supporting text">
            <a:extLst xmlns:a="http://schemas.openxmlformats.org/drawingml/2006/main">
              <a:ext uri="{FF2B5EF4-FFF2-40B4-BE49-F238E27FC236}">
                <a16:creationId xmlns:a16="http://schemas.microsoft.com/office/drawing/2014/main" id="{C9280B43-DADF-458D-8636-7BB5618E58B6}"/>
              </a:ext>
            </a:extLst>
          </p:cNvPr>
          <p:cNvSpPr>
            <a:spLocks xmlns:a="http://schemas.openxmlformats.org/drawingml/2006/main" noGrp="1"/>
          </p:cNvSpPr>
          <p:nvPr/>
        </p:nvSpPr>
        <p:spPr>
          <a:xfrm xmlns:a="http://schemas.openxmlformats.org/drawingml/2006/main">
            <a:off x="609600" y="53435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staff member applies the rules and records the reason.</a:t>
            </a:r>
          </a:p>
        </p:txBody>
      </p:sp>
      <p:sp>
        <p:nvSpPr>
          <p:cNvPr id="7" name="Footer">
            <a:extLst xmlns:a="http://schemas.openxmlformats.org/drawingml/2006/main">
              <a:ext uri="{FF2B5EF4-FFF2-40B4-BE49-F238E27FC236}">
                <a16:creationId xmlns:a16="http://schemas.microsoft.com/office/drawing/2014/main" id="{C8BCD202-665C-4145-892D-6752FB61DED6}"/>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22 / 31</a:t>
            </a:r>
          </a:p>
        </p:txBody>
      </p:sp>
    </p:spTree>
    <p:extLst>
      <p:ext uri="{BB962C8B-B14F-4D97-AF65-F5344CB8AC3E}">
        <p14:creationId xmlns:p14="http://schemas.microsoft.com/office/powerpoint/2010/main" val="10491596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B316E6F-38CD-4505-B2AA-4C8302BF2939}"/>
              </a:ext>
            </a:extLst>
          </p:cNvPr>
          <p:cNvPicPr>
            <a:picLocks xmlns:a="http://schemas.openxmlformats.org/drawingml/2006/main" noChangeAspect="1"/>
          </p:cNvPicPr>
          <p:nvPr/>
        </p:nvPicPr>
        <p:blipFill>
          <a:blip xmlns:r="http://schemas.openxmlformats.org/officeDocument/2006/relationships" xmlns:a="http://schemas.openxmlformats.org/drawingml/2006/main" r:embed="Rb58714da792b4b3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7EBBBDE5-41F5-4AAE-820B-606D0308592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F4147BAE-4A34-423C-8DD2-D7C25EF2C85C}"/>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The community contribution scoring guide</a:t>
            </a:r>
          </a:p>
        </p:txBody>
      </p:sp>
      <p:sp>
        <p:nvSpPr>
          <p:cNvPr id="4" name="Text">
            <a:extLst xmlns:a="http://schemas.openxmlformats.org/drawingml/2006/main">
              <a:ext uri="{FF2B5EF4-FFF2-40B4-BE49-F238E27FC236}">
                <a16:creationId xmlns:a16="http://schemas.microsoft.com/office/drawing/2014/main" id="{DB29B91E-3113-4598-A11F-95BF65C0FBFA}"/>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Each anchor describes what earns that score.</a:t>
            </a:r>
          </a:p>
        </p:txBody>
      </p:sp>
      <p:graphicFrame>
        <p:nvGraphicFramePr>
          <p:cNvPr id="5" name="">
            <a:extLst xmlns:a="http://schemas.openxmlformats.org/drawingml/2006/main">
              <a:ext uri="{FF2B5EF4-FFF2-40B4-BE49-F238E27FC236}">
                <a16:creationId xmlns:a16="http://schemas.microsoft.com/office/drawing/2014/main" id="{1551E663-79C8-408F-B898-4E7E7A075135}"/>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571750"/>
                <a:gridCol w="8401050"/>
              </a:tblGrid>
              <a:tr h="628650">
                <a:tc>
                  <a:txBody>
                    <a:bodyPr/>
                    <a:lstStyle/>
                    <a:p>
                      <a:r>
                        <a:rPr sz="1800" b="1">
                          <a:solidFill>
                            <a:srgbClr val="FFFFFF"/>
                          </a:solidFill>
                          <a:latin typeface="Poppins"/>
                          <a:ea typeface="Poppins"/>
                          <a:cs typeface="Poppins"/>
                        </a:rPr>
                        <a:t>Anchor</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Community contribution evidence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0</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No relevant activity described</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1</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Activity named, but applicant role unclear</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2</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Specific applicant contribution</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3</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Specific contribution and a supported result</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63141D99-11E9-4EC8-937B-9A51CBC17DDA}"/>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23 / 31</a:t>
            </a:r>
          </a:p>
        </p:txBody>
      </p:sp>
    </p:spTree>
    <p:extLst>
      <p:ext uri="{BB962C8B-B14F-4D97-AF65-F5344CB8AC3E}">
        <p14:creationId xmlns:p14="http://schemas.microsoft.com/office/powerpoint/2010/main" val="203787376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339EF77-0272-4308-A571-CE3C3CEB8CD4}"/>
              </a:ext>
            </a:extLst>
          </p:cNvPr>
          <p:cNvPicPr>
            <a:picLocks xmlns:a="http://schemas.openxmlformats.org/drawingml/2006/main" noChangeAspect="1"/>
          </p:cNvPicPr>
          <p:nvPr/>
        </p:nvPicPr>
        <p:blipFill>
          <a:blip xmlns:r="http://schemas.openxmlformats.org/officeDocument/2006/relationships" xmlns:a="http://schemas.openxmlformats.org/drawingml/2006/main" r:embed="Rbf690bc6c0b247f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0547E5F6-8072-4C33-88DC-1224BC71367D}"/>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40F773A5-1D0C-4582-9CD0-3B56494D1D50}"/>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Demo 3: matching words to the guide</a:t>
            </a:r>
          </a:p>
        </p:txBody>
      </p:sp>
      <p:sp>
        <p:nvSpPr>
          <p:cNvPr id="4" name="Text">
            <a:extLst xmlns:a="http://schemas.openxmlformats.org/drawingml/2006/main">
              <a:ext uri="{FF2B5EF4-FFF2-40B4-BE49-F238E27FC236}">
                <a16:creationId xmlns:a16="http://schemas.microsoft.com/office/drawing/2014/main" id="{7F874B13-DAFF-41C5-9501-788251ADBC9A}"/>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suggested score needs a quote and a reason.</a:t>
            </a:r>
          </a:p>
        </p:txBody>
      </p:sp>
      <p:sp>
        <p:nvSpPr>
          <p:cNvPr id="5" name="Source or prompt excerpt">
            <a:extLst xmlns:a="http://schemas.openxmlformats.org/drawingml/2006/main">
              <a:ext uri="{FF2B5EF4-FFF2-40B4-BE49-F238E27FC236}">
                <a16:creationId xmlns:a16="http://schemas.microsoft.com/office/drawing/2014/main" id="{32FCE025-6FAA-4723-8AFB-58760462FB27}"/>
              </a:ext>
            </a:extLst>
          </p:cNvPr>
          <p:cNvSpPr>
            <a:spLocks xmlns:a="http://schemas.openxmlformats.org/drawingml/2006/main" noGrp="1"/>
          </p:cNvSpPr>
          <p:nvPr/>
        </p:nvSpPr>
        <p:spPr>
          <a:xfrm xmlns:a="http://schemas.openxmlformats.org/drawingml/2006/main">
            <a:off x="838200" y="2428875"/>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Compare A17 and A18 with the community contribution guide. Quote the original words, suggest a score, and explain what information is missing. A person checks the score.</a:t>
            </a:r>
          </a:p>
        </p:txBody>
      </p:sp>
      <p:sp>
        <p:nvSpPr>
          <p:cNvPr id="6" name="Supporting text">
            <a:extLst xmlns:a="http://schemas.openxmlformats.org/drawingml/2006/main">
              <a:ext uri="{FF2B5EF4-FFF2-40B4-BE49-F238E27FC236}">
                <a16:creationId xmlns:a16="http://schemas.microsoft.com/office/drawing/2014/main" id="{428C42EE-2AEA-416D-ADDB-DDD45A014B4B}"/>
              </a:ext>
            </a:extLst>
          </p:cNvPr>
          <p:cNvSpPr>
            <a:spLocks xmlns:a="http://schemas.openxmlformats.org/drawingml/2006/main" noGrp="1"/>
          </p:cNvSpPr>
          <p:nvPr/>
        </p:nvSpPr>
        <p:spPr>
          <a:xfrm xmlns:a="http://schemas.openxmlformats.org/drawingml/2006/main">
            <a:off x="609600" y="41624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Files: statements.md and rubric.md</a:t>
            </a:r>
          </a:p>
        </p:txBody>
      </p:sp>
      <p:sp>
        <p:nvSpPr>
          <p:cNvPr id="7" name="Supporting text">
            <a:extLst xmlns:a="http://schemas.openxmlformats.org/drawingml/2006/main">
              <a:ext uri="{FF2B5EF4-FFF2-40B4-BE49-F238E27FC236}">
                <a16:creationId xmlns:a16="http://schemas.microsoft.com/office/drawing/2014/main" id="{EFE051EB-F9C0-4651-AC18-8FEFF2728A02}"/>
              </a:ext>
            </a:extLst>
          </p:cNvPr>
          <p:cNvSpPr>
            <a:spLocks xmlns:a="http://schemas.openxmlformats.org/drawingml/2006/main" noGrp="1"/>
          </p:cNvSpPr>
          <p:nvPr/>
        </p:nvSpPr>
        <p:spPr>
          <a:xfrm xmlns:a="http://schemas.openxmlformats.org/drawingml/2006/main">
            <a:off x="609600" y="46291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Source location = where to find the original words</a:t>
            </a:r>
          </a:p>
        </p:txBody>
      </p:sp>
      <p:sp>
        <p:nvSpPr>
          <p:cNvPr id="8" name="Resource link">
            <a:extLst xmlns:a="http://schemas.openxmlformats.org/drawingml/2006/main">
              <a:ext uri="{FF2B5EF4-FFF2-40B4-BE49-F238E27FC236}">
                <a16:creationId xmlns:a16="http://schemas.microsoft.com/office/drawing/2014/main" id="{CB9B0100-296D-4647-BD9A-FD5CA2FB1FA4}"/>
              </a:ext>
            </a:extLst>
          </p:cNvPr>
          <p:cNvSpPr>
            <a:spLocks xmlns:a="http://schemas.openxmlformats.org/drawingml/2006/main" noGrp="1"/>
          </p:cNvSpPr>
          <p:nvPr/>
        </p:nvSpPr>
        <p:spPr>
          <a:xfrm xmlns:a="http://schemas.openxmlformats.org/drawingml/2006/main">
            <a:off x="609600" y="51720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2eb3af8c108f4615"/>
              </a:rPr>
              <a:t>Open and copy the full scoring prompt</a:t>
            </a:r>
          </a:p>
        </p:txBody>
      </p:sp>
      <p:sp>
        <p:nvSpPr>
          <p:cNvPr id="9" name="Footer">
            <a:extLst xmlns:a="http://schemas.openxmlformats.org/drawingml/2006/main">
              <a:ext uri="{FF2B5EF4-FFF2-40B4-BE49-F238E27FC236}">
                <a16:creationId xmlns:a16="http://schemas.microsoft.com/office/drawing/2014/main" id="{EFF8D920-37C4-4D5B-B8B6-B1E447CE4354}"/>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24 / 31</a:t>
            </a:r>
          </a:p>
        </p:txBody>
      </p:sp>
    </p:spTree>
    <p:extLst>
      <p:ext uri="{BB962C8B-B14F-4D97-AF65-F5344CB8AC3E}">
        <p14:creationId xmlns:p14="http://schemas.microsoft.com/office/powerpoint/2010/main" val="157019194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3208706-A8B1-4DFD-ADF4-4DED29B5F43A}"/>
              </a:ext>
            </a:extLst>
          </p:cNvPr>
          <p:cNvPicPr>
            <a:picLocks xmlns:a="http://schemas.openxmlformats.org/drawingml/2006/main" noChangeAspect="1"/>
          </p:cNvPicPr>
          <p:nvPr/>
        </p:nvPicPr>
        <p:blipFill>
          <a:blip xmlns:r="http://schemas.openxmlformats.org/officeDocument/2006/relationships" xmlns:a="http://schemas.openxmlformats.org/drawingml/2006/main" r:embed="R2b0d0cd48895478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13FC6F6E-A4C6-4F16-A711-ED36DBAF6D13}"/>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CD0A2980-197A-4689-8031-D076F8DBE72D}"/>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The same work earns the same contribution score</a:t>
            </a:r>
          </a:p>
        </p:txBody>
      </p:sp>
      <p:sp>
        <p:nvSpPr>
          <p:cNvPr id="4" name="Text">
            <a:extLst xmlns:a="http://schemas.openxmlformats.org/drawingml/2006/main">
              <a:ext uri="{FF2B5EF4-FFF2-40B4-BE49-F238E27FC236}">
                <a16:creationId xmlns:a16="http://schemas.microsoft.com/office/drawing/2014/main" id="{794FF930-82EC-4413-A97E-3F4E8CE12A06}"/>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Prepared teaching comparison</a:t>
            </a:r>
          </a:p>
        </p:txBody>
      </p:sp>
      <p:graphicFrame>
        <p:nvGraphicFramePr>
          <p:cNvPr id="5" name="">
            <a:extLst xmlns:a="http://schemas.openxmlformats.org/drawingml/2006/main">
              <a:ext uri="{FF2B5EF4-FFF2-40B4-BE49-F238E27FC236}">
                <a16:creationId xmlns:a16="http://schemas.microsoft.com/office/drawing/2014/main" id="{EDAB5106-2C4C-4123-A427-16026EC45661}"/>
              </a:ext>
            </a:extLst>
          </p:cNvPr>
          <p:cNvGraphicFramePr/>
          <p:nvPr/>
        </p:nvGraphicFramePr>
        <p:xfrm>
          <a:off xmlns:a="http://schemas.openxmlformats.org/drawingml/2006/main" x="609600" y="2428875"/>
          <a:ext xmlns:a="http://schemas.openxmlformats.org/drawingml/2006/main" cx="10972800" cy="2343150"/>
        </p:xfrm>
        <a:graphic xmlns:a="http://schemas.openxmlformats.org/drawingml/2006/main">
          <a:graphicData uri="http://schemas.openxmlformats.org/drawingml/2006/table">
            <a:tbl>
              <a:tblPr firstRow="1" bandRow="0"/>
              <a:tblGrid>
                <a:gridCol w="1333500"/>
                <a:gridCol w="7048500"/>
                <a:gridCol w="2590800"/>
              </a:tblGrid>
              <a:tr h="781050">
                <a:tc>
                  <a:txBody>
                    <a:bodyPr/>
                    <a:lstStyle/>
                    <a:p>
                      <a:r>
                        <a:rPr sz="1800" b="1">
                          <a:solidFill>
                            <a:srgbClr val="FFFFFF"/>
                          </a:solidFill>
                          <a:latin typeface="Poppins"/>
                          <a:ea typeface="Poppins"/>
                          <a:cs typeface="Poppins"/>
                        </a:rPr>
                        <a:t>Code</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Statement summary</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Suggested score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781050">
                <a:tc>
                  <a:txBody>
                    <a:bodyPr/>
                    <a:lstStyle/>
                    <a:p>
                      <a:r>
                        <a:rPr sz="1800" b="0">
                          <a:solidFill>
                            <a:srgbClr val="2E4F66"/>
                          </a:solidFill>
                          <a:latin typeface="Poppins"/>
                          <a:ea typeface="Poppins"/>
                          <a:cs typeface="Poppins"/>
                        </a:rPr>
                        <a:t>A17</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12 tutoring sessions; recruited 2 volunteers</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2 of 3</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781050">
                <a:tc>
                  <a:txBody>
                    <a:bodyPr/>
                    <a:lstStyle/>
                    <a:p>
                      <a:r>
                        <a:rPr sz="1800" b="0">
                          <a:solidFill>
                            <a:srgbClr val="2E4F66"/>
                          </a:solidFill>
                          <a:latin typeface="Poppins"/>
                          <a:ea typeface="Poppins"/>
                          <a:cs typeface="Poppins"/>
                        </a:rPr>
                        <a:t>A18</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12 tutoring days; got 2 volunteers to help</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2 of 3</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Supporting text">
            <a:extLst xmlns:a="http://schemas.openxmlformats.org/drawingml/2006/main">
              <a:ext uri="{FF2B5EF4-FFF2-40B4-BE49-F238E27FC236}">
                <a16:creationId xmlns:a16="http://schemas.microsoft.com/office/drawing/2014/main" id="{15FD4386-9F9F-46FD-A161-7D5FEDBBE65E}"/>
              </a:ext>
            </a:extLst>
          </p:cNvPr>
          <p:cNvSpPr>
            <a:spLocks xmlns:a="http://schemas.openxmlformats.org/drawingml/2006/main" noGrp="1"/>
          </p:cNvSpPr>
          <p:nvPr/>
        </p:nvSpPr>
        <p:spPr>
          <a:xfrm xmlns:a="http://schemas.openxmlformats.org/drawingml/2006/main">
            <a:off x="609600" y="49434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Both describe a specific contribution.</a:t>
            </a:r>
          </a:p>
        </p:txBody>
      </p:sp>
      <p:sp>
        <p:nvSpPr>
          <p:cNvPr id="7" name="Supporting text">
            <a:extLst xmlns:a="http://schemas.openxmlformats.org/drawingml/2006/main">
              <a:ext uri="{FF2B5EF4-FFF2-40B4-BE49-F238E27FC236}">
                <a16:creationId xmlns:a16="http://schemas.microsoft.com/office/drawing/2014/main" id="{8A842590-5C04-4023-AE9E-D3CC52CC784D}"/>
              </a:ext>
            </a:extLst>
          </p:cNvPr>
          <p:cNvSpPr>
            <a:spLocks xmlns:a="http://schemas.openxmlformats.org/drawingml/2006/main" noGrp="1"/>
          </p:cNvSpPr>
          <p:nvPr/>
        </p:nvSpPr>
        <p:spPr>
          <a:xfrm xmlns:a="http://schemas.openxmlformats.org/drawingml/2006/main">
            <a:off x="609600" y="54102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Neither excerpt supplies a supported result.</a:t>
            </a:r>
          </a:p>
        </p:txBody>
      </p:sp>
      <p:sp>
        <p:nvSpPr>
          <p:cNvPr id="8" name="Footer">
            <a:extLst xmlns:a="http://schemas.openxmlformats.org/drawingml/2006/main">
              <a:ext uri="{FF2B5EF4-FFF2-40B4-BE49-F238E27FC236}">
                <a16:creationId xmlns:a16="http://schemas.microsoft.com/office/drawing/2014/main" id="{F30E142B-3217-416A-9656-4E6D2FBB7945}"/>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25 / 31</a:t>
            </a:r>
          </a:p>
        </p:txBody>
      </p:sp>
    </p:spTree>
    <p:extLst>
      <p:ext uri="{BB962C8B-B14F-4D97-AF65-F5344CB8AC3E}">
        <p14:creationId xmlns:p14="http://schemas.microsoft.com/office/powerpoint/2010/main" val="210294008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8F24D0C-36CB-4713-A101-A3567E8341F9}"/>
              </a:ext>
            </a:extLst>
          </p:cNvPr>
          <p:cNvPicPr>
            <a:picLocks xmlns:a="http://schemas.openxmlformats.org/drawingml/2006/main" noChangeAspect="1"/>
          </p:cNvPicPr>
          <p:nvPr/>
        </p:nvPicPr>
        <p:blipFill>
          <a:blip xmlns:r="http://schemas.openxmlformats.org/officeDocument/2006/relationships" xmlns:a="http://schemas.openxmlformats.org/drawingml/2006/main" r:embed="R6d0f8b69819144d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D7346B04-0A69-4109-A23B-A38EC5C370F2}"/>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E98DD98A-58C8-44DD-8ABB-54B28D39DCC4}"/>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ChatGPT Project</a:t>
            </a:r>
          </a:p>
        </p:txBody>
      </p:sp>
      <p:sp>
        <p:nvSpPr>
          <p:cNvPr id="4" name="Text">
            <a:extLst xmlns:a="http://schemas.openxmlformats.org/drawingml/2006/main">
              <a:ext uri="{FF2B5EF4-FFF2-40B4-BE49-F238E27FC236}">
                <a16:creationId xmlns:a16="http://schemas.microsoft.com/office/drawing/2014/main" id="{5BB261E4-7658-43EE-8D83-6AC0CF8E5D9A}"/>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place to keep related chats, files, and instructions together</a:t>
            </a:r>
          </a:p>
        </p:txBody>
      </p:sp>
      <p:graphicFrame>
        <p:nvGraphicFramePr>
          <p:cNvPr id="5" name="">
            <a:extLst xmlns:a="http://schemas.openxmlformats.org/drawingml/2006/main">
              <a:ext uri="{FF2B5EF4-FFF2-40B4-BE49-F238E27FC236}">
                <a16:creationId xmlns:a16="http://schemas.microsoft.com/office/drawing/2014/main" id="{45FAA8EE-2FC8-47A3-B21D-382C5D3B4947}"/>
              </a:ext>
            </a:extLst>
          </p:cNvPr>
          <p:cNvGraphicFramePr/>
          <p:nvPr/>
        </p:nvGraphicFramePr>
        <p:xfrm>
          <a:off xmlns:a="http://schemas.openxmlformats.org/drawingml/2006/main" x="609600" y="2428875"/>
          <a:ext xmlns:a="http://schemas.openxmlformats.org/drawingml/2006/main" cx="10972800" cy="2743200"/>
        </p:xfrm>
        <a:graphic xmlns:a="http://schemas.openxmlformats.org/drawingml/2006/main">
          <a:graphicData uri="http://schemas.openxmlformats.org/drawingml/2006/table">
            <a:tbl>
              <a:tblPr firstRow="1" bandRow="0"/>
              <a:tblGrid>
                <a:gridCol w="2571750"/>
                <a:gridCol w="8401050"/>
              </a:tblGrid>
              <a:tr h="685800">
                <a:tc>
                  <a:txBody>
                    <a:bodyPr/>
                    <a:lstStyle/>
                    <a:p>
                      <a:r>
                        <a:rPr sz="1800" b="1">
                          <a:solidFill>
                            <a:srgbClr val="FFFFFF"/>
                          </a:solidFill>
                          <a:latin typeface="Poppins"/>
                          <a:ea typeface="Poppins"/>
                          <a:cs typeface="Poppins"/>
                        </a:rPr>
                        <a:t>One chat</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A Project</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85800">
                <a:tc>
                  <a:txBody>
                    <a:bodyPr/>
                    <a:lstStyle/>
                    <a:p>
                      <a:r>
                        <a:rPr sz="1800" b="0">
                          <a:solidFill>
                            <a:srgbClr val="2E4F66"/>
                          </a:solidFill>
                          <a:latin typeface="Poppins"/>
                          <a:ea typeface="Poppins"/>
                          <a:cs typeface="Poppins"/>
                        </a:rPr>
                        <a:t>Useful for a single task</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Useful when related work continues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85800">
                <a:tc>
                  <a:txBody>
                    <a:bodyPr/>
                    <a:lstStyle/>
                    <a:p>
                      <a:r>
                        <a:rPr sz="1800" b="0">
                          <a:solidFill>
                            <a:srgbClr val="2E4F66"/>
                          </a:solidFill>
                          <a:latin typeface="Poppins"/>
                          <a:ea typeface="Poppins"/>
                          <a:cs typeface="Poppins"/>
                        </a:rPr>
                        <a:t>Supply the task information</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Keep shared practice files available</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85800">
                <a:tc>
                  <a:txBody>
                    <a:bodyPr/>
                    <a:lstStyle/>
                    <a:p>
                      <a:r>
                        <a:rPr sz="1800" b="0">
                          <a:solidFill>
                            <a:srgbClr val="2E4F66"/>
                          </a:solidFill>
                          <a:latin typeface="Poppins"/>
                          <a:ea typeface="Poppins"/>
                          <a:cs typeface="Poppins"/>
                        </a:rPr>
                        <a:t>Give instructions for this chat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Add instructions for the Project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Supporting text">
            <a:extLst xmlns:a="http://schemas.openxmlformats.org/drawingml/2006/main">
              <a:ext uri="{FF2B5EF4-FFF2-40B4-BE49-F238E27FC236}">
                <a16:creationId xmlns:a16="http://schemas.microsoft.com/office/drawing/2014/main" id="{8F5B3A1D-7329-405F-86AC-A3A9716BF9D3}"/>
              </a:ext>
            </a:extLst>
          </p:cNvPr>
          <p:cNvSpPr>
            <a:spLocks xmlns:a="http://schemas.openxmlformats.org/drawingml/2006/main" noGrp="1"/>
          </p:cNvSpPr>
          <p:nvPr/>
        </p:nvSpPr>
        <p:spPr>
          <a:xfrm xmlns:a="http://schemas.openxmlformats.org/drawingml/2006/main">
            <a:off x="609600" y="53435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Optional next step: Scholarship Review Practice</a:t>
            </a:r>
          </a:p>
        </p:txBody>
      </p:sp>
      <p:sp>
        <p:nvSpPr>
          <p:cNvPr id="7" name="Footer">
            <a:extLst xmlns:a="http://schemas.openxmlformats.org/drawingml/2006/main">
              <a:ext uri="{FF2B5EF4-FFF2-40B4-BE49-F238E27FC236}">
                <a16:creationId xmlns:a16="http://schemas.microsoft.com/office/drawing/2014/main" id="{22754816-EE66-4D6A-A840-952380859E3C}"/>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26 / 31</a:t>
            </a:r>
          </a:p>
        </p:txBody>
      </p:sp>
    </p:spTree>
    <p:extLst>
      <p:ext uri="{BB962C8B-B14F-4D97-AF65-F5344CB8AC3E}">
        <p14:creationId xmlns:p14="http://schemas.microsoft.com/office/powerpoint/2010/main" val="191920067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3E546D5-17A4-41F5-852F-750A16502EFA}"/>
              </a:ext>
            </a:extLst>
          </p:cNvPr>
          <p:cNvPicPr>
            <a:picLocks xmlns:a="http://schemas.openxmlformats.org/drawingml/2006/main" noChangeAspect="1"/>
          </p:cNvPicPr>
          <p:nvPr/>
        </p:nvPicPr>
        <p:blipFill>
          <a:blip xmlns:r="http://schemas.openxmlformats.org/officeDocument/2006/relationships" xmlns:a="http://schemas.openxmlformats.org/drawingml/2006/main" r:embed="Rbae4357d7b2043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C946FD60-B0B4-49FC-A954-445AC5C73113}"/>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76CC3B7C-AB59-4835-B262-4149C96BF797}"/>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Instructions for repeated work</a:t>
            </a:r>
          </a:p>
        </p:txBody>
      </p:sp>
      <p:sp>
        <p:nvSpPr>
          <p:cNvPr id="4" name="Text">
            <a:extLst xmlns:a="http://schemas.openxmlformats.org/drawingml/2006/main">
              <a:ext uri="{FF2B5EF4-FFF2-40B4-BE49-F238E27FC236}">
                <a16:creationId xmlns:a16="http://schemas.microsoft.com/office/drawing/2014/main" id="{0CA6D532-2AB8-4B8B-9001-1F779BCC2668}"/>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Instructions are the rules I want AI to follow.</a:t>
            </a:r>
          </a:p>
        </p:txBody>
      </p:sp>
      <p:sp>
        <p:nvSpPr>
          <p:cNvPr id="5" name="Source or prompt excerpt">
            <a:extLst xmlns:a="http://schemas.openxmlformats.org/drawingml/2006/main">
              <a:ext uri="{FF2B5EF4-FFF2-40B4-BE49-F238E27FC236}">
                <a16:creationId xmlns:a16="http://schemas.microsoft.com/office/drawing/2014/main" id="{46AB623A-41CA-491A-8CE7-599010C96C89}"/>
              </a:ext>
            </a:extLst>
          </p:cNvPr>
          <p:cNvSpPr>
            <a:spLocks xmlns:a="http://schemas.openxmlformats.org/drawingml/2006/main" noGrp="1"/>
          </p:cNvSpPr>
          <p:nvPr/>
        </p:nvSpPr>
        <p:spPr>
          <a:xfrm xmlns:a="http://schemas.openxmlformats.org/drawingml/2006/main">
            <a:off x="838200" y="242887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Use only the supplied practice files. Show the original words and where to find them. Say when information is missing. Leave final decisions to staff.</a:t>
            </a:r>
          </a:p>
        </p:txBody>
      </p:sp>
      <p:sp>
        <p:nvSpPr>
          <p:cNvPr id="6" name="Supporting text">
            <a:extLst xmlns:a="http://schemas.openxmlformats.org/drawingml/2006/main">
              <a:ext uri="{FF2B5EF4-FFF2-40B4-BE49-F238E27FC236}">
                <a16:creationId xmlns:a16="http://schemas.microsoft.com/office/drawing/2014/main" id="{647939E6-D146-406E-A03D-ABCA09659CDE}"/>
              </a:ext>
            </a:extLst>
          </p:cNvPr>
          <p:cNvSpPr>
            <a:spLocks xmlns:a="http://schemas.openxmlformats.org/drawingml/2006/main" noGrp="1"/>
          </p:cNvSpPr>
          <p:nvPr/>
        </p:nvSpPr>
        <p:spPr>
          <a:xfrm xmlns:a="http://schemas.openxmlformats.org/drawingml/2006/main">
            <a:off x="609600" y="36861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prompt names today’s task.</a:t>
            </a:r>
          </a:p>
        </p:txBody>
      </p:sp>
      <p:sp>
        <p:nvSpPr>
          <p:cNvPr id="7" name="Supporting text">
            <a:extLst xmlns:a="http://schemas.openxmlformats.org/drawingml/2006/main">
              <a:ext uri="{FF2B5EF4-FFF2-40B4-BE49-F238E27FC236}">
                <a16:creationId xmlns:a16="http://schemas.microsoft.com/office/drawing/2014/main" id="{8744CF9A-3727-4108-9E4D-D1669668A2D9}"/>
              </a:ext>
            </a:extLst>
          </p:cNvPr>
          <p:cNvSpPr>
            <a:spLocks xmlns:a="http://schemas.openxmlformats.org/drawingml/2006/main" noGrp="1"/>
          </p:cNvSpPr>
          <p:nvPr/>
        </p:nvSpPr>
        <p:spPr>
          <a:xfrm xmlns:a="http://schemas.openxmlformats.org/drawingml/2006/main">
            <a:off x="609600" y="41529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Project instructions apply to work inside that Project.</a:t>
            </a:r>
          </a:p>
        </p:txBody>
      </p:sp>
      <p:sp>
        <p:nvSpPr>
          <p:cNvPr id="8" name="Resource link">
            <a:extLst xmlns:a="http://schemas.openxmlformats.org/drawingml/2006/main">
              <a:ext uri="{FF2B5EF4-FFF2-40B4-BE49-F238E27FC236}">
                <a16:creationId xmlns:a16="http://schemas.microsoft.com/office/drawing/2014/main" id="{E68C66E0-0EB1-4B30-89F0-6BA5753C9D05}"/>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e0c4eae1e23741b6"/>
              </a:rPr>
              <a:t>Read or copy the complete practice instructions</a:t>
            </a:r>
          </a:p>
        </p:txBody>
      </p:sp>
      <p:sp>
        <p:nvSpPr>
          <p:cNvPr id="9" name="Footer">
            <a:extLst xmlns:a="http://schemas.openxmlformats.org/drawingml/2006/main">
              <a:ext uri="{FF2B5EF4-FFF2-40B4-BE49-F238E27FC236}">
                <a16:creationId xmlns:a16="http://schemas.microsoft.com/office/drawing/2014/main" id="{6751192E-3E1A-486C-B9CD-E5384362E8E2}"/>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27 / 31</a:t>
            </a:r>
          </a:p>
        </p:txBody>
      </p:sp>
    </p:spTree>
    <p:extLst>
      <p:ext uri="{BB962C8B-B14F-4D97-AF65-F5344CB8AC3E}">
        <p14:creationId xmlns:p14="http://schemas.microsoft.com/office/powerpoint/2010/main" val="177252577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F289D2B-0BE4-4A26-8D50-759AC100A4D8}"/>
              </a:ext>
            </a:extLst>
          </p:cNvPr>
          <p:cNvPicPr>
            <a:picLocks xmlns:a="http://schemas.openxmlformats.org/drawingml/2006/main" noChangeAspect="1"/>
          </p:cNvPicPr>
          <p:nvPr/>
        </p:nvPicPr>
        <p:blipFill>
          <a:blip xmlns:r="http://schemas.openxmlformats.org/officeDocument/2006/relationships" xmlns:a="http://schemas.openxmlformats.org/drawingml/2006/main" r:embed="Rb09d5d02c307414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DD6958A3-07B8-44D3-AC16-7783D2D3DCF5}"/>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88554413-5042-4C9A-9C34-D00D666B629B}"/>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skill is a reusable recipe</a:t>
            </a:r>
          </a:p>
        </p:txBody>
      </p:sp>
      <p:sp>
        <p:nvSpPr>
          <p:cNvPr id="4" name="Text">
            <a:extLst xmlns:a="http://schemas.openxmlformats.org/drawingml/2006/main">
              <a:ext uri="{FF2B5EF4-FFF2-40B4-BE49-F238E27FC236}">
                <a16:creationId xmlns:a16="http://schemas.microsoft.com/office/drawing/2014/main" id="{6566144A-24AB-4999-A993-8BC7D0BE7C67}"/>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It saves the steps for a task I expect to repeat.</a:t>
            </a:r>
          </a:p>
        </p:txBody>
      </p:sp>
      <p:graphicFrame>
        <p:nvGraphicFramePr>
          <p:cNvPr id="5" name="">
            <a:extLst xmlns:a="http://schemas.openxmlformats.org/drawingml/2006/main">
              <a:ext uri="{FF2B5EF4-FFF2-40B4-BE49-F238E27FC236}">
                <a16:creationId xmlns:a16="http://schemas.microsoft.com/office/drawing/2014/main" id="{0DEFE738-F478-4836-83D3-498A605DB929}"/>
              </a:ext>
            </a:extLst>
          </p:cNvPr>
          <p:cNvGraphicFramePr/>
          <p:nvPr/>
        </p:nvGraphicFramePr>
        <p:xfrm>
          <a:off xmlns:a="http://schemas.openxmlformats.org/drawingml/2006/main" x="609600" y="2428875"/>
          <a:ext xmlns:a="http://schemas.openxmlformats.org/drawingml/2006/main" cx="10972800" cy="2743200"/>
        </p:xfrm>
        <a:graphic xmlns:a="http://schemas.openxmlformats.org/drawingml/2006/main">
          <a:graphicData uri="http://schemas.openxmlformats.org/drawingml/2006/table">
            <a:tbl>
              <a:tblPr firstRow="1" bandRow="0"/>
              <a:tblGrid>
                <a:gridCol w="2571750"/>
                <a:gridCol w="8401050"/>
              </a:tblGrid>
              <a:tr h="685800">
                <a:tc>
                  <a:txBody>
                    <a:bodyPr/>
                    <a:lstStyle/>
                    <a:p>
                      <a:r>
                        <a:rPr sz="1800" b="1">
                          <a:solidFill>
                            <a:srgbClr val="FFFFFF"/>
                          </a:solidFill>
                          <a:latin typeface="Poppins"/>
                          <a:ea typeface="Poppins"/>
                          <a:cs typeface="Poppins"/>
                        </a:rPr>
                        <a:t>Recipe part</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Evidence-review example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85800">
                <a:tc>
                  <a:txBody>
                    <a:bodyPr/>
                    <a:lstStyle/>
                    <a:p>
                      <a:r>
                        <a:rPr sz="1800" b="0">
                          <a:solidFill>
                            <a:srgbClr val="2E4F66"/>
                          </a:solidFill>
                          <a:latin typeface="Poppins"/>
                          <a:ea typeface="Poppins"/>
                          <a:cs typeface="Poppins"/>
                        </a:rPr>
                        <a:t>Ingredients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An applicant excerpt and the scoring guide</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85800">
                <a:tc>
                  <a:txBody>
                    <a:bodyPr/>
                    <a:lstStyle/>
                    <a:p>
                      <a:r>
                        <a:rPr sz="1800" b="0">
                          <a:solidFill>
                            <a:srgbClr val="2E4F66"/>
                          </a:solidFill>
                          <a:latin typeface="Poppins"/>
                          <a:ea typeface="Poppins"/>
                          <a:cs typeface="Poppins"/>
                        </a:rPr>
                        <a:t>Steps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Quote, compare, explain a gap</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85800">
                <a:tc>
                  <a:txBody>
                    <a:bodyPr/>
                    <a:lstStyle/>
                    <a:p>
                      <a:r>
                        <a:rPr sz="1800" b="0">
                          <a:solidFill>
                            <a:srgbClr val="2E4F66"/>
                          </a:solidFill>
                          <a:latin typeface="Poppins"/>
                          <a:ea typeface="Poppins"/>
                          <a:cs typeface="Poppins"/>
                        </a:rPr>
                        <a:t>Check before use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Try examples where I know the answer</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Resource link">
            <a:extLst xmlns:a="http://schemas.openxmlformats.org/drawingml/2006/main">
              <a:ext uri="{FF2B5EF4-FFF2-40B4-BE49-F238E27FC236}">
                <a16:creationId xmlns:a16="http://schemas.microsoft.com/office/drawing/2014/main" id="{C4592CD3-4C11-4AB5-92D3-8431B3FE1568}"/>
              </a:ext>
            </a:extLst>
          </p:cNvPr>
          <p:cNvSpPr>
            <a:spLocks xmlns:a="http://schemas.openxmlformats.org/drawingml/2006/main" noGrp="1"/>
          </p:cNvSpPr>
          <p:nvPr/>
        </p:nvSpPr>
        <p:spPr>
          <a:xfrm xmlns:a="http://schemas.openxmlformats.org/drawingml/2006/main">
            <a:off x="609600" y="54197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44492a57d811425f"/>
              </a:rPr>
              <a:t>Explore the reusable evidence-review skill</a:t>
            </a:r>
          </a:p>
        </p:txBody>
      </p:sp>
      <p:sp>
        <p:nvSpPr>
          <p:cNvPr id="7" name="Footer">
            <a:extLst xmlns:a="http://schemas.openxmlformats.org/drawingml/2006/main">
              <a:ext uri="{FF2B5EF4-FFF2-40B4-BE49-F238E27FC236}">
                <a16:creationId xmlns:a16="http://schemas.microsoft.com/office/drawing/2014/main" id="{94C047C6-B90D-4145-9AAE-2A266A766173}"/>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28 / 31</a:t>
            </a:r>
          </a:p>
        </p:txBody>
      </p:sp>
    </p:spTree>
    <p:extLst>
      <p:ext uri="{BB962C8B-B14F-4D97-AF65-F5344CB8AC3E}">
        <p14:creationId xmlns:p14="http://schemas.microsoft.com/office/powerpoint/2010/main" val="9174892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174435B-B331-4354-BE30-39C87B91F2F0}"/>
              </a:ext>
            </a:extLst>
          </p:cNvPr>
          <p:cNvPicPr>
            <a:picLocks xmlns:a="http://schemas.openxmlformats.org/drawingml/2006/main" noChangeAspect="1"/>
          </p:cNvPicPr>
          <p:nvPr/>
        </p:nvPicPr>
        <p:blipFill>
          <a:blip xmlns:r="http://schemas.openxmlformats.org/officeDocument/2006/relationships" xmlns:a="http://schemas.openxmlformats.org/drawingml/2006/main" r:embed="R27ebad31cee4433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4EE37AC3-3B6D-438D-BE01-BD0286CB1BE1}"/>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E65095D4-1DC1-4784-9D0A-6AF15E35B88E}"/>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Fair rules for applicant use of AI</a:t>
            </a:r>
          </a:p>
        </p:txBody>
      </p:sp>
      <p:sp>
        <p:nvSpPr>
          <p:cNvPr id="4" name="Text">
            <a:extLst xmlns:a="http://schemas.openxmlformats.org/drawingml/2006/main">
              <a:ext uri="{FF2B5EF4-FFF2-40B4-BE49-F238E27FC236}">
                <a16:creationId xmlns:a16="http://schemas.microsoft.com/office/drawing/2014/main" id="{1BB2DAD4-7766-44A0-B584-DF91447ABD54}"/>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Applicants need clear expectations before they apply.</a:t>
            </a:r>
          </a:p>
        </p:txBody>
      </p:sp>
      <p:sp>
        <p:nvSpPr>
          <p:cNvPr id="5" name="Supporting text">
            <a:extLst xmlns:a="http://schemas.openxmlformats.org/drawingml/2006/main">
              <a:ext uri="{FF2B5EF4-FFF2-40B4-BE49-F238E27FC236}">
                <a16:creationId xmlns:a16="http://schemas.microsoft.com/office/drawing/2014/main" id="{7D5C14D1-B9FF-4D89-ADC6-21159D9C7ECE}"/>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State what help is allowed and what must be disclosed.</a:t>
            </a:r>
          </a:p>
        </p:txBody>
      </p:sp>
      <p:sp>
        <p:nvSpPr>
          <p:cNvPr id="6" name="Supporting text">
            <a:extLst xmlns:a="http://schemas.openxmlformats.org/drawingml/2006/main">
              <a:ext uri="{FF2B5EF4-FFF2-40B4-BE49-F238E27FC236}">
                <a16:creationId xmlns:a16="http://schemas.microsoft.com/office/drawing/2014/main" id="{4ACCEC90-93D5-4D17-AC59-4450EABE30C2}"/>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tool’s “AI-written” flag can be wrong.</a:t>
            </a:r>
          </a:p>
        </p:txBody>
      </p:sp>
      <p:sp>
        <p:nvSpPr>
          <p:cNvPr id="7" name="Supporting text">
            <a:extLst xmlns:a="http://schemas.openxmlformats.org/drawingml/2006/main">
              <a:ext uri="{FF2B5EF4-FFF2-40B4-BE49-F238E27FC236}">
                <a16:creationId xmlns:a16="http://schemas.microsoft.com/office/drawing/2014/main" id="{73471034-AF1D-4FA8-B3F5-D9E050B668B1}"/>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Staff check concerns and give applicants a fair chance to explain.</a:t>
            </a:r>
          </a:p>
        </p:txBody>
      </p:sp>
      <p:sp>
        <p:nvSpPr>
          <p:cNvPr id="8" name="Resource link">
            <a:extLst xmlns:a="http://schemas.openxmlformats.org/drawingml/2006/main">
              <a:ext uri="{FF2B5EF4-FFF2-40B4-BE49-F238E27FC236}">
                <a16:creationId xmlns:a16="http://schemas.microsoft.com/office/drawing/2014/main" id="{B3D76154-BAD5-4AD5-8450-AEDF8803027D}"/>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a12da2d28b1742f2"/>
              </a:rPr>
              <a:t>Read the policy examples</a:t>
            </a:r>
          </a:p>
        </p:txBody>
      </p:sp>
      <p:sp>
        <p:nvSpPr>
          <p:cNvPr id="9" name="Footer">
            <a:extLst xmlns:a="http://schemas.openxmlformats.org/drawingml/2006/main">
              <a:ext uri="{FF2B5EF4-FFF2-40B4-BE49-F238E27FC236}">
                <a16:creationId xmlns:a16="http://schemas.microsoft.com/office/drawing/2014/main" id="{F987573B-C589-4378-A909-60D527698FC6}"/>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29 / 31</a:t>
            </a:r>
          </a:p>
        </p:txBody>
      </p:sp>
    </p:spTree>
    <p:extLst>
      <p:ext uri="{BB962C8B-B14F-4D97-AF65-F5344CB8AC3E}">
        <p14:creationId xmlns:p14="http://schemas.microsoft.com/office/powerpoint/2010/main" val="129243040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48635A0-8BF7-4FC2-8889-C3713259AF85}"/>
              </a:ext>
            </a:extLst>
          </p:cNvPr>
          <p:cNvPicPr>
            <a:picLocks xmlns:a="http://schemas.openxmlformats.org/drawingml/2006/main" noChangeAspect="1"/>
          </p:cNvPicPr>
          <p:nvPr/>
        </p:nvPicPr>
        <p:blipFill>
          <a:blip xmlns:r="http://schemas.openxmlformats.org/officeDocument/2006/relationships" xmlns:a="http://schemas.openxmlformats.org/drawingml/2006/main" r:embed="R26641d452b4a4a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705B80B8-B466-4685-B8AA-A46ADACC1A36}"/>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92F9B82D-394E-4F57-914E-F746CF30DCA8}"/>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My next small practice task</a:t>
            </a:r>
          </a:p>
        </p:txBody>
      </p:sp>
      <p:sp>
        <p:nvSpPr>
          <p:cNvPr id="4" name="Text">
            <a:extLst xmlns:a="http://schemas.openxmlformats.org/drawingml/2006/main">
              <a:ext uri="{FF2B5EF4-FFF2-40B4-BE49-F238E27FC236}">
                <a16:creationId xmlns:a16="http://schemas.microsoft.com/office/drawing/2014/main" id="{F5756290-61E0-4F7B-A64E-5E31FECBEB0B}"/>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One request I can check myself</a:t>
            </a:r>
          </a:p>
        </p:txBody>
      </p:sp>
      <p:sp>
        <p:nvSpPr>
          <p:cNvPr id="5" name="Supporting text">
            <a:extLst xmlns:a="http://schemas.openxmlformats.org/drawingml/2006/main">
              <a:ext uri="{FF2B5EF4-FFF2-40B4-BE49-F238E27FC236}">
                <a16:creationId xmlns:a16="http://schemas.microsoft.com/office/drawing/2014/main" id="{09A38EBE-0005-4FEB-8211-966424A330DA}"/>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Choose one made-up note or practice file.</a:t>
            </a:r>
          </a:p>
        </p:txBody>
      </p:sp>
      <p:sp>
        <p:nvSpPr>
          <p:cNvPr id="6" name="Supporting text">
            <a:extLst xmlns:a="http://schemas.openxmlformats.org/drawingml/2006/main">
              <a:ext uri="{FF2B5EF4-FFF2-40B4-BE49-F238E27FC236}">
                <a16:creationId xmlns:a16="http://schemas.microsoft.com/office/drawing/2014/main" id="{F13D7A81-BF3F-41CE-8F05-3BCFA59ED72D}"/>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Write the result I want and what must stay accurate.</a:t>
            </a:r>
          </a:p>
        </p:txBody>
      </p:sp>
      <p:sp>
        <p:nvSpPr>
          <p:cNvPr id="7" name="Supporting text">
            <a:extLst xmlns:a="http://schemas.openxmlformats.org/drawingml/2006/main">
              <a:ext uri="{FF2B5EF4-FFF2-40B4-BE49-F238E27FC236}">
                <a16:creationId xmlns:a16="http://schemas.microsoft.com/office/drawing/2014/main" id="{32C7BBEE-678D-4ACB-B108-D902E501295F}"/>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Check the answer against the original.</a:t>
            </a:r>
          </a:p>
        </p:txBody>
      </p:sp>
      <p:sp>
        <p:nvSpPr>
          <p:cNvPr id="8" name="Supporting text">
            <a:extLst xmlns:a="http://schemas.openxmlformats.org/drawingml/2006/main">
              <a:ext uri="{FF2B5EF4-FFF2-40B4-BE49-F238E27FC236}">
                <a16:creationId xmlns:a16="http://schemas.microsoft.com/office/drawing/2014/main" id="{A1D156F3-DECA-4B05-9809-FABFDCA6B667}"/>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Keep the request and note what I had to fix.</a:t>
            </a:r>
          </a:p>
        </p:txBody>
      </p:sp>
      <p:sp>
        <p:nvSpPr>
          <p:cNvPr id="9" name="Resource link">
            <a:extLst xmlns:a="http://schemas.openxmlformats.org/drawingml/2006/main">
              <a:ext uri="{FF2B5EF4-FFF2-40B4-BE49-F238E27FC236}">
                <a16:creationId xmlns:a16="http://schemas.microsoft.com/office/drawing/2014/main" id="{AF29DE1D-38DE-4A24-AA1C-2746B0228C63}"/>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8505ab650d584bcb"/>
              </a:rPr>
              <a:t>Return to my awareness self-check</a:t>
            </a:r>
          </a:p>
        </p:txBody>
      </p:sp>
      <p:sp>
        <p:nvSpPr>
          <p:cNvPr id="10" name="Footer">
            <a:extLst xmlns:a="http://schemas.openxmlformats.org/drawingml/2006/main">
              <a:ext uri="{FF2B5EF4-FFF2-40B4-BE49-F238E27FC236}">
                <a16:creationId xmlns:a16="http://schemas.microsoft.com/office/drawing/2014/main" id="{494C51E2-F29A-4BA8-AB0C-20373A5934ED}"/>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30 / 31</a:t>
            </a:r>
          </a:p>
        </p:txBody>
      </p:sp>
    </p:spTree>
    <p:extLst>
      <p:ext uri="{BB962C8B-B14F-4D97-AF65-F5344CB8AC3E}">
        <p14:creationId xmlns:p14="http://schemas.microsoft.com/office/powerpoint/2010/main" val="159451575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D2F0A2B-B5B6-4FFF-BB9E-856A6BBC2F2B}"/>
              </a:ext>
            </a:extLst>
          </p:cNvPr>
          <p:cNvPicPr>
            <a:picLocks xmlns:a="http://schemas.openxmlformats.org/drawingml/2006/main" noChangeAspect="1"/>
          </p:cNvPicPr>
          <p:nvPr/>
        </p:nvPicPr>
        <p:blipFill>
          <a:blip xmlns:r="http://schemas.openxmlformats.org/officeDocument/2006/relationships" xmlns:a="http://schemas.openxmlformats.org/drawingml/2006/main" r:embed="Ra1bc20c047bc4c5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84532F99-B1E0-4E18-B64D-23237A4673B2}"/>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63A77319-14B1-4161-BCFA-03852485FBD0}"/>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Practice and reference materials</a:t>
            </a:r>
          </a:p>
        </p:txBody>
      </p:sp>
      <p:sp>
        <p:nvSpPr>
          <p:cNvPr id="4" name="Text">
            <a:extLst xmlns:a="http://schemas.openxmlformats.org/drawingml/2006/main">
              <a:ext uri="{FF2B5EF4-FFF2-40B4-BE49-F238E27FC236}">
                <a16:creationId xmlns:a16="http://schemas.microsoft.com/office/drawing/2014/main" id="{E225DB80-A6BB-4DCB-8570-0F37BA14DA8C}"/>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participant page brings the materials together.</a:t>
            </a:r>
          </a:p>
        </p:txBody>
      </p:sp>
      <p:sp>
        <p:nvSpPr>
          <p:cNvPr id="5" name="Supporting text">
            <a:extLst xmlns:a="http://schemas.openxmlformats.org/drawingml/2006/main">
              <a:ext uri="{FF2B5EF4-FFF2-40B4-BE49-F238E27FC236}">
                <a16:creationId xmlns:a16="http://schemas.microsoft.com/office/drawing/2014/main" id="{C064B8D7-810F-4FDE-8A5A-A7E3EB7AF3B6}"/>
              </a:ext>
            </a:extLst>
          </p:cNvPr>
          <p:cNvSpPr>
            <a:spLocks xmlns:a="http://schemas.openxmlformats.org/drawingml/2006/main" noGrp="1"/>
          </p:cNvSpPr>
          <p:nvPr/>
        </p:nvSpPr>
        <p:spPr>
          <a:xfrm xmlns:a="http://schemas.openxmlformats.org/drawingml/2006/main">
            <a:off x="609600" y="2428875"/>
            <a:ext cx="781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Presentation PDF and a plain-language word guide</a:t>
            </a:r>
          </a:p>
        </p:txBody>
      </p:sp>
      <p:sp>
        <p:nvSpPr>
          <p:cNvPr id="6" name="Supporting text">
            <a:extLst xmlns:a="http://schemas.openxmlformats.org/drawingml/2006/main">
              <a:ext uri="{FF2B5EF4-FFF2-40B4-BE49-F238E27FC236}">
                <a16:creationId xmlns:a16="http://schemas.microsoft.com/office/drawing/2014/main" id="{BC601373-0FDC-4B8F-B830-7CF364A1A501}"/>
              </a:ext>
            </a:extLst>
          </p:cNvPr>
          <p:cNvSpPr>
            <a:spLocks xmlns:a="http://schemas.openxmlformats.org/drawingml/2006/main" noGrp="1"/>
          </p:cNvSpPr>
          <p:nvPr/>
        </p:nvSpPr>
        <p:spPr>
          <a:xfrm xmlns:a="http://schemas.openxmlformats.org/drawingml/2006/main">
            <a:off x="609600" y="2895600"/>
            <a:ext cx="781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Copyable ChatGPT prompts and made-up practice files</a:t>
            </a:r>
          </a:p>
        </p:txBody>
      </p:sp>
      <p:sp>
        <p:nvSpPr>
          <p:cNvPr id="7" name="Supporting text">
            <a:extLst xmlns:a="http://schemas.openxmlformats.org/drawingml/2006/main">
              <a:ext uri="{FF2B5EF4-FFF2-40B4-BE49-F238E27FC236}">
                <a16:creationId xmlns:a16="http://schemas.microsoft.com/office/drawing/2014/main" id="{40DCA7BC-9FCA-42A9-B412-E799DF0EA54C}"/>
              </a:ext>
            </a:extLst>
          </p:cNvPr>
          <p:cNvSpPr>
            <a:spLocks xmlns:a="http://schemas.openxmlformats.org/drawingml/2006/main" noGrp="1"/>
          </p:cNvSpPr>
          <p:nvPr/>
        </p:nvSpPr>
        <p:spPr>
          <a:xfrm xmlns:a="http://schemas.openxmlformats.org/drawingml/2006/main">
            <a:off x="609600" y="3362325"/>
            <a:ext cx="781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Awareness self-check and further examples</a:t>
            </a:r>
          </a:p>
        </p:txBody>
      </p:sp>
      <p:pic>
        <p:nvPicPr>
          <p:cNvPr id="8" name="">
            <a:extLst xmlns:a="http://schemas.openxmlformats.org/drawingml/2006/main">
              <a:ext uri="{FF2B5EF4-FFF2-40B4-BE49-F238E27FC236}">
                <a16:creationId xmlns:a16="http://schemas.microsoft.com/office/drawing/2014/main" id="{2685B2FB-B7CE-437F-8183-E397551124E2}"/>
              </a:ext>
            </a:extLst>
          </p:cNvPr>
          <p:cNvPicPr>
            <a:picLocks xmlns:a="http://schemas.openxmlformats.org/drawingml/2006/main" noChangeAspect="1"/>
          </p:cNvPicPr>
          <p:nvPr/>
        </p:nvPicPr>
        <p:blipFill>
          <a:blip xmlns:r="http://schemas.openxmlformats.org/officeDocument/2006/relationships" xmlns:a="http://schemas.openxmlformats.org/drawingml/2006/main" r:embed="R4f66a95a3b454f30"/>
          <a:stretch xmlns:a="http://schemas.openxmlformats.org/drawingml/2006/main"/>
        </p:blipFill>
        <p:spPr>
          <a:xfrm xmlns:a="http://schemas.openxmlformats.org/drawingml/2006/main">
            <a:off x="9239250" y="2857500"/>
            <a:ext cx="2000250" cy="2000250"/>
          </a:xfrm>
          <a:prstGeom xmlns:a="http://schemas.openxmlformats.org/drawingml/2006/main" prst="rect">
            <a:avLst/>
          </a:prstGeom>
        </p:spPr>
      </p:pic>
      <p:sp>
        <p:nvSpPr>
          <p:cNvPr id="9" name="Resource link">
            <a:extLst xmlns:a="http://schemas.openxmlformats.org/drawingml/2006/main">
              <a:ext uri="{FF2B5EF4-FFF2-40B4-BE49-F238E27FC236}">
                <a16:creationId xmlns:a16="http://schemas.microsoft.com/office/drawing/2014/main" id="{CC265929-572A-488E-8706-702A7D1B63C8}"/>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6f57fdf0c91743f4"/>
              </a:rPr>
              <a:t>Open AI Prompting Practice</a:t>
            </a:r>
          </a:p>
        </p:txBody>
      </p:sp>
      <p:sp>
        <p:nvSpPr>
          <p:cNvPr id="10" name="Footer">
            <a:extLst xmlns:a="http://schemas.openxmlformats.org/drawingml/2006/main">
              <a:ext uri="{FF2B5EF4-FFF2-40B4-BE49-F238E27FC236}">
                <a16:creationId xmlns:a16="http://schemas.microsoft.com/office/drawing/2014/main" id="{BDA79179-50DB-4171-A0A9-96B3743A87A2}"/>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31 / 31</a:t>
            </a:r>
          </a:p>
        </p:txBody>
      </p:sp>
    </p:spTree>
    <p:extLst>
      <p:ext uri="{BB962C8B-B14F-4D97-AF65-F5344CB8AC3E}">
        <p14:creationId xmlns:p14="http://schemas.microsoft.com/office/powerpoint/2010/main" val="358071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2026-10-21T15:17:43.7600000Z</dcterms:created>
  <dcterms:modified xsi:type="dcterms:W3CDTF">2026-10-21T15:17:43.7610000Z</dcterms:modified>
</coreProperties>
</file>