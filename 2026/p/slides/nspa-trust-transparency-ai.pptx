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4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11" Type="http://schemas.openxmlformats.org/officeDocument/2006/relationships/slide" Target="slides/slide7.xml"/><Relationship Id="rId33" Type="http://schemas.openxmlformats.org/officeDocument/2006/relationships/slide" Target="slides/slide29.xml"/><Relationship Id="rId10" Type="http://schemas.openxmlformats.org/officeDocument/2006/relationships/slide" Target="slides/slide6.xml"/><Relationship Id="rId32" Type="http://schemas.openxmlformats.org/officeDocument/2006/relationships/slide" Target="slides/slide28.xml"/><Relationship Id="rId13" Type="http://schemas.openxmlformats.org/officeDocument/2006/relationships/slide" Target="slides/slide9.xml"/><Relationship Id="rId35" Type="http://schemas.openxmlformats.org/officeDocument/2006/relationships/slide" Target="slides/slide31.xml"/><Relationship Id="rId12" Type="http://schemas.openxmlformats.org/officeDocument/2006/relationships/slide" Target="slides/slide8.xml"/><Relationship Id="rId34" Type="http://schemas.openxmlformats.org/officeDocument/2006/relationships/slide" Target="slides/slide30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 txBox="1"/>
          <p:nvPr>
            <p:ph idx="3"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" name="Google Shape;6;n"/>
          <p:cNvSpPr txBox="1"/>
          <p:nvPr>
            <p:ph idx="10" type="dt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:notes"/>
          <p:cNvSpPr/>
          <p:nvPr>
            <p:ph idx="2" type="sldImg"/>
          </p:nvPr>
        </p:nvSpPr>
        <p:spPr>
          <a:xfrm>
            <a:off x="0" y="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" name="Google Shape;29;p1:notes"/>
          <p:cNvSpPr txBox="1"/>
          <p:nvPr>
            <p:ph idx="1"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0000" spcFirstLastPara="1" rIns="90000" wrap="square" tIns="0">
            <a:noAutofit/>
          </a:bodyPr>
          <a:lstStyle/>
          <a:p>
            <a:r>
              <a:t>Welcome. Today we are looking at AI from both sides of the scholarship application: the people reviewing applications and the people submitting them.</a:t>
            </a:r>
          </a:p>
          <a:p>
            <a:r>
              <a:t>AI may save time, but we still need fair decisions that we can explain. We will practice prompt writing, look at three review examples, and finish with policy choices.</a:t>
            </a:r>
          </a:p>
          <a:p>
            <a:r>
              <a:t>Session pacing: The conference slot is 90 minutes, 3:30–5:00 PM CT. This supplied deck has a 60-minute core route, with 30 additional minutes for discussion and practice. Slides 30–31 are optional backups.</a:t>
            </a:r>
          </a:p>
        </p:txBody>
      </p:sp>
      <p:sp>
        <p:nvSpPr>
          <p:cNvPr id="30" name="Google Shape;30;p1:notes"/>
          <p:cNvSpPr txBox="1"/>
          <p:nvPr>
            <p:ph idx="12" type="sldNum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0000" spcFirstLastPara="1" rIns="9000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:notes"/>
          <p:cNvSpPr/>
          <p:nvPr>
            <p:ph idx="2" type="sldImg"/>
          </p:nvPr>
        </p:nvSpPr>
        <p:spPr>
          <a:xfrm>
            <a:off x="0" y="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" name="Google Shape;42;p2:notes"/>
          <p:cNvSpPr txBox="1"/>
          <p:nvPr>
            <p:ph idx="1"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0000" spcFirstLastPara="1" rIns="90000" wrap="square" tIns="0">
            <a:noAutofit/>
          </a:bodyPr>
          <a:lstStyle/>
          <a:p>
            <a:r>
              <a:t>First, a quick show of hands.</a:t>
            </a:r>
          </a:p>
          <a:p>
            <a:r>
              <a:t>Does your organization use AI anywhere in scholarship review?</a:t>
            </a:r>
          </a:p>
          <a:p>
            <a:r>
              <a:t>Do you already have a written policy that applicants can read?</a:t>
            </a:r>
          </a:p>
          <a:p>
            <a:r>
              <a:t>Now give me one word that describes how you feel about AI in this process.</a:t>
            </a:r>
          </a:p>
          <a:p>
            <a:r>
              <a:t>There are no wrong answers. I want to see where we are starting.</a:t>
            </a:r>
          </a:p>
        </p:txBody>
      </p:sp>
      <p:sp>
        <p:nvSpPr>
          <p:cNvPr id="43" name="Google Shape;43;p2:notes"/>
          <p:cNvSpPr txBox="1"/>
          <p:nvPr>
            <p:ph idx="12" type="sldNum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0000" spcFirstLastPara="1" rIns="9000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/>
          <p:nvPr>
            <p:ph idx="2" type="sldImg"/>
          </p:nvPr>
        </p:nvSpPr>
        <p:spPr>
          <a:xfrm>
            <a:off x="-360" y="-360"/>
            <a:ext cx="720" cy="7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2" name="Google Shape;62;p3:notes"/>
          <p:cNvSpPr txBox="1"/>
          <p:nvPr>
            <p:ph idx="1"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0000" spcFirstLastPara="1" rIns="90000" wrap="square" tIns="0">
            <a:noAutofit/>
          </a:bodyPr>
          <a:lstStyle/>
          <a:p>
            <a:r>
              <a:t>Here is our route for the hour.</a:t>
            </a:r>
          </a:p>
          <a:p>
            <a:r>
              <a:t>We will spend eight minutes on the balancing act, ten on prompting, seventeen on review workflows, twelve on applicants, and thirteen on policy.</a:t>
            </a:r>
          </a:p>
          <a:p>
            <a:r>
              <a:t>Each part builds on the last.</a:t>
            </a:r>
          </a:p>
          <a:p>
            <a:r>
              <a:t>We are aiming for one thing: scholarship decisions that people can understand and defend.</a:t>
            </a:r>
          </a:p>
        </p:txBody>
      </p:sp>
      <p:sp>
        <p:nvSpPr>
          <p:cNvPr id="63" name="Google Shape;63;p3:notes"/>
          <p:cNvSpPr txBox="1"/>
          <p:nvPr>
            <p:ph idx="12" type="sldNum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0000" spcFirstLastPara="1" rIns="9000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9" name="Google Shape;69;p4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Scholarship teams need to move through applications efficiently.</a:t>
            </a:r>
          </a:p>
          <a:p>
            <a:r>
              <a:t>They also need to treat people consistently, be fair, and assess real accomplishments.</a:t>
            </a:r>
          </a:p>
          <a:p>
            <a:r>
              <a:t>AI may help with repetitive work, but speed is not enough.</a:t>
            </a:r>
          </a:p>
          <a:p>
            <a:r>
              <a:t>If we cannot point to the evidence and explain the decision, the process needs more work.</a:t>
            </a:r>
          </a:p>
        </p:txBody>
      </p:sp>
      <p:sp>
        <p:nvSpPr>
          <p:cNvPr id="70" name="Google Shape;70;p4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5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5" name="Google Shape;75;p5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Think about the two sides of the desk.</a:t>
            </a:r>
          </a:p>
          <a:p>
            <a:r>
              <a:t>Reviewers may use AI to organize files or find evidence related to a rubric.</a:t>
            </a:r>
          </a:p>
          <a:p>
            <a:r>
              <a:t>Applicants may use it to brainstorm, outline, or improve grammar.</a:t>
            </a:r>
          </a:p>
          <a:p>
            <a:r>
              <a:t>These are different uses, but both need clear rules.</a:t>
            </a:r>
          </a:p>
          <a:p>
            <a:r>
              <a:t>We should write policies that make sense to both groups.</a:t>
            </a:r>
          </a:p>
        </p:txBody>
      </p:sp>
      <p:sp>
        <p:nvSpPr>
          <p:cNvPr id="76" name="Google Shape;76;p5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6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" name="Google Shape;81;p6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I find it useful to sort tasks into three groups.</a:t>
            </a:r>
          </a:p>
          <a:p>
            <a:r>
              <a:t>Some tasks, like naming files and checking for missing documents, are good candidates for assistance.</a:t>
            </a:r>
          </a:p>
          <a:p>
            <a:r>
              <a:t>Others, like matching evidence to a rubric, need careful human checking.</a:t>
            </a:r>
          </a:p>
          <a:p>
            <a:r>
              <a:t>Award decisions, exceptions, and appeals stay with people.</a:t>
            </a:r>
          </a:p>
          <a:p>
            <a:r>
              <a:t>The key is to decide the level of oversight before using AI.</a:t>
            </a:r>
          </a:p>
        </p:txBody>
      </p:sp>
      <p:sp>
        <p:nvSpPr>
          <p:cNvPr id="82" name="Google Shape;82;p6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7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p7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A good prompt makes our instructions visible.</a:t>
            </a:r>
          </a:p>
          <a:p>
            <a:r>
              <a:t>Name the specific task. Say what information the tool may use.</a:t>
            </a:r>
          </a:p>
          <a:p>
            <a:r>
              <a:t>Provide the actual rubric.</a:t>
            </a:r>
          </a:p>
          <a:p>
            <a:r>
              <a:t>Set boundaries: do not guess, and do not judge personal traits.</a:t>
            </a:r>
          </a:p>
          <a:p>
            <a:r>
              <a:t>Finally, ask for an output that shows the evidence and any uncertainty.</a:t>
            </a:r>
          </a:p>
          <a:p>
            <a:r>
              <a:t>That gives a reviewer something they can check.</a:t>
            </a:r>
          </a:p>
        </p:txBody>
      </p:sp>
      <p:sp>
        <p:nvSpPr>
          <p:cNvPr id="88" name="Google Shape;88;p7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8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3" name="Google Shape;93;p8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Look at the first request: "Pick the best applicants."</a:t>
            </a:r>
          </a:p>
          <a:p>
            <a:r>
              <a:t>It gives AI too much authority and no clear standard.</a:t>
            </a:r>
          </a:p>
          <a:p>
            <a:r>
              <a:t>The second request uses a supplied rubric, asks for quotations, identifies gaps, and says not to recommend an award.</a:t>
            </a:r>
          </a:p>
          <a:p>
            <a:r>
              <a:t>Which one would you feel more comfortable explaining to an applicant?</a:t>
            </a:r>
          </a:p>
          <a:p>
            <a:r>
              <a:t>The detailed request is better, but we still have to verify the result.</a:t>
            </a:r>
          </a:p>
        </p:txBody>
      </p:sp>
      <p:sp>
        <p:nvSpPr>
          <p:cNvPr id="94" name="Google Shape;94;p8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9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9" name="Google Shape;99;p9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People need to decide what counts before the model responds.</a:t>
            </a:r>
          </a:p>
          <a:p>
            <a:r>
              <a:t>These sample criteria look at community engagement, learning and persistence, and goals.</a:t>
            </a:r>
          </a:p>
          <a:p>
            <a:r>
              <a:t>For each one, we ask what evidence should appear and what the reviewer must check.</a:t>
            </a:r>
          </a:p>
          <a:p>
            <a:r>
              <a:t>We are evaluating what the applicant has shown, not how polished the writing sounds.</a:t>
            </a:r>
          </a:p>
        </p:txBody>
      </p:sp>
      <p:sp>
        <p:nvSpPr>
          <p:cNvPr id="100" name="Google Shape;100;p9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5" name="Google Shape;105;p10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Turn to someone near you.</a:t>
            </a:r>
          </a:p>
          <a:p>
            <a:r>
              <a:t>Here is the weak prompt: "Review all applications and choose the strongest students."</a:t>
            </a:r>
          </a:p>
          <a:p>
            <a:r>
              <a:t>Give it one clear rubric criterion, one rule limiting what AI can do, and one way to verify the output.</a:t>
            </a:r>
          </a:p>
          <a:p>
            <a:r>
              <a:t>You only need a few sentences.</a:t>
            </a:r>
          </a:p>
          <a:p>
            <a:r>
              <a:t>Let's hear one improvement from the room.</a:t>
            </a:r>
          </a:p>
        </p:txBody>
      </p:sp>
      <p:sp>
        <p:nvSpPr>
          <p:cNvPr id="106" name="Google Shape;106;p10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1" name="Google Shape;111;p11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This is the six-step review path.</a:t>
            </a:r>
          </a:p>
          <a:p>
            <a:r>
              <a:t>Receive the materials, minimize personal information, organize files, map evidence to the rubric, verify the findings, and then make a human decision.</a:t>
            </a:r>
          </a:p>
          <a:p>
            <a:r>
              <a:t>Notice that AI is not the decision-maker.</a:t>
            </a:r>
          </a:p>
          <a:p>
            <a:r>
              <a:t>It can help prepare information, but staff confirm the evidence and the committee applies its policy.</a:t>
            </a:r>
          </a:p>
        </p:txBody>
      </p:sp>
      <p:sp>
        <p:nvSpPr>
          <p:cNvPr id="112" name="Google Shape;112;p11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2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7" name="Google Shape;117;p12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This first example is entirely fictional.</a:t>
            </a:r>
          </a:p>
          <a:p>
            <a:r>
              <a:t>We have three application codes and a list of required documents.</a:t>
            </a:r>
          </a:p>
          <a:p>
            <a:r>
              <a:t>The tool flags a missing reference for A17 and a missing transcript for C09.</a:t>
            </a:r>
          </a:p>
          <a:p>
            <a:r>
              <a:t>That is a useful checklist, not a rejection list.</a:t>
            </a:r>
          </a:p>
          <a:p>
            <a:r>
              <a:t>A person still confirms the requirements, checks for exceptions, and contacts applicants according to policy.</a:t>
            </a:r>
          </a:p>
        </p:txBody>
      </p:sp>
      <p:sp>
        <p:nvSpPr>
          <p:cNvPr id="118" name="Google Shape;118;p12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3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3" name="Google Shape;123;p13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Here is a fictional applicant statement:</a:t>
            </a:r>
          </a:p>
          <a:p>
            <a:r>
              <a:t>"I organized 12 weekend tutoring sessions for sixth graders."</a:t>
            </a:r>
          </a:p>
          <a:p>
            <a:r>
              <a:t>AI can connect that sentence to a community engagement criterion and offer a draft score of two out of three under our example rubric.</a:t>
            </a:r>
          </a:p>
          <a:p>
            <a:r>
              <a:t>But the sentence does not tell us the impact.</a:t>
            </a:r>
          </a:p>
          <a:p>
            <a:r>
              <a:t>A reviewer has to check the scoring anchors and ask what evidence is still missing.</a:t>
            </a:r>
          </a:p>
        </p:txBody>
      </p:sp>
      <p:sp>
        <p:nvSpPr>
          <p:cNvPr id="124" name="Google Shape;124;p13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4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9" name="Google Shape;129;p14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Now we combine the information into a reviewer handoff.</a:t>
            </a:r>
          </a:p>
          <a:p>
            <a:r>
              <a:t>Each row shows the criterion, the source evidence, and a question that remains.</a:t>
            </a:r>
          </a:p>
          <a:p>
            <a:r>
              <a:t>For example, twelve tutoring sessions sounds relevant, but what exactly was the applicant's role?</a:t>
            </a:r>
          </a:p>
          <a:p>
            <a:r>
              <a:t>We want summaries that make open questions visible so the next reviewer can follow up.</a:t>
            </a:r>
          </a:p>
        </p:txBody>
      </p:sp>
      <p:sp>
        <p:nvSpPr>
          <p:cNvPr id="130" name="Google Shape;130;p14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5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5" name="Google Shape;135;p15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Human oversight has to happen before, during, and after the AI-assisted task.</a:t>
            </a:r>
          </a:p>
          <a:p>
            <a:r>
              <a:t>Before, approve the use and the data.</a:t>
            </a:r>
          </a:p>
          <a:p>
            <a:r>
              <a:t>During, verify quotes and correct mistakes.</a:t>
            </a:r>
          </a:p>
          <a:p>
            <a:r>
              <a:t>After, apply human judgment and record why the decision was made.</a:t>
            </a:r>
          </a:p>
          <a:p>
            <a:r>
              <a:t>Saying "a person looked at it" is not enough unless that person had a real chance to correct it.</a:t>
            </a:r>
          </a:p>
        </p:txBody>
      </p:sp>
      <p:sp>
        <p:nvSpPr>
          <p:cNvPr id="136" name="Google Shape;136;p15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6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1" name="Google Shape;141;p16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The original application might contain a name, address, birth date, family income, and references.</a:t>
            </a:r>
          </a:p>
          <a:p>
            <a:r>
              <a:t>Most of that is not needed to check a specific rubric criterion.</a:t>
            </a:r>
          </a:p>
          <a:p>
            <a:r>
              <a:t>The task-ready version uses an application code, a relevant excerpt, and a source pointer.</a:t>
            </a:r>
          </a:p>
          <a:p>
            <a:r>
              <a:t>Even after removing unnecessary details, we still only use tools approved for that information.</a:t>
            </a:r>
          </a:p>
        </p:txBody>
      </p:sp>
      <p:sp>
        <p:nvSpPr>
          <p:cNvPr id="142" name="Google Shape;142;p16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7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7" name="Google Shape;147;p17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Before uploading anything, check four things.</a:t>
            </a:r>
          </a:p>
          <a:p>
            <a:r>
              <a:t>Is this tool approved for applicant data and this task?</a:t>
            </a:r>
          </a:p>
          <a:p>
            <a:r>
              <a:t>Who can access the information?</a:t>
            </a:r>
          </a:p>
          <a:p>
            <a:r>
              <a:t>How long is it stored, and is it reused?</a:t>
            </a:r>
          </a:p>
          <a:p>
            <a:r>
              <a:t>And what do we do if information is exposed?</a:t>
            </a:r>
          </a:p>
          <a:p>
            <a:r>
              <a:t>A friendly interface does not answer those questions.</a:t>
            </a:r>
          </a:p>
          <a:p>
            <a:r>
              <a:t>If the tool is not approved, do not put applicant data into it.</a:t>
            </a:r>
          </a:p>
        </p:txBody>
      </p:sp>
      <p:sp>
        <p:nvSpPr>
          <p:cNvPr id="148" name="Google Shape;148;p17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8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3" name="Google Shape;153;p18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Using the same prompt for every application may look consistent.</a:t>
            </a:r>
          </a:p>
          <a:p>
            <a:r>
              <a:t>It does not automatically make the results fair.</a:t>
            </a:r>
          </a:p>
          <a:p>
            <a:r>
              <a:t>Test the workflow with varied fictional examples.</a:t>
            </a:r>
          </a:p>
          <a:p>
            <a:r>
              <a:t>Compare whether the system overlooks evidence or treats similar situations differently.</a:t>
            </a:r>
          </a:p>
          <a:p>
            <a:r>
              <a:t>Then have reviewers discuss differences and adjust the process before any real use.</a:t>
            </a:r>
          </a:p>
        </p:txBody>
      </p:sp>
      <p:sp>
        <p:nvSpPr>
          <p:cNvPr id="154" name="Google Shape;154;p18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9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9" name="Google Shape;159;p19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Applicants may use AI for brainstorming, outlining, or proofreading, depending on your rules.</a:t>
            </a:r>
          </a:p>
          <a:p>
            <a:r>
              <a:t>That is different from inventing achievements, hardship, experiences, or references.</a:t>
            </a:r>
          </a:p>
          <a:p>
            <a:r>
              <a:t>We need to make this distinction clear before students apply.</a:t>
            </a:r>
          </a:p>
          <a:p>
            <a:r>
              <a:t>The important question is whether the claims they submit are truthful and meet the published requirements.</a:t>
            </a:r>
          </a:p>
        </p:txBody>
      </p:sp>
      <p:sp>
        <p:nvSpPr>
          <p:cNvPr id="160" name="Google Shape;160;p19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0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5" name="Google Shape;165;p20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We should be careful not to confuse good grammar with proof of AI use.</a:t>
            </a:r>
          </a:p>
          <a:p>
            <a:r>
              <a:t>Instead, ask the same questions of every applicant.</a:t>
            </a:r>
          </a:p>
          <a:p>
            <a:r>
              <a:t>What did the person actually do?</a:t>
            </a:r>
          </a:p>
          <a:p>
            <a:r>
              <a:t>What evidence supports the claim?</a:t>
            </a:r>
          </a:p>
          <a:p>
            <a:r>
              <a:t>What did they learn, and how does it connect to their goals?</a:t>
            </a:r>
          </a:p>
          <a:p>
            <a:r>
              <a:t>Those questions focus on the substance of the application.</a:t>
            </a:r>
          </a:p>
        </p:txBody>
      </p:sp>
      <p:sp>
        <p:nvSpPr>
          <p:cNvPr id="166" name="Google Shape;166;p20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1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1" name="Google Shape;171;p21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An AI detector can make two mistakes.</a:t>
            </a:r>
          </a:p>
          <a:p>
            <a:r>
              <a:t>It can flag something written by a person, or it can miss AI-assisted writing.</a:t>
            </a:r>
          </a:p>
          <a:p>
            <a:r>
              <a:t>So a detector score is not proof of who wrote the text.</a:t>
            </a:r>
          </a:p>
          <a:p>
            <a:r>
              <a:t>It should never be the only reason to deny someone a scholarship.</a:t>
            </a:r>
          </a:p>
          <a:p>
            <a:r>
              <a:t>We need to examine actual evidence and our published rules.</a:t>
            </a:r>
          </a:p>
        </p:txBody>
      </p:sp>
      <p:sp>
        <p:nvSpPr>
          <p:cNvPr id="172" name="Google Shape;172;p21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2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22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Here is a scenario.</a:t>
            </a:r>
          </a:p>
          <a:p>
            <a:r>
              <a:t>An essay gets flagged by a detector, but the student's activities and references appear consistent.</a:t>
            </a:r>
          </a:p>
          <a:p>
            <a:r>
              <a:t>Would you reject it, ignore the concern, or review the evidence and policy?</a:t>
            </a:r>
          </a:p>
          <a:p>
            <a:r>
              <a:t>Take a quick vote.</a:t>
            </a:r>
          </a:p>
          <a:p>
            <a:r>
              <a:t>The more defensible choice is a careful review, without treating the detector score as a verdict.</a:t>
            </a:r>
          </a:p>
        </p:txBody>
      </p:sp>
      <p:sp>
        <p:nvSpPr>
          <p:cNvPr id="178" name="Google Shape;178;p22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3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3" name="Google Shape;183;p23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If a concern comes up, start by pausing any automatic penalty.</a:t>
            </a:r>
          </a:p>
          <a:p>
            <a:r>
              <a:t>Check the application and the rules that were available to the applicant.</a:t>
            </a:r>
          </a:p>
          <a:p>
            <a:r>
              <a:t>When appropriate, let the applicant clarify the concern.</a:t>
            </a:r>
          </a:p>
          <a:p>
            <a:r>
              <a:t>Finally, record the evidence and the human decision, including how it can be reconsidered.</a:t>
            </a:r>
          </a:p>
          <a:p>
            <a:r>
              <a:t>Use the same process for everyone.</a:t>
            </a:r>
          </a:p>
        </p:txBody>
      </p:sp>
      <p:sp>
        <p:nvSpPr>
          <p:cNvPr id="184" name="Google Shape;184;p23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4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9" name="Google Shape;189;p24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Applicants should be able to answer four questions before submitting.</a:t>
            </a:r>
          </a:p>
          <a:p>
            <a:r>
              <a:t>What AI help is allowed?</a:t>
            </a:r>
          </a:p>
          <a:p>
            <a:r>
              <a:t>What must be their own truthful work?</a:t>
            </a:r>
          </a:p>
          <a:p>
            <a:r>
              <a:t>Do they need to disclose AI use?</a:t>
            </a:r>
          </a:p>
          <a:p>
            <a:r>
              <a:t>And what happens if the organization has a concern?</a:t>
            </a:r>
          </a:p>
          <a:p>
            <a:r>
              <a:t>If our policy cannot answer those questions in plain language, we should revise it.</a:t>
            </a:r>
          </a:p>
        </p:txBody>
      </p:sp>
      <p:sp>
        <p:nvSpPr>
          <p:cNvPr id="190" name="Google Shape;190;p24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5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5" name="Google Shape;195;p25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The first policy says AI-generated applications may be disqualified.</a:t>
            </a:r>
          </a:p>
          <a:p>
            <a:r>
              <a:t>That leaves too much unclear.</a:t>
            </a:r>
          </a:p>
          <a:p>
            <a:r>
              <a:t>The second example names allowed brainstorming or proofreading, requires truthful claims, points to disclosure instructions, and says a detector score alone will not decide eligibility.</a:t>
            </a:r>
          </a:p>
          <a:p>
            <a:r>
              <a:t>This is sample language, not a universal legal rule, but it shows what clarity looks like.</a:t>
            </a:r>
          </a:p>
        </p:txBody>
      </p:sp>
      <p:sp>
        <p:nvSpPr>
          <p:cNvPr id="196" name="Google Shape;196;p25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6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1" name="Google Shape;201;p26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We should give staff rules as well as applicants.</a:t>
            </a:r>
          </a:p>
          <a:p>
            <a:r>
              <a:t>Staff need to know which tools and tasks are approved, what rubric to apply, how to verify AI-generated summaries, and what to document.</a:t>
            </a:r>
          </a:p>
          <a:p>
            <a:r>
              <a:t>If reviewers have no shared process, we cannot promise consistent treatment.</a:t>
            </a:r>
          </a:p>
          <a:p>
            <a:r>
              <a:t>Applicant and reviewer policies have to work together.</a:t>
            </a:r>
          </a:p>
        </p:txBody>
      </p:sp>
      <p:sp>
        <p:nvSpPr>
          <p:cNvPr id="202" name="Google Shape;202;p26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7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7" name="Google Shape;207;p27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Take two or three minutes to make three local choices.</a:t>
            </a:r>
          </a:p>
          <a:p>
            <a:r>
              <a:t>First, what AI help can applicants use, and when should they disclose it?</a:t>
            </a:r>
          </a:p>
          <a:p>
            <a:r>
              <a:t>Second, which review tasks can an approved tool support?</a:t>
            </a:r>
          </a:p>
          <a:p>
            <a:r>
              <a:t>Third, how will you investigate concerns fairly?</a:t>
            </a:r>
          </a:p>
          <a:p>
            <a:r>
              <a:t>Choose answers you can bring back to your team.</a:t>
            </a:r>
          </a:p>
          <a:p>
            <a:r>
              <a:t>Would anyone share one decision?</a:t>
            </a:r>
          </a:p>
        </p:txBody>
      </p:sp>
      <p:sp>
        <p:nvSpPr>
          <p:cNvPr id="208" name="Google Shape;208;p27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8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3" name="Google Shape;213;p28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You do not have to change the entire process at once.</a:t>
            </a:r>
          </a:p>
          <a:p>
            <a:r>
              <a:t>First, clarify the rules.</a:t>
            </a:r>
          </a:p>
          <a:p>
            <a:r>
              <a:t>Next, pilot one limited AI-supported task using fictional cases and look for errors.</a:t>
            </a:r>
          </a:p>
          <a:p>
            <a:r>
              <a:t>Then decide who verifies the work and who makes final decisions.</a:t>
            </a:r>
          </a:p>
          <a:p>
            <a:r>
              <a:t>Improve the pilot before using real applicant information.</a:t>
            </a:r>
          </a:p>
        </p:txBody>
      </p:sp>
      <p:sp>
        <p:nvSpPr>
          <p:cNvPr id="214" name="Google Shape;214;p28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9" name="Google Shape;219;p29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Let's close with three practical commitments.</a:t>
            </a:r>
          </a:p>
          <a:p>
            <a:r>
              <a:t>Name one review task AI might help with.</a:t>
            </a:r>
          </a:p>
          <a:p>
            <a:r>
              <a:t>Name one safeguard a person must perform.</a:t>
            </a:r>
          </a:p>
          <a:p>
            <a:r>
              <a:t>And name one policy statement every applicant should know.</a:t>
            </a:r>
          </a:p>
          <a:p>
            <a:r>
              <a:t>Think back to your opening reaction.</a:t>
            </a:r>
          </a:p>
          <a:p>
            <a:r>
              <a:t>What would help your team move forward while protecting trust?</a:t>
            </a:r>
          </a:p>
        </p:txBody>
      </p:sp>
      <p:sp>
        <p:nvSpPr>
          <p:cNvPr id="220" name="Google Shape;220;p29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5" name="Google Shape;225;p30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This is a take-home starting prompt, not part of our timed activity.</a:t>
            </a:r>
          </a:p>
          <a:p>
            <a:r>
              <a:t>It asks the tool to compare an approved excerpt with a published criterion, quote evidence, identify gaps, and avoid recommending an award.</a:t>
            </a:r>
          </a:p>
          <a:p>
            <a:r>
              <a:t>Use only fictional or properly approved, minimized information.</a:t>
            </a:r>
          </a:p>
          <a:p>
            <a:r>
              <a:t>Review every output before relying on it.</a:t>
            </a:r>
          </a:p>
        </p:txBody>
      </p:sp>
      <p:sp>
        <p:nvSpPr>
          <p:cNvPr id="226" name="Google Shape;226;p30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1:notes"/>
          <p:cNvSpPr/>
          <p:nvPr>
            <p:ph idx="2" type="sldImg"/>
          </p:nvPr>
        </p:nvSpPr>
        <p:spPr>
          <a:xfrm>
            <a:off x="0" y="76428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1" name="Google Shape;231;p31:notes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r>
              <a:t>These are optional references for your team.</a:t>
            </a:r>
          </a:p>
          <a:p>
            <a:r>
              <a:t>The NIST Generative AI Profile is a place to begin thinking about risks and controls.</a:t>
            </a:r>
          </a:p>
          <a:p>
            <a:r>
              <a:t>Turnitin's guidance discusses limitations of AI writing detection.</a:t>
            </a:r>
          </a:p>
          <a:p>
            <a:r>
              <a:t>Use these alongside your own organization's policies, contracts, and applicable requirements.</a:t>
            </a:r>
          </a:p>
          <a:p>
            <a:r>
              <a:t>Our workshop demonstrations used fictional data.</a:t>
            </a:r>
          </a:p>
          <a:p>
            <a:r>
              <a:t>NIST Generative AI Profile: https://www.nist.gov/publications/artificial-intelligence-risk-management-framework-generative-artificial-intelligence</a:t>
            </a:r>
          </a:p>
          <a:p>
            <a:r>
              <a:t>Turnitin: Using the AI Writing Report: https://guides.turnitin.com/hc/en-us/articles/22774058814093-Using-the-AI-Writing-Report</a:t>
            </a:r>
          </a:p>
        </p:txBody>
      </p:sp>
      <p:sp>
        <p:nvSpPr>
          <p:cNvPr id="232" name="Google Shape;232;p31:notes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" name="Google Shape;12;p2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One Column">
  <p:cSld name="Title and One Column">
    <p:bg>
      <p:bgPr>
        <a:solidFill>
          <a:srgbClr val="FFFFFF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685800" y="533520"/>
            <a:ext cx="10820160" cy="83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685800" y="1905120"/>
            <a:ext cx="5028840" cy="4266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bg>
      <p:bgPr>
        <a:solidFill>
          <a:srgbClr val="FFFFFF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1219320" y="2857680"/>
            <a:ext cx="975312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rgbClr val="FFFFFF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1219320" y="2590920"/>
            <a:ext cx="9753120" cy="990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">
  <p:cSld name="Title and Two Column">
    <p:bg>
      <p:bgPr>
        <a:solidFill>
          <a:srgbClr val="FFFFF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6"/>
          <p:cNvSpPr txBox="1"/>
          <p:nvPr>
            <p:ph type="title"/>
          </p:nvPr>
        </p:nvSpPr>
        <p:spPr>
          <a:xfrm>
            <a:off x="685800" y="533520"/>
            <a:ext cx="10820160" cy="83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2" name="Google Shape;22;p6"/>
          <p:cNvSpPr txBox="1"/>
          <p:nvPr>
            <p:ph idx="1" type="body"/>
          </p:nvPr>
        </p:nvSpPr>
        <p:spPr>
          <a:xfrm>
            <a:off x="685800" y="1905120"/>
            <a:ext cx="5028840" cy="4266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3" name="Google Shape;23;p6"/>
          <p:cNvSpPr txBox="1"/>
          <p:nvPr>
            <p:ph idx="2" type="body"/>
          </p:nvPr>
        </p:nvSpPr>
        <p:spPr>
          <a:xfrm>
            <a:off x="6477120" y="1905120"/>
            <a:ext cx="5028840" cy="4266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bg>
      <p:bgPr>
        <a:solidFill>
          <a:srgbClr val="FFFFFF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>
            <p:ph type="title"/>
          </p:nvPr>
        </p:nvSpPr>
        <p:spPr>
          <a:xfrm>
            <a:off x="685800" y="533520"/>
            <a:ext cx="10820160" cy="83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6" name="Google Shape;26;p7"/>
          <p:cNvSpPr txBox="1"/>
          <p:nvPr>
            <p:ph idx="1" type="body"/>
          </p:nvPr>
        </p:nvSpPr>
        <p:spPr>
          <a:xfrm>
            <a:off x="685800" y="1905120"/>
            <a:ext cx="10820160" cy="4266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2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1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5.png"/><Relationship Id="rId4" Type="http://schemas.openxmlformats.org/officeDocument/2006/relationships/image" Target="../media/image2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0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5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9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1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4.png"/><Relationship Id="rId4" Type="http://schemas.openxmlformats.org/officeDocument/2006/relationships/hyperlink" Target="https://www.nist.gov/publications/artificial-intelligence-risk-management-framework-generative-artificial-intelligence" TargetMode="External"/><Relationship Id="rId5" Type="http://schemas.openxmlformats.org/officeDocument/2006/relationships/hyperlink" Target="https://guides.turnitin.com/hc/en-us/articles/22774058814093-Using-the-AI-Writing-Report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8"/>
          <p:cNvSpPr/>
          <p:nvPr/>
        </p:nvSpPr>
        <p:spPr>
          <a:xfrm>
            <a:off x="790560" y="743040"/>
            <a:ext cx="8857800" cy="1257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FF7233"/>
                </a:solidFill>
                <a:latin typeface="Arial"/>
                <a:ea typeface="Arial"/>
                <a:cs typeface="Arial"/>
                <a:sym typeface="Arial"/>
              </a:rPr>
              <a:t>TRUST, TRANSPARENCY,</a:t>
            </a:r>
            <a:endParaRPr b="0" i="0" sz="3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FF7233"/>
                </a:solidFill>
                <a:latin typeface="Arial"/>
                <a:ea typeface="Arial"/>
                <a:cs typeface="Arial"/>
                <a:sym typeface="Arial"/>
              </a:rPr>
              <a:t>AND AI</a:t>
            </a:r>
            <a:endParaRPr b="0" i="0" sz="3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8"/>
          <p:cNvSpPr/>
          <p:nvPr/>
        </p:nvSpPr>
        <p:spPr>
          <a:xfrm>
            <a:off x="790560" y="2133720"/>
            <a:ext cx="10000800" cy="514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50" u="none" cap="none" strike="noStrike">
                <a:solidFill>
                  <a:srgbClr val="2E4F66"/>
                </a:solidFill>
                <a:latin typeface="Arial"/>
                <a:ea typeface="Arial"/>
                <a:cs typeface="Arial"/>
                <a:sym typeface="Arial"/>
              </a:rPr>
              <a:t>Building Responsible Scholarship Review Practices</a:t>
            </a:r>
            <a:endParaRPr b="0" i="0" sz="2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8"/>
          <p:cNvSpPr/>
          <p:nvPr/>
        </p:nvSpPr>
        <p:spPr>
          <a:xfrm>
            <a:off x="790560" y="3371760"/>
            <a:ext cx="4571640" cy="42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2E4F66"/>
                </a:solidFill>
                <a:latin typeface="Arial"/>
                <a:ea typeface="Arial"/>
                <a:cs typeface="Arial"/>
                <a:sym typeface="Arial"/>
              </a:rPr>
              <a:t>Miguel Guhlin</a:t>
            </a:r>
            <a:endParaRPr b="0" i="0" sz="2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8"/>
          <p:cNvSpPr/>
          <p:nvPr/>
        </p:nvSpPr>
        <p:spPr>
          <a:xfrm>
            <a:off x="790560" y="3867120"/>
            <a:ext cx="4952520" cy="1238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70" u="none" cap="none" strike="noStrike">
                <a:solidFill>
                  <a:srgbClr val="2E4F66"/>
                </a:solidFill>
                <a:latin typeface="Arial"/>
                <a:ea typeface="Arial"/>
                <a:cs typeface="Arial"/>
                <a:sym typeface="Arial"/>
              </a:rPr>
              <a:t>NSPA 2026 · San Antonio</a:t>
            </a:r>
            <a:endParaRPr b="0" i="0" sz="187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70" u="none" cap="none" strike="noStrike">
                <a:solidFill>
                  <a:srgbClr val="2E4F66"/>
                </a:solidFill>
                <a:latin typeface="Arial"/>
                <a:ea typeface="Arial"/>
                <a:cs typeface="Arial"/>
                <a:sym typeface="Arial"/>
              </a:rPr>
              <a:t>October 21, 2026</a:t>
            </a:r>
            <a:endParaRPr b="0" i="0" sz="187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70" u="none" cap="none" strike="noStrike">
                <a:solidFill>
                  <a:srgbClr val="2E4F66"/>
                </a:solidFill>
                <a:latin typeface="Arial"/>
                <a:ea typeface="Arial"/>
                <a:cs typeface="Arial"/>
                <a:sym typeface="Arial"/>
              </a:rPr>
              <a:t>60-minute workshop</a:t>
            </a:r>
            <a:endParaRPr b="0" i="0" sz="187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" name="Google Shape;37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90560" y="4861080"/>
            <a:ext cx="952200" cy="602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8"/>
          <p:cNvPicPr preferRelativeResize="0"/>
          <p:nvPr/>
        </p:nvPicPr>
        <p:blipFill rotWithShape="1">
          <a:blip r:embed="rId5">
            <a:alphaModFix/>
          </a:blip>
          <a:srcRect b="3052" l="0" r="0" t="3052"/>
          <a:stretch/>
        </p:blipFill>
        <p:spPr>
          <a:xfrm>
            <a:off x="6496200" y="2857680"/>
            <a:ext cx="3742920" cy="234288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8"/>
          <p:cNvSpPr/>
          <p:nvPr/>
        </p:nvSpPr>
        <p:spPr>
          <a:xfrm>
            <a:off x="8001000" y="5248440"/>
            <a:ext cx="2476080" cy="1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80" u="none" cap="none" strike="noStrike">
                <a:solidFill>
                  <a:srgbClr val="2E4F66"/>
                </a:solidFill>
                <a:latin typeface="Arial"/>
                <a:ea typeface="Arial"/>
                <a:cs typeface="Arial"/>
                <a:sym typeface="Arial"/>
              </a:rPr>
              <a:t>AI-generated image · fictional people</a:t>
            </a:r>
            <a:endParaRPr b="0" i="0" sz="98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45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9"/>
          <p:cNvSpPr/>
          <p:nvPr/>
        </p:nvSpPr>
        <p:spPr>
          <a:xfrm>
            <a:off x="714240" y="399960"/>
            <a:ext cx="10762920" cy="609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7233"/>
                </a:solidFill>
                <a:latin typeface="Arial"/>
                <a:ea typeface="Arial"/>
                <a:cs typeface="Arial"/>
                <a:sym typeface="Arial"/>
              </a:rPr>
              <a:t>A quick pulse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9"/>
          <p:cNvSpPr/>
          <p:nvPr/>
        </p:nvSpPr>
        <p:spPr>
          <a:xfrm>
            <a:off x="714240" y="1009800"/>
            <a:ext cx="10762920" cy="514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E4F66"/>
                </a:solidFill>
                <a:latin typeface="Arial"/>
                <a:ea typeface="Arial"/>
                <a:cs typeface="Arial"/>
                <a:sym typeface="Arial"/>
              </a:rPr>
              <a:t>Where is your organization today?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" name="Google Shape;48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95680" y="6258240"/>
            <a:ext cx="780840" cy="49392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9"/>
          <p:cNvSpPr/>
          <p:nvPr/>
        </p:nvSpPr>
        <p:spPr>
          <a:xfrm>
            <a:off x="3733920" y="6477120"/>
            <a:ext cx="571320" cy="228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7681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9"/>
          <p:cNvSpPr/>
          <p:nvPr/>
        </p:nvSpPr>
        <p:spPr>
          <a:xfrm>
            <a:off x="4619520" y="6477120"/>
            <a:ext cx="5428800" cy="228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7681"/>
                </a:solidFill>
                <a:latin typeface="Arial"/>
                <a:ea typeface="Arial"/>
                <a:cs typeface="Arial"/>
                <a:sym typeface="Arial"/>
              </a:rPr>
              <a:t>Act 1 · The balancing act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1" name="Google Shape;51;p9"/>
          <p:cNvCxnSpPr/>
          <p:nvPr/>
        </p:nvCxnSpPr>
        <p:spPr>
          <a:xfrm>
            <a:off x="714240" y="5410080"/>
            <a:ext cx="10763280" cy="360"/>
          </a:xfrm>
          <a:prstGeom prst="straightConnector1">
            <a:avLst/>
          </a:prstGeom>
          <a:noFill/>
          <a:ln cap="flat" cmpd="sng" w="19050">
            <a:solidFill>
              <a:srgbClr val="FFCD3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" name="Google Shape;52;p9"/>
          <p:cNvSpPr/>
          <p:nvPr/>
        </p:nvSpPr>
        <p:spPr>
          <a:xfrm>
            <a:off x="714240" y="5553000"/>
            <a:ext cx="10762920" cy="552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29" u="none" cap="none" strike="noStrike">
                <a:solidFill>
                  <a:srgbClr val="2E4F66"/>
                </a:solidFill>
                <a:latin typeface="Arial"/>
                <a:ea typeface="Arial"/>
                <a:cs typeface="Arial"/>
                <a:sym typeface="Arial"/>
              </a:rPr>
              <a:t>Hands, a poll, or a brief conversation all work</a:t>
            </a:r>
            <a:endParaRPr b="0" i="0" sz="1729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" name="Google Shape;53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02400" y="1619280"/>
            <a:ext cx="5214600" cy="347616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/>
          <p:nvPr/>
        </p:nvSpPr>
        <p:spPr>
          <a:xfrm>
            <a:off x="7296120" y="1857240"/>
            <a:ext cx="4095360" cy="3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20" u="none" cap="none" strike="noStrike">
                <a:solidFill>
                  <a:srgbClr val="007681"/>
                </a:solidFill>
                <a:latin typeface="Arial"/>
                <a:ea typeface="Arial"/>
                <a:cs typeface="Arial"/>
                <a:sym typeface="Arial"/>
              </a:rPr>
              <a:t>AI in review</a:t>
            </a:r>
            <a:endParaRPr b="0" i="0" sz="20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9"/>
          <p:cNvSpPr/>
          <p:nvPr/>
        </p:nvSpPr>
        <p:spPr>
          <a:xfrm>
            <a:off x="7296120" y="2266920"/>
            <a:ext cx="4095360" cy="742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70" u="none" cap="none" strike="noStrike">
                <a:solidFill>
                  <a:srgbClr val="2E4F66"/>
                </a:solidFill>
                <a:latin typeface="Arial"/>
                <a:ea typeface="Arial"/>
                <a:cs typeface="Arial"/>
                <a:sym typeface="Arial"/>
              </a:rPr>
              <a:t>Do you use it anywhere in the process?</a:t>
            </a:r>
            <a:endParaRPr b="0" i="0" sz="187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9"/>
          <p:cNvSpPr/>
          <p:nvPr/>
        </p:nvSpPr>
        <p:spPr>
          <a:xfrm>
            <a:off x="7296120" y="2924280"/>
            <a:ext cx="4095360" cy="3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20" u="none" cap="none" strike="noStrike">
                <a:solidFill>
                  <a:srgbClr val="007681"/>
                </a:solidFill>
                <a:latin typeface="Arial"/>
                <a:ea typeface="Arial"/>
                <a:cs typeface="Arial"/>
                <a:sym typeface="Arial"/>
              </a:rPr>
              <a:t>A written applicant policy</a:t>
            </a:r>
            <a:endParaRPr b="0" i="0" sz="20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9"/>
          <p:cNvSpPr/>
          <p:nvPr/>
        </p:nvSpPr>
        <p:spPr>
          <a:xfrm>
            <a:off x="7296120" y="3333600"/>
            <a:ext cx="4095360" cy="742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70" u="none" cap="none" strike="noStrike">
                <a:solidFill>
                  <a:srgbClr val="2E4F66"/>
                </a:solidFill>
                <a:latin typeface="Arial"/>
                <a:ea typeface="Arial"/>
                <a:cs typeface="Arial"/>
                <a:sym typeface="Arial"/>
              </a:rPr>
              <a:t>Do applicants know the rules?</a:t>
            </a:r>
            <a:endParaRPr b="0" i="0" sz="187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9"/>
          <p:cNvSpPr/>
          <p:nvPr/>
        </p:nvSpPr>
        <p:spPr>
          <a:xfrm>
            <a:off x="7296120" y="3990960"/>
            <a:ext cx="4095360" cy="3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20" u="none" cap="none" strike="noStrike">
                <a:solidFill>
                  <a:srgbClr val="007681"/>
                </a:solidFill>
                <a:latin typeface="Arial"/>
                <a:ea typeface="Arial"/>
                <a:cs typeface="Arial"/>
                <a:sym typeface="Arial"/>
              </a:rPr>
              <a:t>Your one-word response</a:t>
            </a:r>
            <a:endParaRPr b="0" i="0" sz="20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9"/>
          <p:cNvSpPr/>
          <p:nvPr/>
        </p:nvSpPr>
        <p:spPr>
          <a:xfrm>
            <a:off x="7296120" y="4400640"/>
            <a:ext cx="4095360" cy="742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70" u="none" cap="none" strike="noStrike">
                <a:solidFill>
                  <a:srgbClr val="2E4F66"/>
                </a:solidFill>
                <a:latin typeface="Arial"/>
                <a:ea typeface="Arial"/>
                <a:cs typeface="Arial"/>
                <a:sym typeface="Arial"/>
              </a:rPr>
              <a:t>How do you feel about AI in review?</a:t>
            </a:r>
            <a:endParaRPr b="0" i="0" sz="187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03.png" id="65" name="Google Shape;65;p10"/>
          <p:cNvPicPr preferRelativeResize="0"/>
          <p:nvPr/>
        </p:nvPicPr>
        <p:blipFill rotWithShape="1">
          <a:blip r:embed="rId3">
            <a:alphaModFix/>
          </a:blip>
          <a:srcRect b="0" l="0" r="0" t="90136"/>
          <a:stretch/>
        </p:blipFill>
        <p:spPr>
          <a:xfrm>
            <a:off x="0" y="6181525"/>
            <a:ext cx="12192000" cy="676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45500" y="0"/>
            <a:ext cx="10899262" cy="6134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04.png" id="72" name="Google Shape;7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05.png" id="78" name="Google Shape;78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06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07.png" id="90" name="Google Shape;9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08.png" id="96" name="Google Shape;9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09.png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0.png" id="108" name="Google Shape;10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1.png" id="114" name="Google Shape;11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2.png" id="120" name="Google Shape;12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3.png" id="126" name="Google Shape;12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4.png" id="132" name="Google Shape;13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5.png" id="138" name="Google Shape;13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.png" id="144" name="Google Shape;14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7.png" id="150" name="Google Shape;150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8.png" id="156" name="Google Shape;15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9.png" id="162" name="Google Shape;16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20.png" id="168" name="Google Shape;16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21.png" id="174" name="Google Shape;174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22.png" id="180" name="Google Shape;18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23.png" id="186" name="Google Shape;186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24.png" id="192" name="Google Shape;192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25.png" id="198" name="Google Shape;198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26.png" id="204" name="Google Shape;20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27.png" id="210" name="Google Shape;210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28.png" id="216" name="Google Shape;216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29.png" id="222" name="Google Shape;222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30.png" id="228" name="Google Shape;228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31.png" id="234" name="Google Shape;234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8">
            <a:hlinkClick r:id="rId4"/>
          </p:cNvPr>
          <p:cNvSpPr/>
          <p:nvPr/>
        </p:nvSpPr>
        <p:spPr>
          <a:xfrm>
            <a:off x="1783080" y="1874519"/>
            <a:ext cx="923544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/>
          </a:p>
        </p:txBody>
      </p:sp>
      <p:sp>
        <p:nvSpPr>
          <p:cNvPr id="236" name="Google Shape;236;p38">
            <a:hlinkClick r:id="rId5"/>
          </p:cNvPr>
          <p:cNvSpPr/>
          <p:nvPr/>
        </p:nvSpPr>
        <p:spPr>
          <a:xfrm>
            <a:off x="1783080" y="3438144"/>
            <a:ext cx="923544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